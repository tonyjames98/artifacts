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5" r:id="rId95"/>
    <p:sldId id="356" r:id="rId96"/>
    <p:sldId id="357" r:id="rId97"/>
    <p:sldId id="358" r:id="rId98"/>
    <p:sldId id="359" r:id="rId99"/>
    <p:sldId id="360" r:id="rId100"/>
    <p:sldId id="361" r:id="rId101"/>
    <p:sldId id="362" r:id="rId102"/>
    <p:sldId id="363" r:id="rId103"/>
    <p:sldId id="364" r:id="rId104"/>
    <p:sldId id="365" r:id="rId105"/>
    <p:sldId id="366" r:id="rId106"/>
    <p:sldId id="368" r:id="rId107"/>
    <p:sldId id="369" r:id="rId108"/>
    <p:sldId id="370" r:id="rId109"/>
    <p:sldId id="371" r:id="rId1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86" y="2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James" userId="8fa737c5-4fb9-4ba3-a4d7-145c868cd01c" providerId="ADAL" clId="{E554D908-72B8-4BD2-8C10-89BEAFBC0350}"/>
    <pc:docChg chg="custSel modSld">
      <pc:chgData name="Tony James" userId="8fa737c5-4fb9-4ba3-a4d7-145c868cd01c" providerId="ADAL" clId="{E554D908-72B8-4BD2-8C10-89BEAFBC0350}" dt="2026-03-25T20:29:50.641" v="7" actId="478"/>
      <pc:docMkLst>
        <pc:docMk/>
      </pc:docMkLst>
      <pc:sldChg chg="delSp modSp mod">
        <pc:chgData name="Tony James" userId="8fa737c5-4fb9-4ba3-a4d7-145c868cd01c" providerId="ADAL" clId="{E554D908-72B8-4BD2-8C10-89BEAFBC0350}" dt="2026-03-25T20:29:42.245" v="5" actId="478"/>
        <pc:sldMkLst>
          <pc:docMk/>
          <pc:sldMk cId="0" sldId="257"/>
        </pc:sldMkLst>
        <pc:spChg chg="del">
          <ac:chgData name="Tony James" userId="8fa737c5-4fb9-4ba3-a4d7-145c868cd01c" providerId="ADAL" clId="{E554D908-72B8-4BD2-8C10-89BEAFBC0350}" dt="2026-03-25T20:29:38.927" v="3" actId="478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Tony James" userId="8fa737c5-4fb9-4ba3-a4d7-145c868cd01c" providerId="ADAL" clId="{E554D908-72B8-4BD2-8C10-89BEAFBC0350}" dt="2026-03-25T20:29:42.245" v="5" actId="478"/>
          <ac:spMkLst>
            <pc:docMk/>
            <pc:sldMk cId="0" sldId="257"/>
            <ac:spMk id="5" creationId="{00000000-0000-0000-0000-000000000000}"/>
          </ac:spMkLst>
        </pc:spChg>
        <pc:picChg chg="del">
          <ac:chgData name="Tony James" userId="8fa737c5-4fb9-4ba3-a4d7-145c868cd01c" providerId="ADAL" clId="{E554D908-72B8-4BD2-8C10-89BEAFBC0350}" dt="2026-03-25T20:29:39.339" v="4" actId="478"/>
          <ac:picMkLst>
            <pc:docMk/>
            <pc:sldMk cId="0" sldId="257"/>
            <ac:picMk id="6" creationId="{00000000-0000-0000-0000-000000000000}"/>
          </ac:picMkLst>
        </pc:picChg>
      </pc:sldChg>
      <pc:sldChg chg="delSp mod">
        <pc:chgData name="Tony James" userId="8fa737c5-4fb9-4ba3-a4d7-145c868cd01c" providerId="ADAL" clId="{E554D908-72B8-4BD2-8C10-89BEAFBC0350}" dt="2026-03-25T20:29:25.877" v="0" actId="478"/>
        <pc:sldMkLst>
          <pc:docMk/>
          <pc:sldMk cId="0" sldId="298"/>
        </pc:sldMkLst>
        <pc:spChg chg="del">
          <ac:chgData name="Tony James" userId="8fa737c5-4fb9-4ba3-a4d7-145c868cd01c" providerId="ADAL" clId="{E554D908-72B8-4BD2-8C10-89BEAFBC0350}" dt="2026-03-25T20:29:25.877" v="0" actId="478"/>
          <ac:spMkLst>
            <pc:docMk/>
            <pc:sldMk cId="0" sldId="298"/>
            <ac:spMk id="5" creationId="{00000000-0000-0000-0000-000000000000}"/>
          </ac:spMkLst>
        </pc:spChg>
      </pc:sldChg>
      <pc:sldChg chg="delSp mod">
        <pc:chgData name="Tony James" userId="8fa737c5-4fb9-4ba3-a4d7-145c868cd01c" providerId="ADAL" clId="{E554D908-72B8-4BD2-8C10-89BEAFBC0350}" dt="2026-03-25T20:29:50.641" v="7" actId="478"/>
        <pc:sldMkLst>
          <pc:docMk/>
          <pc:sldMk cId="0" sldId="299"/>
        </pc:sldMkLst>
        <pc:spChg chg="del">
          <ac:chgData name="Tony James" userId="8fa737c5-4fb9-4ba3-a4d7-145c868cd01c" providerId="ADAL" clId="{E554D908-72B8-4BD2-8C10-89BEAFBC0350}" dt="2026-03-25T20:29:50.641" v="7" actId="478"/>
          <ac:spMkLst>
            <pc:docMk/>
            <pc:sldMk cId="0" sldId="299"/>
            <ac:spMk id="5" creationId="{00000000-0000-0000-0000-000000000000}"/>
          </ac:spMkLst>
        </pc:spChg>
      </pc:sldChg>
      <pc:sldChg chg="delSp mod">
        <pc:chgData name="Tony James" userId="8fa737c5-4fb9-4ba3-a4d7-145c868cd01c" providerId="ADAL" clId="{E554D908-72B8-4BD2-8C10-89BEAFBC0350}" dt="2026-03-25T20:29:31.641" v="1" actId="478"/>
        <pc:sldMkLst>
          <pc:docMk/>
          <pc:sldMk cId="0" sldId="300"/>
        </pc:sldMkLst>
        <pc:spChg chg="del">
          <ac:chgData name="Tony James" userId="8fa737c5-4fb9-4ba3-a4d7-145c868cd01c" providerId="ADAL" clId="{E554D908-72B8-4BD2-8C10-89BEAFBC0350}" dt="2026-03-25T20:29:31.641" v="1" actId="478"/>
          <ac:spMkLst>
            <pc:docMk/>
            <pc:sldMk cId="0" sldId="300"/>
            <ac:spMk id="31" creationId="{00000000-0000-0000-0000-000000000000}"/>
          </ac:spMkLst>
        </pc:spChg>
      </pc:sldChg>
      <pc:sldChg chg="delSp mod">
        <pc:chgData name="Tony James" userId="8fa737c5-4fb9-4ba3-a4d7-145c868cd01c" providerId="ADAL" clId="{E554D908-72B8-4BD2-8C10-89BEAFBC0350}" dt="2026-03-25T20:29:45.509" v="6" actId="478"/>
        <pc:sldMkLst>
          <pc:docMk/>
          <pc:sldMk cId="0" sldId="319"/>
        </pc:sldMkLst>
        <pc:spChg chg="del">
          <ac:chgData name="Tony James" userId="8fa737c5-4fb9-4ba3-a4d7-145c868cd01c" providerId="ADAL" clId="{E554D908-72B8-4BD2-8C10-89BEAFBC0350}" dt="2026-03-25T20:29:45.509" v="6" actId="478"/>
          <ac:spMkLst>
            <pc:docMk/>
            <pc:sldMk cId="0" sldId="31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0219" y="506983"/>
            <a:ext cx="6126480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4F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9CD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fld id="{81D60167-4931-47E6-BA6A-407CBD079E47}" type="slidenum">
              <a:rPr b="0" spc="-50" dirty="0">
                <a:latin typeface="Calibri"/>
                <a:cs typeface="Calibri"/>
              </a:rPr>
              <a:t>‹#›</a:t>
            </a:fld>
            <a:endParaRPr b="0" spc="-5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4F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9CD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fld id="{81D60167-4931-47E6-BA6A-407CBD079E47}" type="slidenum">
              <a:rPr b="0" spc="-50" dirty="0">
                <a:latin typeface="Calibri"/>
                <a:cs typeface="Calibri"/>
              </a:rPr>
              <a:t>‹#›</a:t>
            </a:fld>
            <a:endParaRPr b="0" spc="-5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4F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00480" y="1587753"/>
            <a:ext cx="2893695" cy="2586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fld id="{81D60167-4931-47E6-BA6A-407CBD079E47}" type="slidenum">
              <a:rPr b="0" spc="-50" dirty="0">
                <a:latin typeface="Calibri"/>
                <a:cs typeface="Calibri"/>
              </a:rPr>
              <a:t>‹#›</a:t>
            </a:fld>
            <a:endParaRPr b="0" spc="-5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4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4F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fld id="{81D60167-4931-47E6-BA6A-407CBD079E47}" type="slidenum">
              <a:rPr b="0" spc="-50" dirty="0">
                <a:latin typeface="Calibri"/>
                <a:cs typeface="Calibri"/>
              </a:rPr>
              <a:t>‹#›</a:t>
            </a:fld>
            <a:endParaRPr b="0" spc="-5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4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fld id="{81D60167-4931-47E6-BA6A-407CBD079E47}" type="slidenum">
              <a:rPr b="0" spc="-50" dirty="0">
                <a:latin typeface="Calibri"/>
                <a:cs typeface="Calibri"/>
              </a:rPr>
              <a:t>‹#›</a:t>
            </a:fld>
            <a:endParaRPr b="0" spc="-5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2919" y="972311"/>
            <a:ext cx="8141208" cy="37947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213879"/>
            <a:ext cx="7865745" cy="715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4F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0480" y="1038859"/>
            <a:ext cx="7525384" cy="3568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9CD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30945" y="4841163"/>
            <a:ext cx="365759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fld id="{81D60167-4931-47E6-BA6A-407CBD079E47}" type="slidenum">
              <a:rPr b="0" spc="-50" dirty="0">
                <a:latin typeface="Calibri"/>
                <a:cs typeface="Calibri"/>
              </a:rPr>
              <a:t>‹#›</a:t>
            </a:fld>
            <a:endParaRPr b="0" spc="-50" dirty="0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57.xml"/><Relationship Id="rId3" Type="http://schemas.openxmlformats.org/officeDocument/2006/relationships/slide" Target="slide5.xml"/><Relationship Id="rId7" Type="http://schemas.openxmlformats.org/officeDocument/2006/relationships/slide" Target="slide11.xml"/><Relationship Id="rId12" Type="http://schemas.openxmlformats.org/officeDocument/2006/relationships/slide" Target="slide52.xml"/><Relationship Id="rId17" Type="http://schemas.openxmlformats.org/officeDocument/2006/relationships/slide" Target="slide83.xml"/><Relationship Id="rId2" Type="http://schemas.openxmlformats.org/officeDocument/2006/relationships/slide" Target="slide3.xml"/><Relationship Id="rId16" Type="http://schemas.openxmlformats.org/officeDocument/2006/relationships/slide" Target="slide7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11" Type="http://schemas.openxmlformats.org/officeDocument/2006/relationships/slide" Target="slide25.xml"/><Relationship Id="rId5" Type="http://schemas.openxmlformats.org/officeDocument/2006/relationships/slide" Target="slide15.xml"/><Relationship Id="rId15" Type="http://schemas.openxmlformats.org/officeDocument/2006/relationships/slide" Target="slide66.xml"/><Relationship Id="rId10" Type="http://schemas.openxmlformats.org/officeDocument/2006/relationships/slide" Target="slide24.xml"/><Relationship Id="rId4" Type="http://schemas.openxmlformats.org/officeDocument/2006/relationships/slide" Target="slide8.xml"/><Relationship Id="rId9" Type="http://schemas.openxmlformats.org/officeDocument/2006/relationships/slide" Target="slide20.xml"/><Relationship Id="rId14" Type="http://schemas.openxmlformats.org/officeDocument/2006/relationships/slide" Target="slide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file:///\\cwf105968p\data02%24\Tosca-Test-Execution-Data" TargetMode="External"/><Relationship Id="rId2" Type="http://schemas.openxmlformats.org/officeDocument/2006/relationships/hyperlink" Target="file:///\\cwf105968p\data02%24\Tosca-Test-Execution-Data-Prod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jp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3840" y="4663439"/>
            <a:ext cx="1280159" cy="4800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0219" y="2232482"/>
            <a:ext cx="5020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Tosca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Best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 Practices</a:t>
            </a:r>
            <a:endParaRPr sz="4400" dirty="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219" y="1928622"/>
            <a:ext cx="731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Calibri"/>
                <a:cs typeface="Calibri"/>
              </a:rPr>
              <a:t>TOSCA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41503"/>
            <a:ext cx="20783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TOSCA</a:t>
            </a:r>
            <a:r>
              <a:rPr spc="250" dirty="0"/>
              <a:t> </a:t>
            </a:r>
            <a:r>
              <a:rPr spc="105" dirty="0"/>
              <a:t>BEST</a:t>
            </a:r>
            <a:r>
              <a:rPr spc="265" dirty="0"/>
              <a:t> </a:t>
            </a:r>
            <a:r>
              <a:rPr spc="114" dirty="0"/>
              <a:t>PRACTICES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5582" y="555498"/>
            <a:ext cx="4432935" cy="3797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8585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Georgia"/>
                <a:cs typeface="Georgia"/>
              </a:rPr>
              <a:t>1.</a:t>
            </a:r>
            <a:r>
              <a:rPr sz="1600" b="1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2" action="ppaction://hlinksldjump"/>
              </a:rPr>
              <a:t>New</a:t>
            </a:r>
            <a:r>
              <a:rPr sz="1600" b="1" u="sng" spc="-5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600" b="1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2" action="ppaction://hlinksldjump"/>
              </a:rPr>
              <a:t>Project</a:t>
            </a:r>
            <a:r>
              <a:rPr sz="1600" b="1" u="sng" spc="-4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600" b="1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2" action="ppaction://hlinksldjump"/>
              </a:rPr>
              <a:t>Process</a:t>
            </a:r>
            <a:r>
              <a:rPr sz="1600" b="1" u="sng" spc="-4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600" b="1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2" action="ppaction://hlinksldjump"/>
              </a:rPr>
              <a:t>Overview</a:t>
            </a:r>
            <a:r>
              <a:rPr sz="1600" b="1" spc="-1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600" b="1" spc="-10" dirty="0">
                <a:latin typeface="Georgia"/>
                <a:cs typeface="Georgia"/>
              </a:rPr>
              <a:t>2</a:t>
            </a:r>
            <a:r>
              <a:rPr sz="1600" spc="-10" dirty="0">
                <a:latin typeface="Georgia"/>
                <a:cs typeface="Georgia"/>
              </a:rPr>
              <a:t>.</a:t>
            </a:r>
            <a:r>
              <a:rPr sz="1600" b="1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3" action="ppaction://hlinksldjump"/>
              </a:rPr>
              <a:t>Prerequisites</a:t>
            </a:r>
            <a:endParaRPr sz="1600" dirty="0">
              <a:latin typeface="Georgia"/>
              <a:cs typeface="Georgia"/>
            </a:endParaRPr>
          </a:p>
          <a:p>
            <a:pPr marL="193040" indent="-187325">
              <a:lnSpc>
                <a:spcPct val="100000"/>
              </a:lnSpc>
              <a:buClr>
                <a:srgbClr val="000000"/>
              </a:buClr>
              <a:buSzPct val="90625"/>
              <a:buAutoNum type="arabicPeriod" startAt="3"/>
              <a:tabLst>
                <a:tab pos="193040" algn="l"/>
              </a:tabLst>
            </a:pPr>
            <a:r>
              <a:rPr sz="1600" b="1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4" action="ppaction://hlinksldjump"/>
              </a:rPr>
              <a:t>Project</a:t>
            </a:r>
            <a:r>
              <a:rPr sz="1600" b="1" u="sng" spc="-6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600" b="1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4" action="ppaction://hlinksldjump"/>
              </a:rPr>
              <a:t>Structure</a:t>
            </a:r>
            <a:endParaRPr sz="16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5" action="ppaction://hlinksldjump"/>
              </a:rPr>
              <a:t>Configuration</a:t>
            </a:r>
            <a:r>
              <a:rPr sz="1400" u="sng" spc="-7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5" action="ppaction://hlinksldjump"/>
              </a:rPr>
              <a:t>Parameters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6" action="ppaction://hlinksldjump"/>
              </a:rPr>
              <a:t>Mandatory</a:t>
            </a:r>
            <a:r>
              <a:rPr sz="1400" u="sng" spc="-6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6" action="ppaction://hlinksldjump"/>
              </a:rPr>
              <a:t>Local</a:t>
            </a:r>
            <a:r>
              <a:rPr sz="1400" u="sng" spc="-5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6" action="ppaction://hlinksldjump"/>
              </a:rPr>
              <a:t>Settings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7" action="ppaction://hlinksldjump"/>
              </a:rPr>
              <a:t>Test</a:t>
            </a:r>
            <a:r>
              <a:rPr sz="1400" u="sng" spc="-3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7" action="ppaction://hlinksldjump"/>
              </a:rPr>
              <a:t>Case</a:t>
            </a:r>
            <a:r>
              <a:rPr sz="1400" u="sng" spc="-4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7" action="ppaction://hlinksldjump"/>
              </a:rPr>
              <a:t>Folder</a:t>
            </a:r>
            <a:r>
              <a:rPr sz="1400" u="sng" spc="-3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7" action="ppaction://hlinksldjump"/>
              </a:rPr>
              <a:t>Structure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8" action="ppaction://hlinksldjump"/>
              </a:rPr>
              <a:t>Modules</a:t>
            </a:r>
            <a:r>
              <a:rPr sz="1400" u="sng" spc="-5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8" action="ppaction://hlinksldjump"/>
              </a:rPr>
              <a:t>Folder</a:t>
            </a:r>
            <a:r>
              <a:rPr sz="1400" u="sng" spc="-5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8" action="ppaction://hlinksldjump"/>
              </a:rPr>
              <a:t>Structure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5" action="ppaction://hlinksldjump"/>
              </a:rPr>
              <a:t>TestCaseDesign</a:t>
            </a:r>
            <a:r>
              <a:rPr sz="1400" u="sng" spc="-6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5" action="ppaction://hlinksldjump"/>
              </a:rPr>
              <a:t>Folder</a:t>
            </a:r>
            <a:r>
              <a:rPr sz="1400" u="sng" spc="-6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5" action="ppaction://hlinksldjump"/>
              </a:rPr>
              <a:t>Structure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ts val="1675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Sandbox</a:t>
            </a:r>
            <a:r>
              <a:rPr sz="1400" u="sng" spc="-4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Test</a:t>
            </a:r>
            <a:r>
              <a:rPr sz="1400" u="sng" spc="-3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Case</a:t>
            </a:r>
            <a:r>
              <a:rPr sz="1400" u="sng" spc="-4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Creation</a:t>
            </a:r>
            <a:r>
              <a:rPr sz="1400" u="sng" spc="-4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&amp;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Review</a:t>
            </a:r>
            <a:r>
              <a:rPr sz="1400" u="sng" spc="-2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9" action="ppaction://hlinksldjump"/>
              </a:rPr>
              <a:t>Process</a:t>
            </a:r>
            <a:endParaRPr sz="1400" dirty="0">
              <a:latin typeface="Georgia"/>
              <a:cs typeface="Georgia"/>
            </a:endParaRPr>
          </a:p>
          <a:p>
            <a:pPr marL="210185" indent="-197485">
              <a:lnSpc>
                <a:spcPts val="1914"/>
              </a:lnSpc>
              <a:buClr>
                <a:srgbClr val="000000"/>
              </a:buClr>
              <a:buSzPct val="90625"/>
              <a:buAutoNum type="arabicPeriod" startAt="3"/>
              <a:tabLst>
                <a:tab pos="210185" algn="l"/>
              </a:tabLst>
            </a:pPr>
            <a:r>
              <a:rPr sz="1600" b="1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0" action="ppaction://hlinksldjump"/>
              </a:rPr>
              <a:t>Best</a:t>
            </a:r>
            <a:r>
              <a:rPr sz="1600" b="1" u="sng" spc="-4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0" action="ppaction://hlinksldjump"/>
              </a:rPr>
              <a:t> </a:t>
            </a:r>
            <a:r>
              <a:rPr sz="1600" b="1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0" action="ppaction://hlinksldjump"/>
              </a:rPr>
              <a:t>Practice</a:t>
            </a:r>
            <a:r>
              <a:rPr sz="1600" b="1" u="sng" spc="-4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0" action="ppaction://hlinksldjump"/>
              </a:rPr>
              <a:t> </a:t>
            </a:r>
            <a:r>
              <a:rPr sz="1600" b="1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0" action="ppaction://hlinksldjump"/>
              </a:rPr>
              <a:t>Guidelines</a:t>
            </a:r>
            <a:endParaRPr sz="16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spcBef>
                <a:spcPts val="10"/>
              </a:spcBef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1" action="ppaction://hlinksldjump"/>
              </a:rPr>
              <a:t>Test</a:t>
            </a:r>
            <a:r>
              <a:rPr sz="1400" u="sng" spc="-3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1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1" action="ppaction://hlinksldjump"/>
              </a:rPr>
              <a:t>case</a:t>
            </a:r>
            <a:r>
              <a:rPr sz="1400" u="sng" spc="-3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1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1" action="ppaction://hlinksldjump"/>
              </a:rPr>
              <a:t>best</a:t>
            </a:r>
            <a:r>
              <a:rPr sz="1400" u="sng" spc="-4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1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1" action="ppaction://hlinksldjump"/>
              </a:rPr>
              <a:t>practices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2" action="ppaction://hlinksldjump"/>
              </a:rPr>
              <a:t>Test</a:t>
            </a:r>
            <a:r>
              <a:rPr sz="1400" u="sng" spc="-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2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2" action="ppaction://hlinksldjump"/>
              </a:rPr>
              <a:t>case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2" action="ppaction://hlinksldjump"/>
              </a:rPr>
              <a:t> Recovery/Cleanup</a:t>
            </a:r>
            <a:r>
              <a:rPr sz="1400" u="sng" spc="-2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2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2" action="ppaction://hlinksldjump"/>
              </a:rPr>
              <a:t>Scenarios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3" action="ppaction://hlinksldjump"/>
              </a:rPr>
              <a:t>Module</a:t>
            </a:r>
            <a:r>
              <a:rPr sz="1400" u="sng" spc="-3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3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3" action="ppaction://hlinksldjump"/>
              </a:rPr>
              <a:t>Best</a:t>
            </a:r>
            <a:r>
              <a:rPr sz="1400" u="sng" spc="-4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3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3" action="ppaction://hlinksldjump"/>
              </a:rPr>
              <a:t>Practices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4" action="ppaction://hlinksldjump"/>
              </a:rPr>
              <a:t>Test</a:t>
            </a:r>
            <a:r>
              <a:rPr sz="1400" u="sng" spc="-3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4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4" action="ppaction://hlinksldjump"/>
              </a:rPr>
              <a:t>Case</a:t>
            </a:r>
            <a:r>
              <a:rPr sz="1400" u="sng" spc="-3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4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4" action="ppaction://hlinksldjump"/>
              </a:rPr>
              <a:t>Design</a:t>
            </a:r>
            <a:r>
              <a:rPr sz="1400" u="sng" spc="-4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4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4" action="ppaction://hlinksldjump"/>
              </a:rPr>
              <a:t>Best</a:t>
            </a:r>
            <a:r>
              <a:rPr sz="1400" u="sng" spc="-2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4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4" action="ppaction://hlinksldjump"/>
              </a:rPr>
              <a:t>Practices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5" action="ppaction://hlinksldjump"/>
              </a:rPr>
              <a:t>TDS</a:t>
            </a:r>
            <a:r>
              <a:rPr sz="1400" u="sng" spc="-2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5" action="ppaction://hlinksldjump"/>
              </a:rPr>
              <a:t>Best</a:t>
            </a:r>
            <a:r>
              <a:rPr sz="1400" u="sng" spc="-3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5" action="ppaction://hlinksldjump"/>
              </a:rPr>
              <a:t>Practices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High</a:t>
            </a:r>
            <a:r>
              <a:rPr sz="1400" u="sng" spc="-4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Level</a:t>
            </a:r>
            <a:r>
              <a:rPr sz="1400" u="sng" spc="-3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Test</a:t>
            </a:r>
            <a:r>
              <a:rPr sz="1400" u="sng" spc="-4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case</a:t>
            </a:r>
            <a:r>
              <a:rPr sz="1400" u="sng" spc="-4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 </a:t>
            </a: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Creation</a:t>
            </a:r>
            <a:r>
              <a:rPr sz="1400" u="sng" spc="-3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6" action="ppaction://hlinksldjump"/>
              </a:rPr>
              <a:t>Process</a:t>
            </a:r>
            <a:endParaRPr sz="1400" dirty="0">
              <a:latin typeface="Georgia"/>
              <a:cs typeface="Georgia"/>
            </a:endParaRPr>
          </a:p>
          <a:p>
            <a:pPr marL="812165" lvl="1" indent="-3422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AutoNum type="arabicPeriod"/>
              <a:tabLst>
                <a:tab pos="812165" algn="l"/>
              </a:tabLst>
            </a:pPr>
            <a:r>
              <a:rPr sz="1400" u="sng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7" action="ppaction://hlinksldjump"/>
              </a:rPr>
              <a:t>Execution</a:t>
            </a:r>
            <a:r>
              <a:rPr sz="1400" u="sng" spc="-35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7" action="ppaction://hlinksldjump"/>
              </a:rPr>
              <a:t> </a:t>
            </a:r>
            <a:r>
              <a:rPr sz="14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17" action="ppaction://hlinksldjump"/>
              </a:rPr>
              <a:t>Process</a:t>
            </a:r>
            <a:endParaRPr sz="1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0219" y="1927351"/>
            <a:ext cx="7486650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Calibri"/>
                <a:cs typeface="Calibri"/>
              </a:rPr>
              <a:t>TOSCA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5150"/>
              </a:lnSpc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New</a:t>
            </a:r>
            <a:r>
              <a:rPr sz="4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Project</a:t>
            </a:r>
            <a:r>
              <a:rPr sz="4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Process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Overview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5793" y="4824171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110" dirty="0"/>
              <a:t>TOSCA</a:t>
            </a:r>
            <a:r>
              <a:rPr spc="250" dirty="0"/>
              <a:t> </a:t>
            </a:r>
            <a:r>
              <a:rPr spc="105" dirty="0"/>
              <a:t>SETUP</a:t>
            </a: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High</a:t>
            </a:r>
            <a:r>
              <a:rPr sz="22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Level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Overview</a:t>
            </a:r>
            <a:r>
              <a:rPr sz="2200" spc="-7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of</a:t>
            </a:r>
            <a:r>
              <a:rPr sz="2200" spc="-7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Initial</a:t>
            </a:r>
            <a:r>
              <a:rPr sz="22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Project</a:t>
            </a:r>
            <a:r>
              <a:rPr sz="22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Setup:</a:t>
            </a:r>
            <a:r>
              <a:rPr sz="22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Phase</a:t>
            </a:r>
            <a:r>
              <a:rPr sz="2200" spc="-8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spc="-50" dirty="0">
                <a:solidFill>
                  <a:srgbClr val="009CDE"/>
                </a:solidFill>
                <a:latin typeface="Georgia"/>
                <a:cs typeface="Georgia"/>
              </a:rPr>
              <a:t>1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65650" y="4809540"/>
            <a:ext cx="40925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41750" algn="l"/>
              </a:tabLst>
            </a:pP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6/24/2024</a:t>
            </a:r>
            <a:r>
              <a:rPr sz="1000" dirty="0">
                <a:latin typeface="Calibri"/>
                <a:cs typeface="Calibri"/>
              </a:rPr>
              <a:t>	|</a:t>
            </a:r>
            <a:r>
              <a:rPr sz="1000" spc="225" dirty="0">
                <a:latin typeface="Calibri"/>
                <a:cs typeface="Calibri"/>
              </a:rPr>
              <a:t>  </a:t>
            </a:r>
            <a:r>
              <a:rPr sz="1000" spc="-50" dirty="0">
                <a:latin typeface="Calibri"/>
                <a:cs typeface="Calibri"/>
              </a:rPr>
              <a:t>4</a:t>
            </a:r>
            <a:endParaRPr sz="10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88" y="2215895"/>
            <a:ext cx="7446263" cy="155752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37919" y="246989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54778" y="246989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18246" y="250799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247" y="1595374"/>
            <a:ext cx="1868170" cy="582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PREREQUISITES</a:t>
            </a:r>
            <a:r>
              <a:rPr sz="1400" b="1" spc="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IN</a:t>
            </a:r>
            <a:r>
              <a:rPr sz="1400" b="1" spc="-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PLACE</a:t>
            </a:r>
            <a:endParaRPr sz="1400" dirty="0">
              <a:latin typeface="Calibri"/>
              <a:cs typeface="Calibri"/>
            </a:endParaRPr>
          </a:p>
          <a:p>
            <a:pPr marL="192405" marR="187325" algn="ctr">
              <a:lnSpc>
                <a:spcPct val="1000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Software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Pre-requisites, </a:t>
            </a:r>
            <a:r>
              <a:rPr sz="1100" dirty="0">
                <a:latin typeface="Georgia"/>
                <a:cs typeface="Georgia"/>
              </a:rPr>
              <a:t>Project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Setup,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Training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2670" y="1595374"/>
            <a:ext cx="2299970" cy="582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BEST</a:t>
            </a:r>
            <a:r>
              <a:rPr sz="1400" b="1" spc="-4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PRACTICE</a:t>
            </a:r>
            <a:r>
              <a:rPr sz="1400" b="1" spc="-5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Review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-10" dirty="0">
                <a:latin typeface="Georgia"/>
                <a:cs typeface="Georgia"/>
              </a:rPr>
              <a:t> understand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best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practice </a:t>
            </a:r>
            <a:r>
              <a:rPr sz="1100" dirty="0">
                <a:latin typeface="Georgia"/>
                <a:cs typeface="Georgia"/>
              </a:rPr>
              <a:t>guidelines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case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creation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4783" y="3796080"/>
            <a:ext cx="1916430" cy="582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4F70"/>
                </a:solidFill>
                <a:latin typeface="Calibri"/>
                <a:cs typeface="Calibri"/>
              </a:rPr>
              <a:t>PROJECT STRUCTURE</a:t>
            </a:r>
            <a:endParaRPr sz="14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65"/>
              </a:spcBef>
            </a:pPr>
            <a:r>
              <a:rPr sz="1100" dirty="0">
                <a:latin typeface="Georgia"/>
                <a:cs typeface="Georgia"/>
              </a:rPr>
              <a:t>Review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implement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project template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0235" y="3782059"/>
            <a:ext cx="2271395" cy="582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AUTHOR</a:t>
            </a:r>
            <a:r>
              <a:rPr sz="1400" b="1" spc="-4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INITIAL</a:t>
            </a:r>
            <a:r>
              <a:rPr sz="1400" b="1" spc="-4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TEST</a:t>
            </a:r>
            <a:r>
              <a:rPr sz="1400" b="1" spc="-4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4F70"/>
                </a:solidFill>
                <a:latin typeface="Calibri"/>
                <a:cs typeface="Calibri"/>
              </a:rPr>
              <a:t>CASES</a:t>
            </a:r>
            <a:endParaRPr sz="1400">
              <a:latin typeface="Calibri"/>
              <a:cs typeface="Calibri"/>
            </a:endParaRPr>
          </a:p>
          <a:p>
            <a:pPr marL="12700" marR="5080" indent="77470">
              <a:lnSpc>
                <a:spcPct val="100000"/>
              </a:lnSpc>
              <a:spcBef>
                <a:spcPts val="65"/>
              </a:spcBef>
            </a:pPr>
            <a:r>
              <a:rPr sz="1100" dirty="0">
                <a:latin typeface="Georgia"/>
                <a:cs typeface="Georgia"/>
              </a:rPr>
              <a:t>Scope</a:t>
            </a:r>
            <a:r>
              <a:rPr sz="1100" spc="-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develop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initial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of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cases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according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best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practices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73620" y="1574038"/>
            <a:ext cx="2091689" cy="749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009CDE"/>
                </a:solidFill>
                <a:latin typeface="Calibri"/>
                <a:cs typeface="Calibri"/>
              </a:rPr>
              <a:t>IMPLEMENTATION</a:t>
            </a:r>
            <a:r>
              <a:rPr sz="1400" b="1" spc="4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REVIEW</a:t>
            </a:r>
            <a:endParaRPr sz="14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Guided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review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initial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test </a:t>
            </a:r>
            <a:r>
              <a:rPr sz="1100" dirty="0">
                <a:latin typeface="Georgia"/>
                <a:cs typeface="Georgia"/>
              </a:rPr>
              <a:t>cases.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Implement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ongoing</a:t>
            </a:r>
            <a:r>
              <a:rPr sz="1100" spc="-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review process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02127" y="3258058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25032" y="3258058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0219" y="1927351"/>
            <a:ext cx="3272154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Calibri"/>
                <a:cs typeface="Calibri"/>
              </a:rPr>
              <a:t>TOSCA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5150"/>
              </a:lnSpc>
            </a:pP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Prerequisites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5793" y="4824171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41503"/>
            <a:ext cx="343789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TOSCA</a:t>
            </a:r>
            <a:r>
              <a:rPr spc="265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0" dirty="0"/>
              <a:t> </a:t>
            </a:r>
            <a:r>
              <a:rPr spc="120" dirty="0"/>
              <a:t>PREREQUISITES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506983"/>
            <a:ext cx="19481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Prerequisites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76955" y="1741932"/>
            <a:ext cx="3020695" cy="1854835"/>
          </a:xfrm>
          <a:custGeom>
            <a:avLst/>
            <a:gdLst/>
            <a:ahLst/>
            <a:cxnLst/>
            <a:rect l="l" t="t" r="r" b="b"/>
            <a:pathLst>
              <a:path w="3020695" h="1854835">
                <a:moveTo>
                  <a:pt x="1056132" y="1574291"/>
                </a:moveTo>
                <a:lnTo>
                  <a:pt x="794257" y="1854707"/>
                </a:lnTo>
                <a:lnTo>
                  <a:pt x="0" y="1854707"/>
                </a:lnTo>
              </a:path>
              <a:path w="3020695" h="1854835">
                <a:moveTo>
                  <a:pt x="1965959" y="1574291"/>
                </a:moveTo>
                <a:lnTo>
                  <a:pt x="2227453" y="1854707"/>
                </a:lnTo>
                <a:lnTo>
                  <a:pt x="3020568" y="1854707"/>
                </a:lnTo>
              </a:path>
              <a:path w="3020695" h="1854835">
                <a:moveTo>
                  <a:pt x="1572768" y="280415"/>
                </a:moveTo>
                <a:lnTo>
                  <a:pt x="1856613" y="0"/>
                </a:lnTo>
                <a:lnTo>
                  <a:pt x="2717292" y="0"/>
                </a:lnTo>
              </a:path>
              <a:path w="3020695" h="1854835">
                <a:moveTo>
                  <a:pt x="1345692" y="286511"/>
                </a:moveTo>
                <a:lnTo>
                  <a:pt x="1084198" y="6095"/>
                </a:lnTo>
                <a:lnTo>
                  <a:pt x="291083" y="6095"/>
                </a:lnTo>
              </a:path>
            </a:pathLst>
          </a:custGeom>
          <a:ln w="59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600" y="2958663"/>
            <a:ext cx="3524250" cy="5943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581025">
              <a:lnSpc>
                <a:spcPct val="100000"/>
              </a:lnSpc>
              <a:spcBef>
                <a:spcPts val="305"/>
              </a:spcBef>
            </a:pP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TOSCA</a:t>
            </a:r>
            <a:r>
              <a:rPr sz="1200" b="1" spc="-4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COMMANDER</a:t>
            </a:r>
            <a:r>
              <a:rPr sz="1200" b="1" spc="-2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INSTALLED</a:t>
            </a:r>
            <a:r>
              <a:rPr sz="1200" b="1" spc="-3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&amp;</a:t>
            </a:r>
            <a:r>
              <a:rPr sz="1200" b="1" spc="-3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4F70"/>
                </a:solidFill>
                <a:latin typeface="Calibri"/>
                <a:cs typeface="Calibri"/>
              </a:rPr>
              <a:t>LICENSED</a:t>
            </a:r>
            <a:endParaRPr sz="1200">
              <a:latin typeface="Calibri"/>
              <a:cs typeface="Calibri"/>
            </a:endParaRPr>
          </a:p>
          <a:p>
            <a:pPr marL="12700" marR="5080" indent="6223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Georgia"/>
                <a:cs typeface="Georgia"/>
              </a:rPr>
              <a:t>Users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your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team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must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request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Tosca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commander </a:t>
            </a:r>
            <a:r>
              <a:rPr sz="1100" dirty="0">
                <a:latin typeface="Georgia"/>
                <a:cs typeface="Georgia"/>
              </a:rPr>
              <a:t>application</a:t>
            </a:r>
            <a:r>
              <a:rPr sz="1100" spc="-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installed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along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licenses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tool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0957" y="2958663"/>
            <a:ext cx="2898775" cy="5943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305"/>
              </a:spcBef>
            </a:pP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USERS</a:t>
            </a:r>
            <a:r>
              <a:rPr sz="1200" b="1" spc="-3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ASSIGNED</a:t>
            </a:r>
            <a:r>
              <a:rPr sz="1200" b="1" spc="-3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TO</a:t>
            </a:r>
            <a:r>
              <a:rPr sz="1200" b="1" spc="-2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COMMON</a:t>
            </a:r>
            <a:r>
              <a:rPr sz="1200" b="1" spc="-2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4F70"/>
                </a:solidFill>
                <a:latin typeface="Calibri"/>
                <a:cs typeface="Calibri"/>
              </a:rPr>
              <a:t>REPOSITORY</a:t>
            </a:r>
            <a:endParaRPr sz="1200">
              <a:latin typeface="Calibri"/>
              <a:cs typeface="Calibri"/>
            </a:endParaRPr>
          </a:p>
          <a:p>
            <a:pPr marL="12700" marR="467995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Georgia"/>
                <a:cs typeface="Georgia"/>
              </a:rPr>
              <a:t>Users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must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assigned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common </a:t>
            </a:r>
            <a:r>
              <a:rPr sz="1100" dirty="0">
                <a:latin typeface="Georgia"/>
                <a:cs typeface="Georgia"/>
              </a:rPr>
              <a:t>repository</a:t>
            </a:r>
            <a:r>
              <a:rPr sz="1100" spc="-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work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Tosca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0782" y="1463631"/>
            <a:ext cx="2865755" cy="8108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solidFill>
                  <a:srgbClr val="009CDE"/>
                </a:solidFill>
                <a:latin typeface="Calibri"/>
                <a:cs typeface="Calibri"/>
              </a:rPr>
              <a:t>ALM</a:t>
            </a:r>
            <a:r>
              <a:rPr sz="12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9CDE"/>
                </a:solidFill>
                <a:latin typeface="Calibri"/>
                <a:cs typeface="Calibri"/>
              </a:rPr>
              <a:t>PROJECT</a:t>
            </a:r>
            <a:r>
              <a:rPr sz="12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9CDE"/>
                </a:solidFill>
                <a:latin typeface="Calibri"/>
                <a:cs typeface="Calibri"/>
              </a:rPr>
              <a:t>CREATED</a:t>
            </a:r>
            <a:endParaRPr sz="1200">
              <a:latin typeface="Calibri"/>
              <a:cs typeface="Calibri"/>
            </a:endParaRPr>
          </a:p>
          <a:p>
            <a:pPr marL="13335" marR="508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latin typeface="Georgia"/>
                <a:cs typeface="Georgia"/>
              </a:rPr>
              <a:t>Tosca</a:t>
            </a:r>
            <a:r>
              <a:rPr sz="1100" spc="-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common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repositories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linked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ALM </a:t>
            </a:r>
            <a:r>
              <a:rPr sz="1100" dirty="0">
                <a:latin typeface="Georgia"/>
                <a:cs typeface="Georgia"/>
              </a:rPr>
              <a:t>projects.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ALM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project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must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requested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linked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new Tosca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Project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1771" y="1452764"/>
            <a:ext cx="3034030" cy="83375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908050">
              <a:lnSpc>
                <a:spcPct val="100000"/>
              </a:lnSpc>
              <a:spcBef>
                <a:spcPts val="595"/>
              </a:spcBef>
            </a:pPr>
            <a:r>
              <a:rPr sz="1200" b="1" dirty="0">
                <a:solidFill>
                  <a:srgbClr val="009CDE"/>
                </a:solidFill>
                <a:latin typeface="Calibri"/>
                <a:cs typeface="Calibri"/>
              </a:rPr>
              <a:t>COMMON</a:t>
            </a:r>
            <a:r>
              <a:rPr sz="1200" b="1" spc="-1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9CDE"/>
                </a:solidFill>
                <a:latin typeface="Calibri"/>
                <a:cs typeface="Calibri"/>
              </a:rPr>
              <a:t>REPOSITORY</a:t>
            </a:r>
            <a:r>
              <a:rPr sz="1200" b="1" spc="-2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9CDE"/>
                </a:solidFill>
                <a:latin typeface="Calibri"/>
                <a:cs typeface="Calibri"/>
              </a:rPr>
              <a:t>CREATED</a:t>
            </a:r>
            <a:endParaRPr sz="1200">
              <a:latin typeface="Calibri"/>
              <a:cs typeface="Calibri"/>
            </a:endParaRPr>
          </a:p>
          <a:p>
            <a:pPr marL="186055" marR="5080" indent="-173990" algn="r">
              <a:lnSpc>
                <a:spcPct val="100000"/>
              </a:lnSpc>
              <a:spcBef>
                <a:spcPts val="465"/>
              </a:spcBef>
            </a:pPr>
            <a:r>
              <a:rPr sz="1100" dirty="0">
                <a:latin typeface="Georgia"/>
                <a:cs typeface="Georgia"/>
              </a:rPr>
              <a:t>A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common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repository</a:t>
            </a:r>
            <a:r>
              <a:rPr sz="1100" spc="-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shared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database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where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case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artifacts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stored.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TAP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team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provide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guide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how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request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this.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96220" y="2014473"/>
            <a:ext cx="1553845" cy="1824989"/>
            <a:chOff x="3796220" y="2014473"/>
            <a:chExt cx="1553845" cy="1824989"/>
          </a:xfrm>
        </p:grpSpPr>
        <p:sp>
          <p:nvSpPr>
            <p:cNvPr id="10" name="object 10"/>
            <p:cNvSpPr/>
            <p:nvPr/>
          </p:nvSpPr>
          <p:spPr>
            <a:xfrm>
              <a:off x="4567554" y="3584574"/>
              <a:ext cx="0" cy="254635"/>
            </a:xfrm>
            <a:custGeom>
              <a:avLst/>
              <a:gdLst/>
              <a:ahLst/>
              <a:cxnLst/>
              <a:rect l="l" t="t" r="r" b="b"/>
              <a:pathLst>
                <a:path h="254635">
                  <a:moveTo>
                    <a:pt x="0" y="0"/>
                  </a:moveTo>
                  <a:lnTo>
                    <a:pt x="0" y="254508"/>
                  </a:lnTo>
                </a:path>
              </a:pathLst>
            </a:custGeom>
            <a:ln w="59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42866" y="2077973"/>
              <a:ext cx="571500" cy="419100"/>
            </a:xfrm>
            <a:custGeom>
              <a:avLst/>
              <a:gdLst/>
              <a:ahLst/>
              <a:cxnLst/>
              <a:rect l="l" t="t" r="r" b="b"/>
              <a:pathLst>
                <a:path w="571500" h="419100">
                  <a:moveTo>
                    <a:pt x="571500" y="419100"/>
                  </a:moveTo>
                  <a:lnTo>
                    <a:pt x="548714" y="374481"/>
                  </a:lnTo>
                  <a:lnTo>
                    <a:pt x="523168" y="331826"/>
                  </a:lnTo>
                  <a:lnTo>
                    <a:pt x="494995" y="291230"/>
                  </a:lnTo>
                  <a:lnTo>
                    <a:pt x="464325" y="252791"/>
                  </a:lnTo>
                  <a:lnTo>
                    <a:pt x="431292" y="216605"/>
                  </a:lnTo>
                  <a:lnTo>
                    <a:pt x="396026" y="182770"/>
                  </a:lnTo>
                  <a:lnTo>
                    <a:pt x="358661" y="151382"/>
                  </a:lnTo>
                  <a:lnTo>
                    <a:pt x="319328" y="122538"/>
                  </a:lnTo>
                  <a:lnTo>
                    <a:pt x="278160" y="96335"/>
                  </a:lnTo>
                  <a:lnTo>
                    <a:pt x="235288" y="72869"/>
                  </a:lnTo>
                  <a:lnTo>
                    <a:pt x="190845" y="52239"/>
                  </a:lnTo>
                  <a:lnTo>
                    <a:pt x="144962" y="34539"/>
                  </a:lnTo>
                  <a:lnTo>
                    <a:pt x="97773" y="19869"/>
                  </a:lnTo>
                  <a:lnTo>
                    <a:pt x="49408" y="8323"/>
                  </a:lnTo>
                  <a:lnTo>
                    <a:pt x="0" y="0"/>
                  </a:lnTo>
                </a:path>
              </a:pathLst>
            </a:custGeom>
            <a:ln w="1270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65013" y="2667761"/>
              <a:ext cx="220979" cy="678180"/>
            </a:xfrm>
            <a:custGeom>
              <a:avLst/>
              <a:gdLst/>
              <a:ahLst/>
              <a:cxnLst/>
              <a:rect l="l" t="t" r="r" b="b"/>
              <a:pathLst>
                <a:path w="220979" h="678179">
                  <a:moveTo>
                    <a:pt x="0" y="678180"/>
                  </a:moveTo>
                  <a:lnTo>
                    <a:pt x="34544" y="641846"/>
                  </a:lnTo>
                  <a:lnTo>
                    <a:pt x="66315" y="603564"/>
                  </a:lnTo>
                  <a:lnTo>
                    <a:pt x="95264" y="563489"/>
                  </a:lnTo>
                  <a:lnTo>
                    <a:pt x="121344" y="521780"/>
                  </a:lnTo>
                  <a:lnTo>
                    <a:pt x="144507" y="478592"/>
                  </a:lnTo>
                  <a:lnTo>
                    <a:pt x="164705" y="434083"/>
                  </a:lnTo>
                  <a:lnTo>
                    <a:pt x="181892" y="388411"/>
                  </a:lnTo>
                  <a:lnTo>
                    <a:pt x="196019" y="341733"/>
                  </a:lnTo>
                  <a:lnTo>
                    <a:pt x="207038" y="294205"/>
                  </a:lnTo>
                  <a:lnTo>
                    <a:pt x="214902" y="245984"/>
                  </a:lnTo>
                  <a:lnTo>
                    <a:pt x="219564" y="197229"/>
                  </a:lnTo>
                  <a:lnTo>
                    <a:pt x="220975" y="148096"/>
                  </a:lnTo>
                  <a:lnTo>
                    <a:pt x="219089" y="98742"/>
                  </a:lnTo>
                  <a:lnTo>
                    <a:pt x="213857" y="49324"/>
                  </a:lnTo>
                  <a:lnTo>
                    <a:pt x="205232" y="0"/>
                  </a:lnTo>
                </a:path>
              </a:pathLst>
            </a:custGeom>
            <a:ln w="127000">
              <a:solidFill>
                <a:srgbClr val="004F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96333" y="3443477"/>
              <a:ext cx="707390" cy="106680"/>
            </a:xfrm>
            <a:custGeom>
              <a:avLst/>
              <a:gdLst/>
              <a:ahLst/>
              <a:cxnLst/>
              <a:rect l="l" t="t" r="r" b="b"/>
              <a:pathLst>
                <a:path w="707389" h="106679">
                  <a:moveTo>
                    <a:pt x="0" y="0"/>
                  </a:moveTo>
                  <a:lnTo>
                    <a:pt x="43660" y="24455"/>
                  </a:lnTo>
                  <a:lnTo>
                    <a:pt x="88529" y="45747"/>
                  </a:lnTo>
                  <a:lnTo>
                    <a:pt x="134441" y="63867"/>
                  </a:lnTo>
                  <a:lnTo>
                    <a:pt x="181233" y="78809"/>
                  </a:lnTo>
                  <a:lnTo>
                    <a:pt x="228741" y="90565"/>
                  </a:lnTo>
                  <a:lnTo>
                    <a:pt x="276801" y="99127"/>
                  </a:lnTo>
                  <a:lnTo>
                    <a:pt x="325249" y="104487"/>
                  </a:lnTo>
                  <a:lnTo>
                    <a:pt x="373921" y="106640"/>
                  </a:lnTo>
                  <a:lnTo>
                    <a:pt x="422653" y="105576"/>
                  </a:lnTo>
                  <a:lnTo>
                    <a:pt x="471282" y="101289"/>
                  </a:lnTo>
                  <a:lnTo>
                    <a:pt x="519644" y="93771"/>
                  </a:lnTo>
                  <a:lnTo>
                    <a:pt x="567574" y="83015"/>
                  </a:lnTo>
                  <a:lnTo>
                    <a:pt x="614908" y="69013"/>
                  </a:lnTo>
                  <a:lnTo>
                    <a:pt x="661483" y="51757"/>
                  </a:lnTo>
                  <a:lnTo>
                    <a:pt x="707136" y="31242"/>
                  </a:lnTo>
                </a:path>
              </a:pathLst>
            </a:custGeom>
            <a:ln w="1270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9720" y="2686049"/>
              <a:ext cx="234950" cy="673735"/>
            </a:xfrm>
            <a:custGeom>
              <a:avLst/>
              <a:gdLst/>
              <a:ahLst/>
              <a:cxnLst/>
              <a:rect l="l" t="t" r="r" b="b"/>
              <a:pathLst>
                <a:path w="234950" h="673735">
                  <a:moveTo>
                    <a:pt x="11873" y="0"/>
                  </a:moveTo>
                  <a:lnTo>
                    <a:pt x="4543" y="49609"/>
                  </a:lnTo>
                  <a:lnTo>
                    <a:pt x="602" y="99221"/>
                  </a:lnTo>
                  <a:lnTo>
                    <a:pt x="0" y="148681"/>
                  </a:lnTo>
                  <a:lnTo>
                    <a:pt x="2684" y="197833"/>
                  </a:lnTo>
                  <a:lnTo>
                    <a:pt x="8604" y="246521"/>
                  </a:lnTo>
                  <a:lnTo>
                    <a:pt x="17709" y="294589"/>
                  </a:lnTo>
                  <a:lnTo>
                    <a:pt x="29948" y="341881"/>
                  </a:lnTo>
                  <a:lnTo>
                    <a:pt x="45268" y="388242"/>
                  </a:lnTo>
                  <a:lnTo>
                    <a:pt x="63619" y="433517"/>
                  </a:lnTo>
                  <a:lnTo>
                    <a:pt x="84950" y="477548"/>
                  </a:lnTo>
                  <a:lnTo>
                    <a:pt x="109209" y="520180"/>
                  </a:lnTo>
                  <a:lnTo>
                    <a:pt x="136346" y="561258"/>
                  </a:lnTo>
                  <a:lnTo>
                    <a:pt x="166308" y="600626"/>
                  </a:lnTo>
                  <a:lnTo>
                    <a:pt x="199044" y="638128"/>
                  </a:lnTo>
                  <a:lnTo>
                    <a:pt x="234504" y="673607"/>
                  </a:lnTo>
                </a:path>
              </a:pathLst>
            </a:custGeom>
            <a:ln w="127000">
              <a:solidFill>
                <a:srgbClr val="004F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12869" y="2079497"/>
              <a:ext cx="533400" cy="464820"/>
            </a:xfrm>
            <a:custGeom>
              <a:avLst/>
              <a:gdLst/>
              <a:ahLst/>
              <a:cxnLst/>
              <a:rect l="l" t="t" r="r" b="b"/>
              <a:pathLst>
                <a:path w="533400" h="464819">
                  <a:moveTo>
                    <a:pt x="533400" y="0"/>
                  </a:moveTo>
                  <a:lnTo>
                    <a:pt x="484938" y="12439"/>
                  </a:lnTo>
                  <a:lnTo>
                    <a:pt x="437783" y="27996"/>
                  </a:lnTo>
                  <a:lnTo>
                    <a:pt x="392058" y="46561"/>
                  </a:lnTo>
                  <a:lnTo>
                    <a:pt x="347886" y="68027"/>
                  </a:lnTo>
                  <a:lnTo>
                    <a:pt x="305392" y="92286"/>
                  </a:lnTo>
                  <a:lnTo>
                    <a:pt x="264700" y="119231"/>
                  </a:lnTo>
                  <a:lnTo>
                    <a:pt x="225934" y="148754"/>
                  </a:lnTo>
                  <a:lnTo>
                    <a:pt x="189217" y="180747"/>
                  </a:lnTo>
                  <a:lnTo>
                    <a:pt x="154673" y="215103"/>
                  </a:lnTo>
                  <a:lnTo>
                    <a:pt x="122427" y="251714"/>
                  </a:lnTo>
                  <a:lnTo>
                    <a:pt x="92603" y="290471"/>
                  </a:lnTo>
                  <a:lnTo>
                    <a:pt x="65324" y="331268"/>
                  </a:lnTo>
                  <a:lnTo>
                    <a:pt x="40715" y="373997"/>
                  </a:lnTo>
                  <a:lnTo>
                    <a:pt x="18898" y="418550"/>
                  </a:lnTo>
                  <a:lnTo>
                    <a:pt x="0" y="464819"/>
                  </a:lnTo>
                </a:path>
              </a:pathLst>
            </a:custGeom>
            <a:ln w="1270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27446" y="682244"/>
            <a:ext cx="20237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0000"/>
                </a:solidFill>
                <a:latin typeface="Georgia"/>
                <a:cs typeface="Georgia"/>
              </a:rPr>
              <a:t>*link</a:t>
            </a:r>
            <a:r>
              <a:rPr sz="1100" spc="-1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FF0000"/>
                </a:solidFill>
                <a:latin typeface="Georgia"/>
                <a:cs typeface="Georgia"/>
              </a:rPr>
              <a:t>to</a:t>
            </a:r>
            <a:r>
              <a:rPr sz="1100" spc="-3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FF0000"/>
                </a:solidFill>
                <a:latin typeface="Georgia"/>
                <a:cs typeface="Georgia"/>
              </a:rPr>
              <a:t>TAP</a:t>
            </a:r>
            <a:r>
              <a:rPr sz="1100" spc="-3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FF0000"/>
                </a:solidFill>
                <a:latin typeface="Georgia"/>
                <a:cs typeface="Georgia"/>
              </a:rPr>
              <a:t>team</a:t>
            </a:r>
            <a:r>
              <a:rPr sz="1100" spc="-1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FF0000"/>
                </a:solidFill>
                <a:latin typeface="Georgia"/>
                <a:cs typeface="Georgia"/>
              </a:rPr>
              <a:t>published</a:t>
            </a:r>
            <a:r>
              <a:rPr sz="1100" spc="-4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Georgia"/>
                <a:cs typeface="Georgia"/>
              </a:rPr>
              <a:t>doc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535426" y="3873576"/>
            <a:ext cx="2261235" cy="85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>
              <a:lnSpc>
                <a:spcPts val="1240"/>
              </a:lnSpc>
            </a:pPr>
            <a:r>
              <a:rPr sz="1200" b="1" dirty="0">
                <a:solidFill>
                  <a:srgbClr val="009CDE"/>
                </a:solidFill>
                <a:latin typeface="Calibri"/>
                <a:cs typeface="Calibri"/>
              </a:rPr>
              <a:t>TRAINING</a:t>
            </a:r>
            <a:r>
              <a:rPr sz="1200" b="1" spc="-4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9CDE"/>
                </a:solidFill>
                <a:latin typeface="Calibri"/>
                <a:cs typeface="Calibri"/>
              </a:rPr>
              <a:t>COMPLETE</a:t>
            </a:r>
            <a:endParaRPr sz="12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70"/>
              </a:spcBef>
            </a:pPr>
            <a:r>
              <a:rPr sz="1100" dirty="0">
                <a:latin typeface="Georgia"/>
                <a:cs typeface="Georgia"/>
              </a:rPr>
              <a:t>All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users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must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complete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courses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Tricentis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Academy AS1(Automation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Specialist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and </a:t>
            </a:r>
            <a:r>
              <a:rPr sz="1100" spc="-10" dirty="0">
                <a:latin typeface="Georgia"/>
                <a:cs typeface="Georgia"/>
              </a:rPr>
              <a:t>AS2(Automation </a:t>
            </a:r>
            <a:r>
              <a:rPr sz="1100" dirty="0">
                <a:latin typeface="Georgia"/>
                <a:cs typeface="Georgia"/>
              </a:rPr>
              <a:t>Specialist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5650" y="4841163"/>
            <a:ext cx="3648075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6/24/2024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fld id="{81D60167-4931-47E6-BA6A-407CBD079E47}" type="slidenum">
              <a:rPr b="0" spc="-50" dirty="0">
                <a:latin typeface="Calibri"/>
                <a:cs typeface="Calibri"/>
              </a:rPr>
              <a:t>6</a:t>
            </a:fld>
            <a:endParaRPr b="0" spc="-5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41503"/>
            <a:ext cx="343789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TOSCA</a:t>
            </a:r>
            <a:r>
              <a:rPr spc="265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0" dirty="0"/>
              <a:t> </a:t>
            </a:r>
            <a:r>
              <a:rPr spc="120" dirty="0"/>
              <a:t>PREREQUISITES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506983"/>
            <a:ext cx="19481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Prerequisites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76955" y="1741932"/>
            <a:ext cx="3020695" cy="1854835"/>
          </a:xfrm>
          <a:custGeom>
            <a:avLst/>
            <a:gdLst/>
            <a:ahLst/>
            <a:cxnLst/>
            <a:rect l="l" t="t" r="r" b="b"/>
            <a:pathLst>
              <a:path w="3020695" h="1854835">
                <a:moveTo>
                  <a:pt x="1056132" y="1574291"/>
                </a:moveTo>
                <a:lnTo>
                  <a:pt x="794257" y="1854707"/>
                </a:lnTo>
                <a:lnTo>
                  <a:pt x="0" y="1854707"/>
                </a:lnTo>
              </a:path>
              <a:path w="3020695" h="1854835">
                <a:moveTo>
                  <a:pt x="1965959" y="1574291"/>
                </a:moveTo>
                <a:lnTo>
                  <a:pt x="2227453" y="1854707"/>
                </a:lnTo>
                <a:lnTo>
                  <a:pt x="3020568" y="1854707"/>
                </a:lnTo>
              </a:path>
              <a:path w="3020695" h="1854835">
                <a:moveTo>
                  <a:pt x="1572768" y="280415"/>
                </a:moveTo>
                <a:lnTo>
                  <a:pt x="1856613" y="0"/>
                </a:lnTo>
                <a:lnTo>
                  <a:pt x="2717292" y="0"/>
                </a:lnTo>
              </a:path>
              <a:path w="3020695" h="1854835">
                <a:moveTo>
                  <a:pt x="1345692" y="286511"/>
                </a:moveTo>
                <a:lnTo>
                  <a:pt x="1084198" y="6095"/>
                </a:lnTo>
                <a:lnTo>
                  <a:pt x="291083" y="6095"/>
                </a:lnTo>
              </a:path>
            </a:pathLst>
          </a:custGeom>
          <a:ln w="59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600" y="2958663"/>
            <a:ext cx="3524250" cy="5943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581025">
              <a:lnSpc>
                <a:spcPct val="100000"/>
              </a:lnSpc>
              <a:spcBef>
                <a:spcPts val="305"/>
              </a:spcBef>
            </a:pP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TOSCA</a:t>
            </a:r>
            <a:r>
              <a:rPr sz="1200" b="1" spc="-4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COMMANDER</a:t>
            </a:r>
            <a:r>
              <a:rPr sz="1200" b="1" spc="-2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INSTALLED</a:t>
            </a:r>
            <a:r>
              <a:rPr sz="1200" b="1" spc="-3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&amp;</a:t>
            </a:r>
            <a:r>
              <a:rPr sz="1200" b="1" spc="-3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4F70"/>
                </a:solidFill>
                <a:latin typeface="Calibri"/>
                <a:cs typeface="Calibri"/>
              </a:rPr>
              <a:t>LICENSED</a:t>
            </a:r>
            <a:endParaRPr sz="1200">
              <a:latin typeface="Calibri"/>
              <a:cs typeface="Calibri"/>
            </a:endParaRPr>
          </a:p>
          <a:p>
            <a:pPr marL="12700" marR="5080" indent="6223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Georgia"/>
                <a:cs typeface="Georgia"/>
              </a:rPr>
              <a:t>Users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your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team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must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request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Tosca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commander </a:t>
            </a:r>
            <a:r>
              <a:rPr sz="1100" dirty="0">
                <a:latin typeface="Georgia"/>
                <a:cs typeface="Georgia"/>
              </a:rPr>
              <a:t>application</a:t>
            </a:r>
            <a:r>
              <a:rPr sz="1100" spc="-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installed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along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licenses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tool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0957" y="2958663"/>
            <a:ext cx="2898775" cy="5943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305"/>
              </a:spcBef>
            </a:pP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USERS</a:t>
            </a:r>
            <a:r>
              <a:rPr sz="1200" b="1" spc="-3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ASSIGNED</a:t>
            </a:r>
            <a:r>
              <a:rPr sz="1200" b="1" spc="-3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TO</a:t>
            </a:r>
            <a:r>
              <a:rPr sz="1200" b="1" spc="-2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4F70"/>
                </a:solidFill>
                <a:latin typeface="Calibri"/>
                <a:cs typeface="Calibri"/>
              </a:rPr>
              <a:t>COMMON</a:t>
            </a:r>
            <a:r>
              <a:rPr sz="1200" b="1" spc="-2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4F70"/>
                </a:solidFill>
                <a:latin typeface="Calibri"/>
                <a:cs typeface="Calibri"/>
              </a:rPr>
              <a:t>REPOSITORY</a:t>
            </a:r>
            <a:endParaRPr sz="1200">
              <a:latin typeface="Calibri"/>
              <a:cs typeface="Calibri"/>
            </a:endParaRPr>
          </a:p>
          <a:p>
            <a:pPr marL="12700" marR="467995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Georgia"/>
                <a:cs typeface="Georgia"/>
              </a:rPr>
              <a:t>Users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must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assigned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common </a:t>
            </a:r>
            <a:r>
              <a:rPr sz="1100" dirty="0">
                <a:latin typeface="Georgia"/>
                <a:cs typeface="Georgia"/>
              </a:rPr>
              <a:t>repository</a:t>
            </a:r>
            <a:r>
              <a:rPr sz="1100" spc="-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work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Tosca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0782" y="1463631"/>
            <a:ext cx="2865755" cy="8108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solidFill>
                  <a:srgbClr val="009CDE"/>
                </a:solidFill>
                <a:latin typeface="Calibri"/>
                <a:cs typeface="Calibri"/>
              </a:rPr>
              <a:t>ALM</a:t>
            </a:r>
            <a:r>
              <a:rPr sz="12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9CDE"/>
                </a:solidFill>
                <a:latin typeface="Calibri"/>
                <a:cs typeface="Calibri"/>
              </a:rPr>
              <a:t>PROJECT</a:t>
            </a:r>
            <a:r>
              <a:rPr sz="12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9CDE"/>
                </a:solidFill>
                <a:latin typeface="Calibri"/>
                <a:cs typeface="Calibri"/>
              </a:rPr>
              <a:t>CREATED</a:t>
            </a:r>
            <a:endParaRPr sz="1200">
              <a:latin typeface="Calibri"/>
              <a:cs typeface="Calibri"/>
            </a:endParaRPr>
          </a:p>
          <a:p>
            <a:pPr marL="13335" marR="508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latin typeface="Georgia"/>
                <a:cs typeface="Georgia"/>
              </a:rPr>
              <a:t>Tosca</a:t>
            </a:r>
            <a:r>
              <a:rPr sz="1100" spc="-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common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repositories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linked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ALM </a:t>
            </a:r>
            <a:r>
              <a:rPr sz="1100" dirty="0">
                <a:latin typeface="Georgia"/>
                <a:cs typeface="Georgia"/>
              </a:rPr>
              <a:t>projects.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ALM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project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must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requested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linked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new Tosca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Project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1771" y="1452764"/>
            <a:ext cx="3034030" cy="83375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908050">
              <a:lnSpc>
                <a:spcPct val="100000"/>
              </a:lnSpc>
              <a:spcBef>
                <a:spcPts val="595"/>
              </a:spcBef>
            </a:pPr>
            <a:r>
              <a:rPr sz="1200" b="1" dirty="0">
                <a:solidFill>
                  <a:srgbClr val="009CDE"/>
                </a:solidFill>
                <a:latin typeface="Calibri"/>
                <a:cs typeface="Calibri"/>
              </a:rPr>
              <a:t>COMMON</a:t>
            </a:r>
            <a:r>
              <a:rPr sz="1200" b="1" spc="-1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9CDE"/>
                </a:solidFill>
                <a:latin typeface="Calibri"/>
                <a:cs typeface="Calibri"/>
              </a:rPr>
              <a:t>REPOSITORY</a:t>
            </a:r>
            <a:r>
              <a:rPr sz="1200" b="1" spc="-2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9CDE"/>
                </a:solidFill>
                <a:latin typeface="Calibri"/>
                <a:cs typeface="Calibri"/>
              </a:rPr>
              <a:t>CREATED</a:t>
            </a:r>
            <a:endParaRPr sz="1200">
              <a:latin typeface="Calibri"/>
              <a:cs typeface="Calibri"/>
            </a:endParaRPr>
          </a:p>
          <a:p>
            <a:pPr marL="186055" marR="5080" indent="-173990" algn="r">
              <a:lnSpc>
                <a:spcPct val="100000"/>
              </a:lnSpc>
              <a:spcBef>
                <a:spcPts val="465"/>
              </a:spcBef>
            </a:pPr>
            <a:r>
              <a:rPr sz="1100" dirty="0">
                <a:latin typeface="Georgia"/>
                <a:cs typeface="Georgia"/>
              </a:rPr>
              <a:t>A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common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repository</a:t>
            </a:r>
            <a:r>
              <a:rPr sz="1100" spc="-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shared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database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where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case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artifacts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stored.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TAP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team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provide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guide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how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request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this.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96220" y="2014473"/>
            <a:ext cx="1553845" cy="1824989"/>
            <a:chOff x="3796220" y="2014473"/>
            <a:chExt cx="1553845" cy="1824989"/>
          </a:xfrm>
        </p:grpSpPr>
        <p:sp>
          <p:nvSpPr>
            <p:cNvPr id="10" name="object 10"/>
            <p:cNvSpPr/>
            <p:nvPr/>
          </p:nvSpPr>
          <p:spPr>
            <a:xfrm>
              <a:off x="4567554" y="3584574"/>
              <a:ext cx="0" cy="254635"/>
            </a:xfrm>
            <a:custGeom>
              <a:avLst/>
              <a:gdLst/>
              <a:ahLst/>
              <a:cxnLst/>
              <a:rect l="l" t="t" r="r" b="b"/>
              <a:pathLst>
                <a:path h="254635">
                  <a:moveTo>
                    <a:pt x="0" y="0"/>
                  </a:moveTo>
                  <a:lnTo>
                    <a:pt x="0" y="254508"/>
                  </a:lnTo>
                </a:path>
              </a:pathLst>
            </a:custGeom>
            <a:ln w="59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42866" y="2077973"/>
              <a:ext cx="571500" cy="419100"/>
            </a:xfrm>
            <a:custGeom>
              <a:avLst/>
              <a:gdLst/>
              <a:ahLst/>
              <a:cxnLst/>
              <a:rect l="l" t="t" r="r" b="b"/>
              <a:pathLst>
                <a:path w="571500" h="419100">
                  <a:moveTo>
                    <a:pt x="571500" y="419100"/>
                  </a:moveTo>
                  <a:lnTo>
                    <a:pt x="548714" y="374481"/>
                  </a:lnTo>
                  <a:lnTo>
                    <a:pt x="523168" y="331826"/>
                  </a:lnTo>
                  <a:lnTo>
                    <a:pt x="494995" y="291230"/>
                  </a:lnTo>
                  <a:lnTo>
                    <a:pt x="464325" y="252791"/>
                  </a:lnTo>
                  <a:lnTo>
                    <a:pt x="431292" y="216605"/>
                  </a:lnTo>
                  <a:lnTo>
                    <a:pt x="396026" y="182770"/>
                  </a:lnTo>
                  <a:lnTo>
                    <a:pt x="358661" y="151382"/>
                  </a:lnTo>
                  <a:lnTo>
                    <a:pt x="319328" y="122538"/>
                  </a:lnTo>
                  <a:lnTo>
                    <a:pt x="278160" y="96335"/>
                  </a:lnTo>
                  <a:lnTo>
                    <a:pt x="235288" y="72869"/>
                  </a:lnTo>
                  <a:lnTo>
                    <a:pt x="190845" y="52239"/>
                  </a:lnTo>
                  <a:lnTo>
                    <a:pt x="144962" y="34539"/>
                  </a:lnTo>
                  <a:lnTo>
                    <a:pt x="97773" y="19869"/>
                  </a:lnTo>
                  <a:lnTo>
                    <a:pt x="49408" y="8323"/>
                  </a:lnTo>
                  <a:lnTo>
                    <a:pt x="0" y="0"/>
                  </a:lnTo>
                </a:path>
              </a:pathLst>
            </a:custGeom>
            <a:ln w="1270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65013" y="2667761"/>
              <a:ext cx="220979" cy="678180"/>
            </a:xfrm>
            <a:custGeom>
              <a:avLst/>
              <a:gdLst/>
              <a:ahLst/>
              <a:cxnLst/>
              <a:rect l="l" t="t" r="r" b="b"/>
              <a:pathLst>
                <a:path w="220979" h="678179">
                  <a:moveTo>
                    <a:pt x="0" y="678180"/>
                  </a:moveTo>
                  <a:lnTo>
                    <a:pt x="34544" y="641846"/>
                  </a:lnTo>
                  <a:lnTo>
                    <a:pt x="66315" y="603564"/>
                  </a:lnTo>
                  <a:lnTo>
                    <a:pt x="95264" y="563489"/>
                  </a:lnTo>
                  <a:lnTo>
                    <a:pt x="121344" y="521780"/>
                  </a:lnTo>
                  <a:lnTo>
                    <a:pt x="144507" y="478592"/>
                  </a:lnTo>
                  <a:lnTo>
                    <a:pt x="164705" y="434083"/>
                  </a:lnTo>
                  <a:lnTo>
                    <a:pt x="181892" y="388411"/>
                  </a:lnTo>
                  <a:lnTo>
                    <a:pt x="196019" y="341733"/>
                  </a:lnTo>
                  <a:lnTo>
                    <a:pt x="207038" y="294205"/>
                  </a:lnTo>
                  <a:lnTo>
                    <a:pt x="214902" y="245984"/>
                  </a:lnTo>
                  <a:lnTo>
                    <a:pt x="219564" y="197229"/>
                  </a:lnTo>
                  <a:lnTo>
                    <a:pt x="220975" y="148096"/>
                  </a:lnTo>
                  <a:lnTo>
                    <a:pt x="219089" y="98742"/>
                  </a:lnTo>
                  <a:lnTo>
                    <a:pt x="213857" y="49324"/>
                  </a:lnTo>
                  <a:lnTo>
                    <a:pt x="205232" y="0"/>
                  </a:lnTo>
                </a:path>
              </a:pathLst>
            </a:custGeom>
            <a:ln w="127000">
              <a:solidFill>
                <a:srgbClr val="004F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96333" y="3443477"/>
              <a:ext cx="707390" cy="106680"/>
            </a:xfrm>
            <a:custGeom>
              <a:avLst/>
              <a:gdLst/>
              <a:ahLst/>
              <a:cxnLst/>
              <a:rect l="l" t="t" r="r" b="b"/>
              <a:pathLst>
                <a:path w="707389" h="106679">
                  <a:moveTo>
                    <a:pt x="0" y="0"/>
                  </a:moveTo>
                  <a:lnTo>
                    <a:pt x="43660" y="24455"/>
                  </a:lnTo>
                  <a:lnTo>
                    <a:pt x="88529" y="45747"/>
                  </a:lnTo>
                  <a:lnTo>
                    <a:pt x="134441" y="63867"/>
                  </a:lnTo>
                  <a:lnTo>
                    <a:pt x="181233" y="78809"/>
                  </a:lnTo>
                  <a:lnTo>
                    <a:pt x="228741" y="90565"/>
                  </a:lnTo>
                  <a:lnTo>
                    <a:pt x="276801" y="99127"/>
                  </a:lnTo>
                  <a:lnTo>
                    <a:pt x="325249" y="104487"/>
                  </a:lnTo>
                  <a:lnTo>
                    <a:pt x="373921" y="106640"/>
                  </a:lnTo>
                  <a:lnTo>
                    <a:pt x="422653" y="105576"/>
                  </a:lnTo>
                  <a:lnTo>
                    <a:pt x="471282" y="101289"/>
                  </a:lnTo>
                  <a:lnTo>
                    <a:pt x="519644" y="93771"/>
                  </a:lnTo>
                  <a:lnTo>
                    <a:pt x="567574" y="83015"/>
                  </a:lnTo>
                  <a:lnTo>
                    <a:pt x="614908" y="69013"/>
                  </a:lnTo>
                  <a:lnTo>
                    <a:pt x="661483" y="51757"/>
                  </a:lnTo>
                  <a:lnTo>
                    <a:pt x="707136" y="31242"/>
                  </a:lnTo>
                </a:path>
              </a:pathLst>
            </a:custGeom>
            <a:ln w="1270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9720" y="2686049"/>
              <a:ext cx="234950" cy="673735"/>
            </a:xfrm>
            <a:custGeom>
              <a:avLst/>
              <a:gdLst/>
              <a:ahLst/>
              <a:cxnLst/>
              <a:rect l="l" t="t" r="r" b="b"/>
              <a:pathLst>
                <a:path w="234950" h="673735">
                  <a:moveTo>
                    <a:pt x="11873" y="0"/>
                  </a:moveTo>
                  <a:lnTo>
                    <a:pt x="4543" y="49609"/>
                  </a:lnTo>
                  <a:lnTo>
                    <a:pt x="602" y="99221"/>
                  </a:lnTo>
                  <a:lnTo>
                    <a:pt x="0" y="148681"/>
                  </a:lnTo>
                  <a:lnTo>
                    <a:pt x="2684" y="197833"/>
                  </a:lnTo>
                  <a:lnTo>
                    <a:pt x="8604" y="246521"/>
                  </a:lnTo>
                  <a:lnTo>
                    <a:pt x="17709" y="294589"/>
                  </a:lnTo>
                  <a:lnTo>
                    <a:pt x="29948" y="341881"/>
                  </a:lnTo>
                  <a:lnTo>
                    <a:pt x="45268" y="388242"/>
                  </a:lnTo>
                  <a:lnTo>
                    <a:pt x="63619" y="433517"/>
                  </a:lnTo>
                  <a:lnTo>
                    <a:pt x="84950" y="477548"/>
                  </a:lnTo>
                  <a:lnTo>
                    <a:pt x="109209" y="520180"/>
                  </a:lnTo>
                  <a:lnTo>
                    <a:pt x="136346" y="561258"/>
                  </a:lnTo>
                  <a:lnTo>
                    <a:pt x="166308" y="600626"/>
                  </a:lnTo>
                  <a:lnTo>
                    <a:pt x="199044" y="638128"/>
                  </a:lnTo>
                  <a:lnTo>
                    <a:pt x="234504" y="673607"/>
                  </a:lnTo>
                </a:path>
              </a:pathLst>
            </a:custGeom>
            <a:ln w="127000">
              <a:solidFill>
                <a:srgbClr val="004F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12869" y="2079497"/>
              <a:ext cx="533400" cy="464820"/>
            </a:xfrm>
            <a:custGeom>
              <a:avLst/>
              <a:gdLst/>
              <a:ahLst/>
              <a:cxnLst/>
              <a:rect l="l" t="t" r="r" b="b"/>
              <a:pathLst>
                <a:path w="533400" h="464819">
                  <a:moveTo>
                    <a:pt x="533400" y="0"/>
                  </a:moveTo>
                  <a:lnTo>
                    <a:pt x="484938" y="12439"/>
                  </a:lnTo>
                  <a:lnTo>
                    <a:pt x="437783" y="27996"/>
                  </a:lnTo>
                  <a:lnTo>
                    <a:pt x="392058" y="46561"/>
                  </a:lnTo>
                  <a:lnTo>
                    <a:pt x="347886" y="68027"/>
                  </a:lnTo>
                  <a:lnTo>
                    <a:pt x="305392" y="92286"/>
                  </a:lnTo>
                  <a:lnTo>
                    <a:pt x="264700" y="119231"/>
                  </a:lnTo>
                  <a:lnTo>
                    <a:pt x="225934" y="148754"/>
                  </a:lnTo>
                  <a:lnTo>
                    <a:pt x="189217" y="180747"/>
                  </a:lnTo>
                  <a:lnTo>
                    <a:pt x="154673" y="215103"/>
                  </a:lnTo>
                  <a:lnTo>
                    <a:pt x="122427" y="251714"/>
                  </a:lnTo>
                  <a:lnTo>
                    <a:pt x="92603" y="290471"/>
                  </a:lnTo>
                  <a:lnTo>
                    <a:pt x="65324" y="331268"/>
                  </a:lnTo>
                  <a:lnTo>
                    <a:pt x="40715" y="373997"/>
                  </a:lnTo>
                  <a:lnTo>
                    <a:pt x="18898" y="418550"/>
                  </a:lnTo>
                  <a:lnTo>
                    <a:pt x="0" y="464819"/>
                  </a:lnTo>
                </a:path>
              </a:pathLst>
            </a:custGeom>
            <a:ln w="1270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27446" y="682244"/>
            <a:ext cx="20237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0000"/>
                </a:solidFill>
                <a:latin typeface="Georgia"/>
                <a:cs typeface="Georgia"/>
              </a:rPr>
              <a:t>*link</a:t>
            </a:r>
            <a:r>
              <a:rPr sz="1100" spc="-1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FF0000"/>
                </a:solidFill>
                <a:latin typeface="Georgia"/>
                <a:cs typeface="Georgia"/>
              </a:rPr>
              <a:t>to</a:t>
            </a:r>
            <a:r>
              <a:rPr sz="1100" spc="-3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FF0000"/>
                </a:solidFill>
                <a:latin typeface="Georgia"/>
                <a:cs typeface="Georgia"/>
              </a:rPr>
              <a:t>TAP</a:t>
            </a:r>
            <a:r>
              <a:rPr sz="1100" spc="-3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FF0000"/>
                </a:solidFill>
                <a:latin typeface="Georgia"/>
                <a:cs typeface="Georgia"/>
              </a:rPr>
              <a:t>team</a:t>
            </a:r>
            <a:r>
              <a:rPr sz="1100" spc="-1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FF0000"/>
                </a:solidFill>
                <a:latin typeface="Georgia"/>
                <a:cs typeface="Georgia"/>
              </a:rPr>
              <a:t>published</a:t>
            </a:r>
            <a:r>
              <a:rPr sz="1100" spc="-4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Georgia"/>
                <a:cs typeface="Georgia"/>
              </a:rPr>
              <a:t>doc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535426" y="3873576"/>
            <a:ext cx="2261235" cy="85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>
              <a:lnSpc>
                <a:spcPts val="1240"/>
              </a:lnSpc>
            </a:pPr>
            <a:r>
              <a:rPr sz="1200" b="1" dirty="0">
                <a:solidFill>
                  <a:srgbClr val="009CDE"/>
                </a:solidFill>
                <a:latin typeface="Calibri"/>
                <a:cs typeface="Calibri"/>
              </a:rPr>
              <a:t>TRAINING</a:t>
            </a:r>
            <a:r>
              <a:rPr sz="1200" b="1" spc="-4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9CDE"/>
                </a:solidFill>
                <a:latin typeface="Calibri"/>
                <a:cs typeface="Calibri"/>
              </a:rPr>
              <a:t>COMPLETE</a:t>
            </a:r>
            <a:endParaRPr sz="12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70"/>
              </a:spcBef>
            </a:pPr>
            <a:r>
              <a:rPr sz="1100" dirty="0">
                <a:latin typeface="Georgia"/>
                <a:cs typeface="Georgia"/>
              </a:rPr>
              <a:t>All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users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must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complete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courses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Tricentis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Academy AS1(Automation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Specialist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and </a:t>
            </a:r>
            <a:r>
              <a:rPr sz="1100" spc="-10" dirty="0">
                <a:latin typeface="Georgia"/>
                <a:cs typeface="Georgia"/>
              </a:rPr>
              <a:t>AS2(Automation </a:t>
            </a:r>
            <a:r>
              <a:rPr sz="1100" dirty="0">
                <a:latin typeface="Georgia"/>
                <a:cs typeface="Georgia"/>
              </a:rPr>
              <a:t>Specialist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5650" y="4841163"/>
            <a:ext cx="3648075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6/24/2024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fld id="{81D60167-4931-47E6-BA6A-407CBD079E47}" type="slidenum">
              <a:rPr b="0" spc="-50" dirty="0">
                <a:latin typeface="Calibri"/>
                <a:cs typeface="Calibri"/>
              </a:rPr>
              <a:t>7</a:t>
            </a:fld>
            <a:endParaRPr b="0" spc="-5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67509"/>
            <a:ext cx="42373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Project</a:t>
            </a:r>
            <a:r>
              <a:rPr sz="4400" spc="-1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Structure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40393" y="4855794"/>
            <a:ext cx="1530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z="1000" b="1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fld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219" y="1927351"/>
            <a:ext cx="731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Calibri"/>
                <a:cs typeface="Calibri"/>
              </a:rPr>
              <a:t>TOSCA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7458" y="1037589"/>
            <a:ext cx="4365625" cy="139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4988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8ACA8"/>
                </a:solidFill>
                <a:latin typeface="Georgia"/>
                <a:cs typeface="Georgia"/>
              </a:rPr>
              <a:t>Project</a:t>
            </a:r>
            <a:r>
              <a:rPr sz="1400" b="1" spc="-35" dirty="0">
                <a:solidFill>
                  <a:srgbClr val="38ACA8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38ACA8"/>
                </a:solidFill>
                <a:latin typeface="Georgia"/>
                <a:cs typeface="Georgia"/>
              </a:rPr>
              <a:t>Creation</a:t>
            </a:r>
            <a:endParaRPr sz="1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400" dirty="0">
              <a:latin typeface="Georgia"/>
              <a:cs typeface="Georgia"/>
            </a:endParaRPr>
          </a:p>
          <a:p>
            <a:pPr marL="12700" marR="1123315">
              <a:lnSpc>
                <a:spcPct val="100000"/>
              </a:lnSpc>
            </a:pPr>
            <a:r>
              <a:rPr sz="1400" b="1" dirty="0">
                <a:latin typeface="Georgia"/>
                <a:cs typeface="Georgia"/>
              </a:rPr>
              <a:t>Important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Note: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When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Creating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new </a:t>
            </a:r>
            <a:r>
              <a:rPr sz="1400" spc="-10" dirty="0">
                <a:latin typeface="Georgia"/>
                <a:cs typeface="Georgia"/>
              </a:rPr>
              <a:t>workspace</a:t>
            </a:r>
            <a:endParaRPr sz="14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Ensure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“Create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Slim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Workspace”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not</a:t>
            </a:r>
            <a:endParaRPr sz="14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Georgia"/>
                <a:cs typeface="Georgia"/>
              </a:rPr>
              <a:t>checked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Project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: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Overview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0432" y="1575816"/>
            <a:ext cx="3535679" cy="29306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40393" y="4855794"/>
            <a:ext cx="1530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z="1000" b="1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2919" y="972311"/>
            <a:ext cx="8141334" cy="3794760"/>
            <a:chOff x="502919" y="972311"/>
            <a:chExt cx="8141334" cy="3794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0555" y="1671827"/>
              <a:ext cx="422186" cy="23911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266181" y="1707641"/>
              <a:ext cx="329565" cy="2284730"/>
            </a:xfrm>
            <a:custGeom>
              <a:avLst/>
              <a:gdLst/>
              <a:ahLst/>
              <a:cxnLst/>
              <a:rect l="l" t="t" r="r" b="b"/>
              <a:pathLst>
                <a:path w="329564" h="2284729">
                  <a:moveTo>
                    <a:pt x="329183" y="2284476"/>
                  </a:moveTo>
                  <a:lnTo>
                    <a:pt x="265104" y="2284476"/>
                  </a:lnTo>
                  <a:lnTo>
                    <a:pt x="212788" y="2284476"/>
                  </a:lnTo>
                  <a:lnTo>
                    <a:pt x="177522" y="2284476"/>
                  </a:lnTo>
                  <a:lnTo>
                    <a:pt x="164591" y="2284476"/>
                  </a:lnTo>
                  <a:lnTo>
                    <a:pt x="164591" y="1142238"/>
                  </a:lnTo>
                  <a:lnTo>
                    <a:pt x="151661" y="1142238"/>
                  </a:lnTo>
                  <a:lnTo>
                    <a:pt x="116395" y="1142238"/>
                  </a:lnTo>
                  <a:lnTo>
                    <a:pt x="64079" y="1142238"/>
                  </a:lnTo>
                  <a:lnTo>
                    <a:pt x="0" y="1142238"/>
                  </a:lnTo>
                  <a:lnTo>
                    <a:pt x="64079" y="1142238"/>
                  </a:lnTo>
                  <a:lnTo>
                    <a:pt x="116395" y="1142238"/>
                  </a:lnTo>
                  <a:lnTo>
                    <a:pt x="151661" y="1142238"/>
                  </a:lnTo>
                  <a:lnTo>
                    <a:pt x="164591" y="1142238"/>
                  </a:lnTo>
                  <a:lnTo>
                    <a:pt x="164591" y="0"/>
                  </a:lnTo>
                  <a:lnTo>
                    <a:pt x="177522" y="0"/>
                  </a:lnTo>
                  <a:lnTo>
                    <a:pt x="212788" y="0"/>
                  </a:lnTo>
                  <a:lnTo>
                    <a:pt x="265104" y="0"/>
                  </a:lnTo>
                  <a:lnTo>
                    <a:pt x="329183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3748" y="1776983"/>
              <a:ext cx="2811779" cy="214579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60882" y="1031494"/>
            <a:ext cx="7067550" cy="3705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Project Structure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400">
              <a:latin typeface="Calibri"/>
              <a:cs typeface="Calibri"/>
            </a:endParaRPr>
          </a:p>
          <a:p>
            <a:pPr marL="29209" marR="273875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Projects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organized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root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level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for </a:t>
            </a:r>
            <a:r>
              <a:rPr sz="1400" dirty="0">
                <a:latin typeface="Georgia"/>
                <a:cs typeface="Georgia"/>
              </a:rPr>
              <a:t>each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function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Tosca</a:t>
            </a:r>
            <a:endParaRPr sz="1400">
              <a:latin typeface="Georgia"/>
              <a:cs typeface="Georgia"/>
            </a:endParaRPr>
          </a:p>
          <a:p>
            <a:pPr marL="29209">
              <a:lnSpc>
                <a:spcPct val="100000"/>
              </a:lnSpc>
            </a:pPr>
            <a:r>
              <a:rPr sz="1400" b="1" dirty="0">
                <a:latin typeface="Georgia"/>
                <a:cs typeface="Georgia"/>
              </a:rPr>
              <a:t>The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Key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Folders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b="1" spc="-10" dirty="0">
                <a:latin typeface="Georgia"/>
                <a:cs typeface="Georgia"/>
              </a:rPr>
              <a:t>Include:</a:t>
            </a:r>
            <a:endParaRPr sz="1400">
              <a:latin typeface="Georgia"/>
              <a:cs typeface="Georgia"/>
            </a:endParaRPr>
          </a:p>
          <a:p>
            <a:pPr marL="31559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15595" algn="l"/>
              </a:tabLst>
            </a:pPr>
            <a:r>
              <a:rPr sz="1400" spc="-10" dirty="0">
                <a:latin typeface="Georgia"/>
                <a:cs typeface="Georgia"/>
              </a:rPr>
              <a:t>TestCases</a:t>
            </a:r>
            <a:endParaRPr sz="1400">
              <a:latin typeface="Georgia"/>
              <a:cs typeface="Georgia"/>
            </a:endParaRPr>
          </a:p>
          <a:p>
            <a:pPr marL="315595" indent="-286385">
              <a:lnSpc>
                <a:spcPct val="100000"/>
              </a:lnSpc>
              <a:buFont typeface="Arial MT"/>
              <a:buChar char="•"/>
              <a:tabLst>
                <a:tab pos="315595" algn="l"/>
              </a:tabLst>
            </a:pPr>
            <a:r>
              <a:rPr sz="1400" spc="-10" dirty="0">
                <a:latin typeface="Georgia"/>
                <a:cs typeface="Georgia"/>
              </a:rPr>
              <a:t>Modules</a:t>
            </a:r>
            <a:endParaRPr sz="1400">
              <a:latin typeface="Georgia"/>
              <a:cs typeface="Georgia"/>
            </a:endParaRPr>
          </a:p>
          <a:p>
            <a:pPr marL="315595" indent="-286385">
              <a:lnSpc>
                <a:spcPct val="100000"/>
              </a:lnSpc>
              <a:buFont typeface="Arial MT"/>
              <a:buChar char="•"/>
              <a:tabLst>
                <a:tab pos="315595" algn="l"/>
              </a:tabLst>
            </a:pP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Lists</a:t>
            </a:r>
            <a:endParaRPr sz="1400">
              <a:latin typeface="Georgia"/>
              <a:cs typeface="Georgia"/>
            </a:endParaRPr>
          </a:p>
          <a:p>
            <a:pPr marL="315595" indent="-286385">
              <a:lnSpc>
                <a:spcPct val="100000"/>
              </a:lnSpc>
              <a:buFont typeface="Arial MT"/>
              <a:buChar char="•"/>
              <a:tabLst>
                <a:tab pos="315595" algn="l"/>
              </a:tabLst>
            </a:pPr>
            <a:r>
              <a:rPr sz="1400" spc="-10" dirty="0">
                <a:latin typeface="Georgia"/>
                <a:cs typeface="Georgia"/>
              </a:rPr>
              <a:t>TestCaseDesign</a:t>
            </a:r>
            <a:endParaRPr sz="1400">
              <a:latin typeface="Georgia"/>
              <a:cs typeface="Georgia"/>
            </a:endParaRPr>
          </a:p>
          <a:p>
            <a:pPr marL="315595" indent="-286385">
              <a:lnSpc>
                <a:spcPct val="100000"/>
              </a:lnSpc>
              <a:buFont typeface="Arial MT"/>
              <a:buChar char="•"/>
              <a:tabLst>
                <a:tab pos="315595" algn="l"/>
              </a:tabLst>
            </a:pPr>
            <a:r>
              <a:rPr sz="1400" dirty="0">
                <a:latin typeface="Georgia"/>
                <a:cs typeface="Georgia"/>
              </a:rPr>
              <a:t>Ready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Folder</a:t>
            </a:r>
            <a:endParaRPr sz="1400">
              <a:latin typeface="Georgia"/>
              <a:cs typeface="Georgia"/>
            </a:endParaRPr>
          </a:p>
          <a:p>
            <a:pPr marL="315595" indent="-286385">
              <a:lnSpc>
                <a:spcPct val="100000"/>
              </a:lnSpc>
              <a:buFont typeface="Arial MT"/>
              <a:buChar char="•"/>
              <a:tabLst>
                <a:tab pos="315595" algn="l"/>
              </a:tabLst>
            </a:pPr>
            <a:r>
              <a:rPr sz="1400" dirty="0">
                <a:latin typeface="Georgia"/>
                <a:cs typeface="Georgia"/>
              </a:rPr>
              <a:t>Sandbox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working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folders</a:t>
            </a:r>
            <a:endParaRPr sz="1400">
              <a:latin typeface="Georgia"/>
              <a:cs typeface="Georgia"/>
            </a:endParaRPr>
          </a:p>
          <a:p>
            <a:pPr marL="315595" indent="-286385">
              <a:lnSpc>
                <a:spcPct val="100000"/>
              </a:lnSpc>
              <a:buFont typeface="Arial MT"/>
              <a:buChar char="•"/>
              <a:tabLst>
                <a:tab pos="315595" algn="l"/>
              </a:tabLst>
            </a:pPr>
            <a:r>
              <a:rPr sz="1400" spc="-10" dirty="0">
                <a:latin typeface="Georgia"/>
                <a:cs typeface="Georgia"/>
              </a:rPr>
              <a:t>Configurations</a:t>
            </a:r>
            <a:endParaRPr sz="1400">
              <a:latin typeface="Georgia"/>
              <a:cs typeface="Georgia"/>
            </a:endParaRPr>
          </a:p>
          <a:p>
            <a:pPr marL="773430" lvl="1" indent="-286385">
              <a:lnSpc>
                <a:spcPct val="100000"/>
              </a:lnSpc>
              <a:buFont typeface="Arial MT"/>
              <a:buChar char="•"/>
              <a:tabLst>
                <a:tab pos="773430" algn="l"/>
              </a:tabLst>
            </a:pPr>
            <a:r>
              <a:rPr sz="1400" dirty="0">
                <a:latin typeface="Georgia"/>
                <a:cs typeface="Georgia"/>
              </a:rPr>
              <a:t>Mandatory</a:t>
            </a:r>
            <a:r>
              <a:rPr sz="1400" spc="-7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(required)</a:t>
            </a:r>
            <a:endParaRPr sz="1400">
              <a:latin typeface="Georgia"/>
              <a:cs typeface="Georgia"/>
            </a:endParaRPr>
          </a:p>
          <a:p>
            <a:pPr marL="773430" lvl="1" indent="-286385">
              <a:lnSpc>
                <a:spcPct val="100000"/>
              </a:lnSpc>
              <a:buFont typeface="Arial MT"/>
              <a:buChar char="•"/>
              <a:tabLst>
                <a:tab pos="773430" algn="l"/>
              </a:tabLst>
            </a:pPr>
            <a:r>
              <a:rPr sz="1400" spc="-10" dirty="0">
                <a:latin typeface="Georgia"/>
                <a:cs typeface="Georgia"/>
              </a:rPr>
              <a:t>TestDataService</a:t>
            </a:r>
            <a:r>
              <a:rPr sz="1400" spc="6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(optional)</a:t>
            </a: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935"/>
              </a:spcBef>
            </a:pPr>
            <a:r>
              <a:rPr sz="1400" b="1" dirty="0">
                <a:latin typeface="Georgia"/>
                <a:cs typeface="Georgia"/>
              </a:rPr>
              <a:t>Newly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created</a:t>
            </a:r>
            <a:r>
              <a:rPr sz="1400" b="1" spc="-4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projects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will</a:t>
            </a:r>
            <a:r>
              <a:rPr sz="1400" b="1" spc="-1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have</a:t>
            </a:r>
            <a:r>
              <a:rPr sz="1400" b="1" spc="-5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example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folder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structures</a:t>
            </a:r>
            <a:r>
              <a:rPr sz="1400" b="1" spc="-5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and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b="1" spc="-10" dirty="0">
                <a:latin typeface="Georgia"/>
                <a:cs typeface="Georgia"/>
              </a:rPr>
              <a:t>configuration </a:t>
            </a:r>
            <a:r>
              <a:rPr sz="1400" b="1" dirty="0">
                <a:latin typeface="Georgia"/>
                <a:cs typeface="Georgia"/>
              </a:rPr>
              <a:t>parameters</a:t>
            </a:r>
            <a:r>
              <a:rPr sz="1400" b="1" spc="-7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aligned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to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this</a:t>
            </a:r>
            <a:r>
              <a:rPr sz="1400" b="1" spc="-4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best</a:t>
            </a:r>
            <a:r>
              <a:rPr sz="1400" b="1" spc="-5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practice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b="1" spc="-10" dirty="0">
                <a:latin typeface="Georgia"/>
                <a:cs typeface="Georgia"/>
              </a:rPr>
              <a:t>documentation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Project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: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Overview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67509"/>
            <a:ext cx="65728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Test</a:t>
            </a:r>
            <a:r>
              <a:rPr sz="44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Case</a:t>
            </a:r>
            <a:r>
              <a:rPr sz="44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Folder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Structure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5159" y="1022984"/>
            <a:ext cx="14293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Test</a:t>
            </a:r>
            <a:r>
              <a:rPr sz="1400" b="1" spc="-3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Case</a:t>
            </a:r>
            <a:r>
              <a:rPr sz="1400" b="1" spc="-3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Structure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2393" y="1999234"/>
            <a:ext cx="465836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Georgia"/>
                <a:cs typeface="Georgia"/>
              </a:rPr>
              <a:t>Test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Cases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Organized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Product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sub </a:t>
            </a:r>
            <a:r>
              <a:rPr sz="1400" dirty="0">
                <a:latin typeface="Georgia"/>
                <a:cs typeface="Georgia"/>
              </a:rPr>
              <a:t>folders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testing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type.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Georgia"/>
                <a:cs typeface="Georgia"/>
              </a:rPr>
              <a:t>Test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Case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names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prefixed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paths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from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parent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reporting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purposes.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Georgia"/>
              <a:cs typeface="Georgia"/>
            </a:endParaRPr>
          </a:p>
          <a:p>
            <a:pPr marL="12700" marR="26035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Libraries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folder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containing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sub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folders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common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any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additional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required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libraries.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Project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r>
              <a:rPr sz="2600" spc="-7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: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50384" y="2004060"/>
            <a:ext cx="4244975" cy="2391410"/>
            <a:chOff x="4350384" y="2004060"/>
            <a:chExt cx="4244975" cy="23914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7547" y="2004060"/>
              <a:ext cx="422186" cy="23911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83173" y="2039874"/>
              <a:ext cx="329565" cy="2284730"/>
            </a:xfrm>
            <a:custGeom>
              <a:avLst/>
              <a:gdLst/>
              <a:ahLst/>
              <a:cxnLst/>
              <a:rect l="l" t="t" r="r" b="b"/>
              <a:pathLst>
                <a:path w="329564" h="2284729">
                  <a:moveTo>
                    <a:pt x="329184" y="2284476"/>
                  </a:moveTo>
                  <a:lnTo>
                    <a:pt x="265104" y="2284476"/>
                  </a:lnTo>
                  <a:lnTo>
                    <a:pt x="212788" y="2284476"/>
                  </a:lnTo>
                  <a:lnTo>
                    <a:pt x="177522" y="2284476"/>
                  </a:lnTo>
                  <a:lnTo>
                    <a:pt x="164591" y="2284476"/>
                  </a:lnTo>
                  <a:lnTo>
                    <a:pt x="164591" y="1142238"/>
                  </a:lnTo>
                  <a:lnTo>
                    <a:pt x="151661" y="1142238"/>
                  </a:lnTo>
                  <a:lnTo>
                    <a:pt x="116395" y="1142238"/>
                  </a:lnTo>
                  <a:lnTo>
                    <a:pt x="64079" y="1142238"/>
                  </a:lnTo>
                  <a:lnTo>
                    <a:pt x="0" y="1142238"/>
                  </a:lnTo>
                  <a:lnTo>
                    <a:pt x="64079" y="1142238"/>
                  </a:lnTo>
                  <a:lnTo>
                    <a:pt x="116395" y="1142238"/>
                  </a:lnTo>
                  <a:lnTo>
                    <a:pt x="151661" y="1142238"/>
                  </a:lnTo>
                  <a:lnTo>
                    <a:pt x="164591" y="1142238"/>
                  </a:lnTo>
                  <a:lnTo>
                    <a:pt x="164591" y="0"/>
                  </a:lnTo>
                  <a:lnTo>
                    <a:pt x="177522" y="0"/>
                  </a:lnTo>
                  <a:lnTo>
                    <a:pt x="212788" y="0"/>
                  </a:lnTo>
                  <a:lnTo>
                    <a:pt x="265104" y="0"/>
                  </a:lnTo>
                  <a:lnTo>
                    <a:pt x="329184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4059" y="2200656"/>
              <a:ext cx="2781299" cy="19613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350385" y="2250947"/>
              <a:ext cx="2004695" cy="1405255"/>
            </a:xfrm>
            <a:custGeom>
              <a:avLst/>
              <a:gdLst/>
              <a:ahLst/>
              <a:cxnLst/>
              <a:rect l="l" t="t" r="r" b="b"/>
              <a:pathLst>
                <a:path w="2004695" h="1405254">
                  <a:moveTo>
                    <a:pt x="1561973" y="499872"/>
                  </a:moveTo>
                  <a:lnTo>
                    <a:pt x="1548257" y="459740"/>
                  </a:lnTo>
                  <a:lnTo>
                    <a:pt x="1534414" y="419227"/>
                  </a:lnTo>
                  <a:lnTo>
                    <a:pt x="1512150" y="441807"/>
                  </a:lnTo>
                  <a:lnTo>
                    <a:pt x="1064260" y="0"/>
                  </a:lnTo>
                  <a:lnTo>
                    <a:pt x="1055370" y="9144"/>
                  </a:lnTo>
                  <a:lnTo>
                    <a:pt x="1503260" y="450824"/>
                  </a:lnTo>
                  <a:lnTo>
                    <a:pt x="1480947" y="473456"/>
                  </a:lnTo>
                  <a:lnTo>
                    <a:pt x="1561973" y="499872"/>
                  </a:lnTo>
                  <a:close/>
                </a:path>
                <a:path w="2004695" h="1405254">
                  <a:moveTo>
                    <a:pt x="1675003" y="1367028"/>
                  </a:moveTo>
                  <a:lnTo>
                    <a:pt x="1662303" y="1360678"/>
                  </a:lnTo>
                  <a:lnTo>
                    <a:pt x="1598803" y="1328928"/>
                  </a:lnTo>
                  <a:lnTo>
                    <a:pt x="1598803" y="1360678"/>
                  </a:lnTo>
                  <a:lnTo>
                    <a:pt x="652907" y="1360678"/>
                  </a:lnTo>
                  <a:lnTo>
                    <a:pt x="652907" y="1373378"/>
                  </a:lnTo>
                  <a:lnTo>
                    <a:pt x="1598803" y="1373378"/>
                  </a:lnTo>
                  <a:lnTo>
                    <a:pt x="1598803" y="1405128"/>
                  </a:lnTo>
                  <a:lnTo>
                    <a:pt x="1662303" y="1373378"/>
                  </a:lnTo>
                  <a:lnTo>
                    <a:pt x="1675003" y="1367028"/>
                  </a:lnTo>
                  <a:close/>
                </a:path>
                <a:path w="2004695" h="1405254">
                  <a:moveTo>
                    <a:pt x="2004695" y="926592"/>
                  </a:moveTo>
                  <a:lnTo>
                    <a:pt x="1932559" y="881126"/>
                  </a:lnTo>
                  <a:lnTo>
                    <a:pt x="1929434" y="912774"/>
                  </a:lnTo>
                  <a:lnTo>
                    <a:pt x="1270" y="722122"/>
                  </a:lnTo>
                  <a:lnTo>
                    <a:pt x="0" y="734822"/>
                  </a:lnTo>
                  <a:lnTo>
                    <a:pt x="1928177" y="925461"/>
                  </a:lnTo>
                  <a:lnTo>
                    <a:pt x="1925066" y="957072"/>
                  </a:lnTo>
                  <a:lnTo>
                    <a:pt x="2004352" y="926719"/>
                  </a:lnTo>
                  <a:lnTo>
                    <a:pt x="2004695" y="926592"/>
                  </a:lnTo>
                  <a:close/>
                </a:path>
              </a:pathLst>
            </a:custGeom>
            <a:solidFill>
              <a:srgbClr val="00B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67509"/>
            <a:ext cx="63690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Modules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Folder</a:t>
            </a:r>
            <a:r>
              <a:rPr sz="44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Structure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5890" y="980313"/>
            <a:ext cx="19081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Modules</a:t>
            </a: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Folder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Structure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2393" y="1999234"/>
            <a:ext cx="3841115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Georgia"/>
                <a:cs typeface="Georgia"/>
              </a:rPr>
              <a:t>Modules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organized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under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an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Georgia"/>
                <a:cs typeface="Georgia"/>
              </a:rPr>
              <a:t>application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name</a:t>
            </a:r>
            <a:r>
              <a:rPr sz="1400" b="1" spc="-60" dirty="0">
                <a:latin typeface="Georgia"/>
                <a:cs typeface="Georgia"/>
              </a:rPr>
              <a:t> </a:t>
            </a:r>
            <a:r>
              <a:rPr sz="1400" b="1" spc="-10" dirty="0">
                <a:latin typeface="Georgia"/>
                <a:cs typeface="Georgia"/>
              </a:rPr>
              <a:t>folder</a:t>
            </a:r>
            <a:r>
              <a:rPr sz="1400" spc="-10" dirty="0">
                <a:latin typeface="Georgia"/>
                <a:cs typeface="Georgia"/>
              </a:rPr>
              <a:t>.</a:t>
            </a:r>
            <a:endParaRPr sz="1400">
              <a:latin typeface="Georgia"/>
              <a:cs typeface="Georgia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Each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application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sub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be </a:t>
            </a:r>
            <a:r>
              <a:rPr sz="1400" dirty="0">
                <a:latin typeface="Georgia"/>
                <a:cs typeface="Georgia"/>
              </a:rPr>
              <a:t>child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application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folder.</a:t>
            </a:r>
            <a:endParaRPr sz="1400">
              <a:latin typeface="Georgia"/>
              <a:cs typeface="Georgia"/>
            </a:endParaRPr>
          </a:p>
          <a:p>
            <a:pPr marL="299085" marR="5651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Individual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modules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pipe</a:t>
            </a:r>
            <a:r>
              <a:rPr sz="1400" b="1" spc="-15" dirty="0">
                <a:latin typeface="Georgia"/>
                <a:cs typeface="Georgia"/>
              </a:rPr>
              <a:t> </a:t>
            </a:r>
            <a:r>
              <a:rPr sz="1400" b="1" spc="-25" dirty="0">
                <a:latin typeface="Georgia"/>
                <a:cs typeface="Georgia"/>
              </a:rPr>
              <a:t>(|) </a:t>
            </a:r>
            <a:r>
              <a:rPr sz="1400" b="1" dirty="0">
                <a:latin typeface="Georgia"/>
                <a:cs typeface="Georgia"/>
              </a:rPr>
              <a:t>delimiters</a:t>
            </a:r>
            <a:r>
              <a:rPr sz="1400" b="1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application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and </a:t>
            </a:r>
            <a:r>
              <a:rPr sz="1400" dirty="0">
                <a:latin typeface="Georgia"/>
                <a:cs typeface="Georgia"/>
              </a:rPr>
              <a:t>subfolder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part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module</a:t>
            </a:r>
            <a:r>
              <a:rPr sz="1400" spc="-20" dirty="0">
                <a:latin typeface="Georgia"/>
                <a:cs typeface="Georgia"/>
              </a:rPr>
              <a:t> name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screen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end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Project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: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Modules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Folder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16779" y="1972055"/>
            <a:ext cx="3694429" cy="2059305"/>
            <a:chOff x="4716779" y="1972055"/>
            <a:chExt cx="3694429" cy="20593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779" y="1972055"/>
              <a:ext cx="323113" cy="20589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72405" y="2007869"/>
              <a:ext cx="230504" cy="1952625"/>
            </a:xfrm>
            <a:custGeom>
              <a:avLst/>
              <a:gdLst/>
              <a:ahLst/>
              <a:cxnLst/>
              <a:rect l="l" t="t" r="r" b="b"/>
              <a:pathLst>
                <a:path w="230504" h="1952625">
                  <a:moveTo>
                    <a:pt x="230124" y="1952244"/>
                  </a:moveTo>
                  <a:lnTo>
                    <a:pt x="185356" y="1952244"/>
                  </a:lnTo>
                  <a:lnTo>
                    <a:pt x="148780" y="1952244"/>
                  </a:lnTo>
                  <a:lnTo>
                    <a:pt x="124110" y="1952244"/>
                  </a:lnTo>
                  <a:lnTo>
                    <a:pt x="115062" y="1952244"/>
                  </a:lnTo>
                  <a:lnTo>
                    <a:pt x="115062" y="976122"/>
                  </a:lnTo>
                  <a:lnTo>
                    <a:pt x="106013" y="976122"/>
                  </a:lnTo>
                  <a:lnTo>
                    <a:pt x="81343" y="976122"/>
                  </a:lnTo>
                  <a:lnTo>
                    <a:pt x="44767" y="976122"/>
                  </a:lnTo>
                  <a:lnTo>
                    <a:pt x="0" y="976122"/>
                  </a:lnTo>
                  <a:lnTo>
                    <a:pt x="44767" y="976122"/>
                  </a:lnTo>
                  <a:lnTo>
                    <a:pt x="81343" y="976122"/>
                  </a:lnTo>
                  <a:lnTo>
                    <a:pt x="106013" y="976122"/>
                  </a:lnTo>
                  <a:lnTo>
                    <a:pt x="115062" y="976122"/>
                  </a:lnTo>
                  <a:lnTo>
                    <a:pt x="115062" y="0"/>
                  </a:lnTo>
                  <a:lnTo>
                    <a:pt x="124110" y="0"/>
                  </a:lnTo>
                  <a:lnTo>
                    <a:pt x="148780" y="0"/>
                  </a:lnTo>
                  <a:lnTo>
                    <a:pt x="185356" y="0"/>
                  </a:lnTo>
                  <a:lnTo>
                    <a:pt x="230124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2143" y="2183891"/>
              <a:ext cx="3448811" cy="157124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82748"/>
            <a:ext cx="7648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Georgia"/>
                <a:cs typeface="Georgia"/>
              </a:rPr>
              <a:t>Test</a:t>
            </a:r>
            <a:r>
              <a:rPr sz="4000" spc="-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dirty="0">
                <a:solidFill>
                  <a:srgbClr val="FFFFFF"/>
                </a:solidFill>
                <a:latin typeface="Georgia"/>
                <a:cs typeface="Georgia"/>
              </a:rPr>
              <a:t>Case</a:t>
            </a:r>
            <a:r>
              <a:rPr sz="4000" spc="-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dirty="0">
                <a:solidFill>
                  <a:srgbClr val="FFFFFF"/>
                </a:solidFill>
                <a:latin typeface="Georgia"/>
                <a:cs typeface="Georgia"/>
              </a:rPr>
              <a:t>Design</a:t>
            </a:r>
            <a:r>
              <a:rPr sz="4000" spc="-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dirty="0">
                <a:solidFill>
                  <a:srgbClr val="FFFFFF"/>
                </a:solidFill>
                <a:latin typeface="Georgia"/>
                <a:cs typeface="Georgia"/>
              </a:rPr>
              <a:t>Folder</a:t>
            </a:r>
            <a:r>
              <a:rPr sz="4000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Georgia"/>
                <a:cs typeface="Georgia"/>
              </a:rPr>
              <a:t>Structure</a:t>
            </a:r>
            <a:endParaRPr sz="40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6934" y="1031494"/>
            <a:ext cx="19653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Test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Case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Design</a:t>
            </a:r>
            <a:r>
              <a:rPr sz="1400" b="1" spc="-2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Structure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2393" y="1999234"/>
            <a:ext cx="391731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Georgia"/>
                <a:cs typeface="Georgia"/>
              </a:rPr>
              <a:t>Test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Case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Design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organized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under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an </a:t>
            </a:r>
            <a:r>
              <a:rPr sz="1400" dirty="0">
                <a:latin typeface="Georgia"/>
                <a:cs typeface="Georgia"/>
              </a:rPr>
              <a:t>application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folder.</a:t>
            </a:r>
            <a:endParaRPr sz="1400">
              <a:latin typeface="Georgia"/>
              <a:cs typeface="Georgia"/>
            </a:endParaRPr>
          </a:p>
          <a:p>
            <a:pPr marL="299085" marR="46545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Workflows</a:t>
            </a:r>
            <a:r>
              <a:rPr sz="1400" b="1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contain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test </a:t>
            </a:r>
            <a:r>
              <a:rPr sz="1400" dirty="0">
                <a:latin typeface="Georgia"/>
                <a:cs typeface="Georgia"/>
              </a:rPr>
              <a:t>sheets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 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cases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Classes</a:t>
            </a:r>
            <a:r>
              <a:rPr sz="1400" b="1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 contain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reusable</a:t>
            </a:r>
            <a:endParaRPr sz="1400">
              <a:latin typeface="Georgia"/>
              <a:cs typeface="Georgi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classes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across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multiple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sheets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Project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r>
              <a:rPr sz="2600" spc="-7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: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Design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16779" y="1972055"/>
            <a:ext cx="2894330" cy="2059305"/>
            <a:chOff x="4716779" y="1972055"/>
            <a:chExt cx="2894330" cy="20593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779" y="1972055"/>
              <a:ext cx="323113" cy="20589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72405" y="2007869"/>
              <a:ext cx="230504" cy="1952625"/>
            </a:xfrm>
            <a:custGeom>
              <a:avLst/>
              <a:gdLst/>
              <a:ahLst/>
              <a:cxnLst/>
              <a:rect l="l" t="t" r="r" b="b"/>
              <a:pathLst>
                <a:path w="230504" h="1952625">
                  <a:moveTo>
                    <a:pt x="230124" y="1952244"/>
                  </a:moveTo>
                  <a:lnTo>
                    <a:pt x="185356" y="1952244"/>
                  </a:lnTo>
                  <a:lnTo>
                    <a:pt x="148780" y="1952244"/>
                  </a:lnTo>
                  <a:lnTo>
                    <a:pt x="124110" y="1952244"/>
                  </a:lnTo>
                  <a:lnTo>
                    <a:pt x="115062" y="1952244"/>
                  </a:lnTo>
                  <a:lnTo>
                    <a:pt x="115062" y="976122"/>
                  </a:lnTo>
                  <a:lnTo>
                    <a:pt x="106013" y="976122"/>
                  </a:lnTo>
                  <a:lnTo>
                    <a:pt x="81343" y="976122"/>
                  </a:lnTo>
                  <a:lnTo>
                    <a:pt x="44767" y="976122"/>
                  </a:lnTo>
                  <a:lnTo>
                    <a:pt x="0" y="976122"/>
                  </a:lnTo>
                  <a:lnTo>
                    <a:pt x="44767" y="976122"/>
                  </a:lnTo>
                  <a:lnTo>
                    <a:pt x="81343" y="976122"/>
                  </a:lnTo>
                  <a:lnTo>
                    <a:pt x="106013" y="976122"/>
                  </a:lnTo>
                  <a:lnTo>
                    <a:pt x="115062" y="976122"/>
                  </a:lnTo>
                  <a:lnTo>
                    <a:pt x="115062" y="0"/>
                  </a:lnTo>
                  <a:lnTo>
                    <a:pt x="124110" y="0"/>
                  </a:lnTo>
                  <a:lnTo>
                    <a:pt x="148780" y="0"/>
                  </a:lnTo>
                  <a:lnTo>
                    <a:pt x="185356" y="0"/>
                  </a:lnTo>
                  <a:lnTo>
                    <a:pt x="230124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0743" y="2007107"/>
              <a:ext cx="2420111" cy="101955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6934" y="999236"/>
            <a:ext cx="19653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Test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Case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Design</a:t>
            </a:r>
            <a:r>
              <a:rPr sz="1400" b="1" spc="-2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Structure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2393" y="1999234"/>
            <a:ext cx="363347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Georgia"/>
                <a:cs typeface="Georgia"/>
              </a:rPr>
              <a:t>Individual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test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sheets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 follow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same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structure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convention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7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template.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Project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r>
              <a:rPr sz="2600" spc="-7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: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Design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16779" y="1972055"/>
            <a:ext cx="2996565" cy="2059305"/>
            <a:chOff x="4716779" y="1972055"/>
            <a:chExt cx="2996565" cy="20593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779" y="1972055"/>
              <a:ext cx="323113" cy="20589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72405" y="2007869"/>
              <a:ext cx="230504" cy="1952625"/>
            </a:xfrm>
            <a:custGeom>
              <a:avLst/>
              <a:gdLst/>
              <a:ahLst/>
              <a:cxnLst/>
              <a:rect l="l" t="t" r="r" b="b"/>
              <a:pathLst>
                <a:path w="230504" h="1952625">
                  <a:moveTo>
                    <a:pt x="230124" y="1952244"/>
                  </a:moveTo>
                  <a:lnTo>
                    <a:pt x="185356" y="1952244"/>
                  </a:lnTo>
                  <a:lnTo>
                    <a:pt x="148780" y="1952244"/>
                  </a:lnTo>
                  <a:lnTo>
                    <a:pt x="124110" y="1952244"/>
                  </a:lnTo>
                  <a:lnTo>
                    <a:pt x="115062" y="1952244"/>
                  </a:lnTo>
                  <a:lnTo>
                    <a:pt x="115062" y="976122"/>
                  </a:lnTo>
                  <a:lnTo>
                    <a:pt x="106013" y="976122"/>
                  </a:lnTo>
                  <a:lnTo>
                    <a:pt x="81343" y="976122"/>
                  </a:lnTo>
                  <a:lnTo>
                    <a:pt x="44767" y="976122"/>
                  </a:lnTo>
                  <a:lnTo>
                    <a:pt x="0" y="976122"/>
                  </a:lnTo>
                  <a:lnTo>
                    <a:pt x="44767" y="976122"/>
                  </a:lnTo>
                  <a:lnTo>
                    <a:pt x="81343" y="976122"/>
                  </a:lnTo>
                  <a:lnTo>
                    <a:pt x="106013" y="976122"/>
                  </a:lnTo>
                  <a:lnTo>
                    <a:pt x="115062" y="976122"/>
                  </a:lnTo>
                  <a:lnTo>
                    <a:pt x="115062" y="0"/>
                  </a:lnTo>
                  <a:lnTo>
                    <a:pt x="124110" y="0"/>
                  </a:lnTo>
                  <a:lnTo>
                    <a:pt x="148780" y="0"/>
                  </a:lnTo>
                  <a:lnTo>
                    <a:pt x="185356" y="0"/>
                  </a:lnTo>
                  <a:lnTo>
                    <a:pt x="230124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1891" y="2071115"/>
              <a:ext cx="2481071" cy="182422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983" y="1001395"/>
            <a:ext cx="4299585" cy="3559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4945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Test</a:t>
            </a:r>
            <a:r>
              <a:rPr sz="1400" b="1" spc="-5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Sheets</a:t>
            </a:r>
            <a:r>
              <a:rPr sz="1400" b="1" spc="-6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Structure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Individual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sheets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split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into</a:t>
            </a:r>
            <a:r>
              <a:rPr sz="1400" spc="-10" dirty="0">
                <a:latin typeface="Georgia"/>
                <a:cs typeface="Georgia"/>
              </a:rPr>
              <a:t> these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Georgia"/>
                <a:cs typeface="Georgia"/>
              </a:rPr>
              <a:t>sections:</a:t>
            </a:r>
            <a:endParaRPr sz="1400">
              <a:latin typeface="Georgia"/>
              <a:cs typeface="Georgia"/>
            </a:endParaRPr>
          </a:p>
          <a:p>
            <a:pPr marL="299085" marR="422909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latin typeface="Georgia"/>
                <a:cs typeface="Georgia"/>
              </a:rPr>
              <a:t>Info</a:t>
            </a:r>
            <a:r>
              <a:rPr sz="1400" b="1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–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contains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author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name.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Additional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info </a:t>
            </a:r>
            <a:r>
              <a:rPr sz="1400" dirty="0">
                <a:latin typeface="Georgia"/>
                <a:cs typeface="Georgia"/>
              </a:rPr>
              <a:t>attributes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may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placed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here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latin typeface="Georgia"/>
                <a:cs typeface="Georgia"/>
              </a:rPr>
              <a:t>Process</a:t>
            </a:r>
            <a:r>
              <a:rPr sz="1400" b="1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–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data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</a:t>
            </a:r>
            <a:endParaRPr sz="1400">
              <a:latin typeface="Georgia"/>
              <a:cs typeface="Georgia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workflow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cases</a:t>
            </a:r>
            <a:endParaRPr sz="1400">
              <a:latin typeface="Georgia"/>
              <a:cs typeface="Georgia"/>
            </a:endParaRPr>
          </a:p>
          <a:p>
            <a:pPr marL="299085" marR="74612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latin typeface="Georgia"/>
                <a:cs typeface="Georgia"/>
              </a:rPr>
              <a:t>Verification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–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data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needs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be </a:t>
            </a:r>
            <a:r>
              <a:rPr sz="1400" dirty="0">
                <a:latin typeface="Georgia"/>
                <a:cs typeface="Georgia"/>
              </a:rPr>
              <a:t>verified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case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39624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Business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relevance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these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be </a:t>
            </a:r>
            <a:r>
              <a:rPr sz="1400" dirty="0">
                <a:latin typeface="Georgia"/>
                <a:cs typeface="Georgia"/>
              </a:rPr>
              <a:t>toggled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match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screenshot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right.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This </a:t>
            </a:r>
            <a:r>
              <a:rPr sz="1400" dirty="0">
                <a:latin typeface="Georgia"/>
                <a:cs typeface="Georgia"/>
              </a:rPr>
              <a:t>determines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whether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data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relevant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workflow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part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verification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or </a:t>
            </a:r>
            <a:r>
              <a:rPr sz="1400" spc="-10" dirty="0">
                <a:latin typeface="Georgia"/>
                <a:cs typeface="Georgia"/>
              </a:rPr>
              <a:t>informational.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icons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represent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 </a:t>
            </a:r>
            <a:r>
              <a:rPr sz="1400" spc="-10" dirty="0">
                <a:latin typeface="Georgia"/>
                <a:cs typeface="Georgia"/>
              </a:rPr>
              <a:t>state: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Project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: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Sheets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32984" y="1612391"/>
            <a:ext cx="2573655" cy="2677795"/>
            <a:chOff x="4832984" y="1612391"/>
            <a:chExt cx="2573655" cy="26777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1495" y="1612391"/>
              <a:ext cx="323113" cy="20604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67121" y="1648205"/>
              <a:ext cx="230504" cy="1953895"/>
            </a:xfrm>
            <a:custGeom>
              <a:avLst/>
              <a:gdLst/>
              <a:ahLst/>
              <a:cxnLst/>
              <a:rect l="l" t="t" r="r" b="b"/>
              <a:pathLst>
                <a:path w="230504" h="1953895">
                  <a:moveTo>
                    <a:pt x="230124" y="1953768"/>
                  </a:moveTo>
                  <a:lnTo>
                    <a:pt x="185356" y="1953768"/>
                  </a:lnTo>
                  <a:lnTo>
                    <a:pt x="148780" y="1953768"/>
                  </a:lnTo>
                  <a:lnTo>
                    <a:pt x="124110" y="1953768"/>
                  </a:lnTo>
                  <a:lnTo>
                    <a:pt x="115062" y="1953768"/>
                  </a:lnTo>
                  <a:lnTo>
                    <a:pt x="115062" y="976884"/>
                  </a:lnTo>
                  <a:lnTo>
                    <a:pt x="106013" y="976884"/>
                  </a:lnTo>
                  <a:lnTo>
                    <a:pt x="81343" y="976884"/>
                  </a:lnTo>
                  <a:lnTo>
                    <a:pt x="44767" y="976884"/>
                  </a:lnTo>
                  <a:lnTo>
                    <a:pt x="0" y="976884"/>
                  </a:lnTo>
                  <a:lnTo>
                    <a:pt x="44767" y="976884"/>
                  </a:lnTo>
                  <a:lnTo>
                    <a:pt x="81343" y="976884"/>
                  </a:lnTo>
                  <a:lnTo>
                    <a:pt x="106013" y="976884"/>
                  </a:lnTo>
                  <a:lnTo>
                    <a:pt x="115062" y="976884"/>
                  </a:lnTo>
                  <a:lnTo>
                    <a:pt x="115062" y="0"/>
                  </a:lnTo>
                  <a:lnTo>
                    <a:pt x="124110" y="0"/>
                  </a:lnTo>
                  <a:lnTo>
                    <a:pt x="148780" y="0"/>
                  </a:lnTo>
                  <a:lnTo>
                    <a:pt x="185356" y="0"/>
                  </a:lnTo>
                  <a:lnTo>
                    <a:pt x="230124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6127" y="1758695"/>
              <a:ext cx="1810512" cy="17678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32985" y="2168651"/>
              <a:ext cx="1049020" cy="2121535"/>
            </a:xfrm>
            <a:custGeom>
              <a:avLst/>
              <a:gdLst/>
              <a:ahLst/>
              <a:cxnLst/>
              <a:rect l="l" t="t" r="r" b="b"/>
              <a:pathLst>
                <a:path w="1049020" h="2121535">
                  <a:moveTo>
                    <a:pt x="955040" y="1290828"/>
                  </a:moveTo>
                  <a:lnTo>
                    <a:pt x="872998" y="1313688"/>
                  </a:lnTo>
                  <a:lnTo>
                    <a:pt x="894295" y="1337221"/>
                  </a:lnTo>
                  <a:lnTo>
                    <a:pt x="37973" y="2111933"/>
                  </a:lnTo>
                  <a:lnTo>
                    <a:pt x="46609" y="2121344"/>
                  </a:lnTo>
                  <a:lnTo>
                    <a:pt x="902868" y="1346682"/>
                  </a:lnTo>
                  <a:lnTo>
                    <a:pt x="924179" y="1370203"/>
                  </a:lnTo>
                  <a:lnTo>
                    <a:pt x="940320" y="1328674"/>
                  </a:lnTo>
                  <a:lnTo>
                    <a:pt x="955040" y="1290828"/>
                  </a:lnTo>
                  <a:close/>
                </a:path>
                <a:path w="1049020" h="2121535">
                  <a:moveTo>
                    <a:pt x="1048258" y="307848"/>
                  </a:moveTo>
                  <a:lnTo>
                    <a:pt x="977646" y="355473"/>
                  </a:lnTo>
                  <a:lnTo>
                    <a:pt x="1005306" y="371106"/>
                  </a:lnTo>
                  <a:lnTo>
                    <a:pt x="36703" y="2085848"/>
                  </a:lnTo>
                  <a:lnTo>
                    <a:pt x="47879" y="2092096"/>
                  </a:lnTo>
                  <a:lnTo>
                    <a:pt x="1016342" y="377355"/>
                  </a:lnTo>
                  <a:lnTo>
                    <a:pt x="1043940" y="392938"/>
                  </a:lnTo>
                  <a:lnTo>
                    <a:pt x="1045603" y="360045"/>
                  </a:lnTo>
                  <a:lnTo>
                    <a:pt x="1048258" y="307848"/>
                  </a:lnTo>
                  <a:close/>
                </a:path>
                <a:path w="1049020" h="2121535">
                  <a:moveTo>
                    <a:pt x="1048512" y="85217"/>
                  </a:moveTo>
                  <a:lnTo>
                    <a:pt x="1048410" y="54102"/>
                  </a:lnTo>
                  <a:lnTo>
                    <a:pt x="1048258" y="0"/>
                  </a:lnTo>
                  <a:lnTo>
                    <a:pt x="980313" y="51308"/>
                  </a:lnTo>
                  <a:lnTo>
                    <a:pt x="1008722" y="65443"/>
                  </a:lnTo>
                  <a:lnTo>
                    <a:pt x="0" y="2099716"/>
                  </a:lnTo>
                  <a:lnTo>
                    <a:pt x="11430" y="2105355"/>
                  </a:lnTo>
                  <a:lnTo>
                    <a:pt x="1020114" y="71107"/>
                  </a:lnTo>
                  <a:lnTo>
                    <a:pt x="1048512" y="85217"/>
                  </a:lnTo>
                  <a:close/>
                </a:path>
              </a:pathLst>
            </a:custGeom>
            <a:solidFill>
              <a:srgbClr val="00B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0302" y="1001395"/>
            <a:ext cx="3787140" cy="3401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225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Test</a:t>
            </a:r>
            <a:r>
              <a:rPr sz="1400" b="1" spc="-5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Sheets</a:t>
            </a:r>
            <a:r>
              <a:rPr sz="1400" b="1" spc="-6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Structure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400" dirty="0">
                <a:latin typeface="Georgia"/>
                <a:cs typeface="Georgia"/>
              </a:rPr>
              <a:t>Business</a:t>
            </a:r>
            <a:r>
              <a:rPr sz="1400" spc="-7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relevance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types:</a:t>
            </a:r>
            <a:endParaRPr sz="1400">
              <a:latin typeface="Georgia"/>
              <a:cs typeface="Georgia"/>
            </a:endParaRPr>
          </a:p>
          <a:p>
            <a:pPr marL="12700" marR="730250">
              <a:lnSpc>
                <a:spcPct val="100000"/>
              </a:lnSpc>
            </a:pPr>
            <a:r>
              <a:rPr sz="1400" b="1" dirty="0">
                <a:latin typeface="Georgia"/>
                <a:cs typeface="Georgia"/>
              </a:rPr>
              <a:t>No</a:t>
            </a:r>
            <a:r>
              <a:rPr sz="1400" b="1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(Not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Relevant):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Attributes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for </a:t>
            </a:r>
            <a:r>
              <a:rPr sz="1400" dirty="0">
                <a:latin typeface="Georgia"/>
                <a:cs typeface="Georgia"/>
              </a:rPr>
              <a:t>informational</a:t>
            </a:r>
            <a:r>
              <a:rPr sz="1400" spc="-8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nodes</a:t>
            </a:r>
            <a:endParaRPr sz="1400">
              <a:latin typeface="Georgia"/>
              <a:cs typeface="Georgia"/>
            </a:endParaRPr>
          </a:p>
          <a:p>
            <a:pPr marL="12700" marR="50800">
              <a:lnSpc>
                <a:spcPct val="100000"/>
              </a:lnSpc>
            </a:pPr>
            <a:r>
              <a:rPr sz="1400" b="1" dirty="0">
                <a:latin typeface="Georgia"/>
                <a:cs typeface="Georgia"/>
              </a:rPr>
              <a:t>Yes</a:t>
            </a:r>
            <a:r>
              <a:rPr sz="1400" b="1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(Relevant)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: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Attributes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which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impact</a:t>
            </a:r>
            <a:r>
              <a:rPr sz="1400" spc="-25" dirty="0">
                <a:latin typeface="Georgia"/>
                <a:cs typeface="Georgia"/>
              </a:rPr>
              <a:t> the </a:t>
            </a:r>
            <a:r>
              <a:rPr sz="1400" dirty="0">
                <a:latin typeface="Georgia"/>
                <a:cs typeface="Georgia"/>
              </a:rPr>
              <a:t>workflow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These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taken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into </a:t>
            </a:r>
            <a:r>
              <a:rPr sz="1400" dirty="0">
                <a:latin typeface="Georgia"/>
                <a:cs typeface="Georgia"/>
              </a:rPr>
              <a:t>account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if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you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“Generate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Instances”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for </a:t>
            </a:r>
            <a:r>
              <a:rPr sz="1400" dirty="0">
                <a:latin typeface="Georgia"/>
                <a:cs typeface="Georgia"/>
              </a:rPr>
              <a:t>automated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data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combination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generation </a:t>
            </a:r>
            <a:r>
              <a:rPr sz="1400" b="1" dirty="0">
                <a:latin typeface="Georgia"/>
                <a:cs typeface="Georgia"/>
              </a:rPr>
              <a:t>Result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(Verification)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: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Attributes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for </a:t>
            </a:r>
            <a:r>
              <a:rPr sz="1400" dirty="0">
                <a:latin typeface="Georgia"/>
                <a:cs typeface="Georgia"/>
              </a:rPr>
              <a:t>validation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your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case.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These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taken </a:t>
            </a:r>
            <a:r>
              <a:rPr sz="1400" dirty="0">
                <a:latin typeface="Georgia"/>
                <a:cs typeface="Georgia"/>
              </a:rPr>
              <a:t>into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account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combinations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when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generating instances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Georgia"/>
              <a:cs typeface="Georgia"/>
            </a:endParaRPr>
          </a:p>
          <a:p>
            <a:pPr marL="12700" marR="62230">
              <a:lnSpc>
                <a:spcPct val="100000"/>
              </a:lnSpc>
            </a:pPr>
            <a:r>
              <a:rPr sz="1400" b="1" dirty="0">
                <a:latin typeface="Georgia"/>
                <a:cs typeface="Georgia"/>
              </a:rPr>
              <a:t>You</a:t>
            </a:r>
            <a:r>
              <a:rPr sz="1400" b="1" spc="-2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may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also</a:t>
            </a:r>
            <a:r>
              <a:rPr sz="1400" b="1" spc="-2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View</a:t>
            </a:r>
            <a:r>
              <a:rPr sz="1400" b="1" spc="-1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business</a:t>
            </a:r>
            <a:r>
              <a:rPr sz="1400" b="1" spc="-4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relevance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b="1" spc="-25" dirty="0">
                <a:latin typeface="Georgia"/>
                <a:cs typeface="Georgia"/>
              </a:rPr>
              <a:t>in </a:t>
            </a:r>
            <a:r>
              <a:rPr sz="1400" b="1" dirty="0">
                <a:latin typeface="Georgia"/>
                <a:cs typeface="Georgia"/>
              </a:rPr>
              <a:t>the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attribute</a:t>
            </a:r>
            <a:r>
              <a:rPr sz="1400" b="1" spc="-55" dirty="0">
                <a:latin typeface="Georgia"/>
                <a:cs typeface="Georgia"/>
              </a:rPr>
              <a:t> </a:t>
            </a:r>
            <a:r>
              <a:rPr sz="1400" b="1" spc="-10" dirty="0">
                <a:latin typeface="Georgia"/>
                <a:cs typeface="Georgia"/>
              </a:rPr>
              <a:t>properties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Project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: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Sheets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52594" y="1568196"/>
            <a:ext cx="3274695" cy="1769745"/>
            <a:chOff x="4752594" y="1568196"/>
            <a:chExt cx="3274695" cy="17697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919" y="1568196"/>
              <a:ext cx="1808987" cy="17693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52594" y="1740153"/>
              <a:ext cx="1612265" cy="1497330"/>
            </a:xfrm>
            <a:custGeom>
              <a:avLst/>
              <a:gdLst/>
              <a:ahLst/>
              <a:cxnLst/>
              <a:rect l="l" t="t" r="r" b="b"/>
              <a:pathLst>
                <a:path w="1612264" h="1497330">
                  <a:moveTo>
                    <a:pt x="1608315" y="186664"/>
                  </a:moveTo>
                  <a:lnTo>
                    <a:pt x="1540383" y="142494"/>
                  </a:lnTo>
                  <a:lnTo>
                    <a:pt x="1536827" y="174078"/>
                  </a:lnTo>
                  <a:lnTo>
                    <a:pt x="1524" y="0"/>
                  </a:lnTo>
                  <a:lnTo>
                    <a:pt x="0" y="12700"/>
                  </a:lnTo>
                  <a:lnTo>
                    <a:pt x="1535417" y="186664"/>
                  </a:lnTo>
                  <a:lnTo>
                    <a:pt x="1548168" y="186664"/>
                  </a:lnTo>
                  <a:lnTo>
                    <a:pt x="1608315" y="186664"/>
                  </a:lnTo>
                  <a:close/>
                </a:path>
                <a:path w="1612264" h="1497330">
                  <a:moveTo>
                    <a:pt x="1611757" y="1468501"/>
                  </a:moveTo>
                  <a:lnTo>
                    <a:pt x="1610004" y="1467358"/>
                  </a:lnTo>
                  <a:lnTo>
                    <a:pt x="1540510" y="1421765"/>
                  </a:lnTo>
                  <a:lnTo>
                    <a:pt x="1536788" y="1453299"/>
                  </a:lnTo>
                  <a:lnTo>
                    <a:pt x="211836" y="1296924"/>
                  </a:lnTo>
                  <a:lnTo>
                    <a:pt x="210312" y="1309624"/>
                  </a:lnTo>
                  <a:lnTo>
                    <a:pt x="1535315" y="1465884"/>
                  </a:lnTo>
                  <a:lnTo>
                    <a:pt x="1531620" y="1497330"/>
                  </a:lnTo>
                  <a:lnTo>
                    <a:pt x="1611757" y="1468501"/>
                  </a:lnTo>
                  <a:close/>
                </a:path>
                <a:path w="1612264" h="1497330">
                  <a:moveTo>
                    <a:pt x="1611757" y="468122"/>
                  </a:moveTo>
                  <a:lnTo>
                    <a:pt x="1599057" y="461772"/>
                  </a:lnTo>
                  <a:lnTo>
                    <a:pt x="1535557" y="430022"/>
                  </a:lnTo>
                  <a:lnTo>
                    <a:pt x="1535557" y="461772"/>
                  </a:lnTo>
                  <a:lnTo>
                    <a:pt x="308610" y="461772"/>
                  </a:lnTo>
                  <a:lnTo>
                    <a:pt x="308610" y="474472"/>
                  </a:lnTo>
                  <a:lnTo>
                    <a:pt x="1535557" y="474472"/>
                  </a:lnTo>
                  <a:lnTo>
                    <a:pt x="1535557" y="506222"/>
                  </a:lnTo>
                  <a:lnTo>
                    <a:pt x="1599057" y="474472"/>
                  </a:lnTo>
                  <a:lnTo>
                    <a:pt x="1611757" y="468122"/>
                  </a:lnTo>
                  <a:close/>
                </a:path>
                <a:path w="1612264" h="1497330">
                  <a:moveTo>
                    <a:pt x="1611884" y="188976"/>
                  </a:moveTo>
                  <a:lnTo>
                    <a:pt x="1610512" y="188087"/>
                  </a:lnTo>
                  <a:lnTo>
                    <a:pt x="1548003" y="188087"/>
                  </a:lnTo>
                  <a:lnTo>
                    <a:pt x="1535264" y="188087"/>
                  </a:lnTo>
                  <a:lnTo>
                    <a:pt x="1531874" y="218313"/>
                  </a:lnTo>
                  <a:lnTo>
                    <a:pt x="1611884" y="188976"/>
                  </a:lnTo>
                  <a:close/>
                </a:path>
              </a:pathLst>
            </a:custGeom>
            <a:solidFill>
              <a:srgbClr val="00B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287264" y="3392423"/>
            <a:ext cx="2644140" cy="1329055"/>
            <a:chOff x="5287264" y="3392423"/>
            <a:chExt cx="2644140" cy="13290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64580" y="3392423"/>
              <a:ext cx="1766316" cy="13289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87264" y="4104411"/>
              <a:ext cx="990600" cy="443230"/>
            </a:xfrm>
            <a:custGeom>
              <a:avLst/>
              <a:gdLst/>
              <a:ahLst/>
              <a:cxnLst/>
              <a:rect l="l" t="t" r="r" b="b"/>
              <a:pathLst>
                <a:path w="990600" h="443229">
                  <a:moveTo>
                    <a:pt x="918009" y="413688"/>
                  </a:moveTo>
                  <a:lnTo>
                    <a:pt x="905256" y="442772"/>
                  </a:lnTo>
                  <a:lnTo>
                    <a:pt x="990346" y="438442"/>
                  </a:lnTo>
                  <a:lnTo>
                    <a:pt x="973985" y="418782"/>
                  </a:lnTo>
                  <a:lnTo>
                    <a:pt x="929639" y="418782"/>
                  </a:lnTo>
                  <a:lnTo>
                    <a:pt x="918009" y="413688"/>
                  </a:lnTo>
                  <a:close/>
                </a:path>
                <a:path w="990600" h="443229">
                  <a:moveTo>
                    <a:pt x="923107" y="402063"/>
                  </a:moveTo>
                  <a:lnTo>
                    <a:pt x="918009" y="413688"/>
                  </a:lnTo>
                  <a:lnTo>
                    <a:pt x="929639" y="418782"/>
                  </a:lnTo>
                  <a:lnTo>
                    <a:pt x="934720" y="407149"/>
                  </a:lnTo>
                  <a:lnTo>
                    <a:pt x="923107" y="402063"/>
                  </a:lnTo>
                  <a:close/>
                </a:path>
                <a:path w="990600" h="443229">
                  <a:moveTo>
                    <a:pt x="935863" y="372973"/>
                  </a:moveTo>
                  <a:lnTo>
                    <a:pt x="923107" y="402063"/>
                  </a:lnTo>
                  <a:lnTo>
                    <a:pt x="934720" y="407149"/>
                  </a:lnTo>
                  <a:lnTo>
                    <a:pt x="929639" y="418782"/>
                  </a:lnTo>
                  <a:lnTo>
                    <a:pt x="973985" y="418782"/>
                  </a:lnTo>
                  <a:lnTo>
                    <a:pt x="935863" y="372973"/>
                  </a:lnTo>
                  <a:close/>
                </a:path>
                <a:path w="990600" h="443229">
                  <a:moveTo>
                    <a:pt x="5080" y="0"/>
                  </a:moveTo>
                  <a:lnTo>
                    <a:pt x="0" y="11633"/>
                  </a:lnTo>
                  <a:lnTo>
                    <a:pt x="918009" y="413688"/>
                  </a:lnTo>
                  <a:lnTo>
                    <a:pt x="923107" y="402063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rgbClr val="00B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167509"/>
            <a:ext cx="7430770" cy="123317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Sandbox</a:t>
            </a:r>
            <a:r>
              <a:rPr sz="4400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Test</a:t>
            </a:r>
            <a:r>
              <a:rPr sz="4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Case</a:t>
            </a:r>
            <a:r>
              <a:rPr sz="4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Creation</a:t>
            </a:r>
            <a:r>
              <a:rPr sz="4400" spc="-50" dirty="0">
                <a:solidFill>
                  <a:srgbClr val="FFFFFF"/>
                </a:solidFill>
                <a:latin typeface="Georgia"/>
                <a:cs typeface="Georgia"/>
              </a:rPr>
              <a:t> &amp;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Review</a:t>
            </a:r>
            <a:r>
              <a:rPr sz="4400" spc="-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Process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5598" y="1012951"/>
            <a:ext cx="20072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Individual</a:t>
            </a:r>
            <a:r>
              <a:rPr sz="1400" b="1" spc="-4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Sandbox</a:t>
            </a:r>
            <a:r>
              <a:rPr sz="1400" b="1" spc="-5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Folders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2393" y="1999234"/>
            <a:ext cx="465074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95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Georgia"/>
                <a:cs typeface="Georgia"/>
              </a:rPr>
              <a:t>Each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tester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their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cases/modules/execution </a:t>
            </a:r>
            <a:r>
              <a:rPr sz="1400" dirty="0">
                <a:latin typeface="Georgia"/>
                <a:cs typeface="Georgia"/>
              </a:rPr>
              <a:t>lists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sandbox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their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name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match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destination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production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path</a:t>
            </a:r>
            <a:r>
              <a:rPr sz="1400" spc="-25" dirty="0">
                <a:latin typeface="Georgia"/>
                <a:cs typeface="Georgia"/>
              </a:rPr>
              <a:t> as </a:t>
            </a:r>
            <a:r>
              <a:rPr sz="1400" dirty="0">
                <a:latin typeface="Georgia"/>
                <a:cs typeface="Georgia"/>
              </a:rPr>
              <a:t>outlined</a:t>
            </a:r>
            <a:r>
              <a:rPr sz="1400" spc="-7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here.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This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contain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component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each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they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working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on.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component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moved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into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ready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once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ready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reviewed.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Sandbox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folder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: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527547" y="2004060"/>
            <a:ext cx="2999740" cy="2391410"/>
            <a:chOff x="5527547" y="2004060"/>
            <a:chExt cx="2999740" cy="23914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7547" y="2004060"/>
              <a:ext cx="422186" cy="23911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83173" y="2039874"/>
              <a:ext cx="329565" cy="2284730"/>
            </a:xfrm>
            <a:custGeom>
              <a:avLst/>
              <a:gdLst/>
              <a:ahLst/>
              <a:cxnLst/>
              <a:rect l="l" t="t" r="r" b="b"/>
              <a:pathLst>
                <a:path w="329564" h="2284729">
                  <a:moveTo>
                    <a:pt x="329184" y="2284476"/>
                  </a:moveTo>
                  <a:lnTo>
                    <a:pt x="265104" y="2284476"/>
                  </a:lnTo>
                  <a:lnTo>
                    <a:pt x="212788" y="2284476"/>
                  </a:lnTo>
                  <a:lnTo>
                    <a:pt x="177522" y="2284476"/>
                  </a:lnTo>
                  <a:lnTo>
                    <a:pt x="164591" y="2284476"/>
                  </a:lnTo>
                  <a:lnTo>
                    <a:pt x="164591" y="1142238"/>
                  </a:lnTo>
                  <a:lnTo>
                    <a:pt x="151661" y="1142238"/>
                  </a:lnTo>
                  <a:lnTo>
                    <a:pt x="116395" y="1142238"/>
                  </a:lnTo>
                  <a:lnTo>
                    <a:pt x="64079" y="1142238"/>
                  </a:lnTo>
                  <a:lnTo>
                    <a:pt x="0" y="1142238"/>
                  </a:lnTo>
                  <a:lnTo>
                    <a:pt x="64079" y="1142238"/>
                  </a:lnTo>
                  <a:lnTo>
                    <a:pt x="116395" y="1142238"/>
                  </a:lnTo>
                  <a:lnTo>
                    <a:pt x="151661" y="1142238"/>
                  </a:lnTo>
                  <a:lnTo>
                    <a:pt x="164591" y="1142238"/>
                  </a:lnTo>
                  <a:lnTo>
                    <a:pt x="164591" y="0"/>
                  </a:lnTo>
                  <a:lnTo>
                    <a:pt x="177522" y="0"/>
                  </a:lnTo>
                  <a:lnTo>
                    <a:pt x="212788" y="0"/>
                  </a:lnTo>
                  <a:lnTo>
                    <a:pt x="265104" y="0"/>
                  </a:lnTo>
                  <a:lnTo>
                    <a:pt x="329184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027" y="2177796"/>
              <a:ext cx="2587752" cy="1993392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2319" y="1032763"/>
            <a:ext cx="11544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Artifact</a:t>
            </a:r>
            <a:r>
              <a:rPr sz="1400" b="1" spc="-7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Review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7530" y="2108454"/>
            <a:ext cx="288734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Once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artifacts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ready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review,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all </a:t>
            </a:r>
            <a:r>
              <a:rPr sz="1400" dirty="0">
                <a:latin typeface="Calibri"/>
                <a:cs typeface="Calibri"/>
              </a:rPr>
              <a:t>new </a:t>
            </a:r>
            <a:r>
              <a:rPr sz="1400" spc="-10" dirty="0">
                <a:latin typeface="Calibri"/>
                <a:cs typeface="Calibri"/>
              </a:rPr>
              <a:t>associated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artifacts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put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into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review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bundle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component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folder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appropriate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review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folder.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643953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5285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Artifact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Review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20055" y="2005583"/>
            <a:ext cx="2525395" cy="1222375"/>
            <a:chOff x="5020055" y="2005583"/>
            <a:chExt cx="2525395" cy="12223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0055" y="2005583"/>
              <a:ext cx="312458" cy="122224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75681" y="2041397"/>
              <a:ext cx="219710" cy="1115695"/>
            </a:xfrm>
            <a:custGeom>
              <a:avLst/>
              <a:gdLst/>
              <a:ahLst/>
              <a:cxnLst/>
              <a:rect l="l" t="t" r="r" b="b"/>
              <a:pathLst>
                <a:path w="219710" h="1115695">
                  <a:moveTo>
                    <a:pt x="219455" y="1115568"/>
                  </a:moveTo>
                  <a:lnTo>
                    <a:pt x="176754" y="1115568"/>
                  </a:lnTo>
                  <a:lnTo>
                    <a:pt x="141874" y="1115568"/>
                  </a:lnTo>
                  <a:lnTo>
                    <a:pt x="118354" y="1115568"/>
                  </a:lnTo>
                  <a:lnTo>
                    <a:pt x="109727" y="1115568"/>
                  </a:lnTo>
                  <a:lnTo>
                    <a:pt x="109727" y="557783"/>
                  </a:lnTo>
                  <a:lnTo>
                    <a:pt x="101101" y="557783"/>
                  </a:lnTo>
                  <a:lnTo>
                    <a:pt x="77581" y="557783"/>
                  </a:lnTo>
                  <a:lnTo>
                    <a:pt x="42701" y="557783"/>
                  </a:lnTo>
                  <a:lnTo>
                    <a:pt x="0" y="557783"/>
                  </a:lnTo>
                  <a:lnTo>
                    <a:pt x="42701" y="557783"/>
                  </a:lnTo>
                  <a:lnTo>
                    <a:pt x="77581" y="557783"/>
                  </a:lnTo>
                  <a:lnTo>
                    <a:pt x="101101" y="557783"/>
                  </a:lnTo>
                  <a:lnTo>
                    <a:pt x="109727" y="557783"/>
                  </a:lnTo>
                  <a:lnTo>
                    <a:pt x="109727" y="0"/>
                  </a:lnTo>
                  <a:lnTo>
                    <a:pt x="118354" y="0"/>
                  </a:lnTo>
                  <a:lnTo>
                    <a:pt x="141874" y="0"/>
                  </a:lnTo>
                  <a:lnTo>
                    <a:pt x="176754" y="0"/>
                  </a:lnTo>
                  <a:lnTo>
                    <a:pt x="219455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8863" y="2214371"/>
              <a:ext cx="2156460" cy="82905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4270375" cy="1648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939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Approval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/</a:t>
            </a:r>
            <a:r>
              <a:rPr sz="1400" b="1" spc="1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Rejection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400">
              <a:latin typeface="Calibri"/>
              <a:cs typeface="Calibri"/>
            </a:endParaRPr>
          </a:p>
          <a:p>
            <a:pPr marL="12700" marR="147193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Responsible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lead/reviewer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review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artifacts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review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folders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spc="-10" dirty="0">
                <a:latin typeface="Calibri"/>
                <a:cs typeface="Calibri"/>
              </a:rPr>
              <a:t>promote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production </a:t>
            </a:r>
            <a:r>
              <a:rPr sz="1400" dirty="0">
                <a:latin typeface="Calibri"/>
                <a:cs typeface="Calibri"/>
              </a:rPr>
              <a:t>folders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once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artifacts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reviewed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approved.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0480" y="3508070"/>
            <a:ext cx="25634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Rejected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bundles will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marked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rejected.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7077709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5285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Approval/Rejection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48200" y="1632204"/>
            <a:ext cx="2589530" cy="2458720"/>
            <a:chOff x="4648200" y="1632204"/>
            <a:chExt cx="2589530" cy="24587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4772" y="1703832"/>
              <a:ext cx="1743455" cy="978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8200" y="1632204"/>
              <a:ext cx="406908" cy="115824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703826" y="1668018"/>
              <a:ext cx="314325" cy="1051560"/>
            </a:xfrm>
            <a:custGeom>
              <a:avLst/>
              <a:gdLst/>
              <a:ahLst/>
              <a:cxnLst/>
              <a:rect l="l" t="t" r="r" b="b"/>
              <a:pathLst>
                <a:path w="314325" h="1051560">
                  <a:moveTo>
                    <a:pt x="313944" y="1051560"/>
                  </a:moveTo>
                  <a:lnTo>
                    <a:pt x="252823" y="1051560"/>
                  </a:lnTo>
                  <a:lnTo>
                    <a:pt x="202930" y="1051560"/>
                  </a:lnTo>
                  <a:lnTo>
                    <a:pt x="169300" y="1051560"/>
                  </a:lnTo>
                  <a:lnTo>
                    <a:pt x="156972" y="1051560"/>
                  </a:lnTo>
                  <a:lnTo>
                    <a:pt x="156972" y="525780"/>
                  </a:lnTo>
                  <a:lnTo>
                    <a:pt x="144643" y="525780"/>
                  </a:lnTo>
                  <a:lnTo>
                    <a:pt x="111013" y="525780"/>
                  </a:lnTo>
                  <a:lnTo>
                    <a:pt x="61120" y="525780"/>
                  </a:lnTo>
                  <a:lnTo>
                    <a:pt x="0" y="525780"/>
                  </a:lnTo>
                  <a:lnTo>
                    <a:pt x="61120" y="525780"/>
                  </a:lnTo>
                  <a:lnTo>
                    <a:pt x="111013" y="525780"/>
                  </a:lnTo>
                  <a:lnTo>
                    <a:pt x="144643" y="525780"/>
                  </a:lnTo>
                  <a:lnTo>
                    <a:pt x="156972" y="525780"/>
                  </a:lnTo>
                  <a:lnTo>
                    <a:pt x="156972" y="0"/>
                  </a:lnTo>
                  <a:lnTo>
                    <a:pt x="169300" y="0"/>
                  </a:lnTo>
                  <a:lnTo>
                    <a:pt x="202930" y="0"/>
                  </a:lnTo>
                  <a:lnTo>
                    <a:pt x="252823" y="0"/>
                  </a:lnTo>
                  <a:lnTo>
                    <a:pt x="313944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79491" y="3358896"/>
              <a:ext cx="2157984" cy="5882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8200" y="3214116"/>
              <a:ext cx="406908" cy="87628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703826" y="3249930"/>
              <a:ext cx="314325" cy="769620"/>
            </a:xfrm>
            <a:custGeom>
              <a:avLst/>
              <a:gdLst/>
              <a:ahLst/>
              <a:cxnLst/>
              <a:rect l="l" t="t" r="r" b="b"/>
              <a:pathLst>
                <a:path w="314325" h="769620">
                  <a:moveTo>
                    <a:pt x="313944" y="769619"/>
                  </a:moveTo>
                  <a:lnTo>
                    <a:pt x="252823" y="769619"/>
                  </a:lnTo>
                  <a:lnTo>
                    <a:pt x="202930" y="769619"/>
                  </a:lnTo>
                  <a:lnTo>
                    <a:pt x="169300" y="769619"/>
                  </a:lnTo>
                  <a:lnTo>
                    <a:pt x="156972" y="769619"/>
                  </a:lnTo>
                  <a:lnTo>
                    <a:pt x="156972" y="384809"/>
                  </a:lnTo>
                  <a:lnTo>
                    <a:pt x="144643" y="384809"/>
                  </a:lnTo>
                  <a:lnTo>
                    <a:pt x="111013" y="384809"/>
                  </a:lnTo>
                  <a:lnTo>
                    <a:pt x="61120" y="384809"/>
                  </a:lnTo>
                  <a:lnTo>
                    <a:pt x="0" y="384809"/>
                  </a:lnTo>
                  <a:lnTo>
                    <a:pt x="61120" y="384809"/>
                  </a:lnTo>
                  <a:lnTo>
                    <a:pt x="111013" y="384809"/>
                  </a:lnTo>
                  <a:lnTo>
                    <a:pt x="144643" y="384809"/>
                  </a:lnTo>
                  <a:lnTo>
                    <a:pt x="156972" y="384809"/>
                  </a:lnTo>
                  <a:lnTo>
                    <a:pt x="156972" y="0"/>
                  </a:lnTo>
                  <a:lnTo>
                    <a:pt x="169300" y="0"/>
                  </a:lnTo>
                  <a:lnTo>
                    <a:pt x="202930" y="0"/>
                  </a:lnTo>
                  <a:lnTo>
                    <a:pt x="252823" y="0"/>
                  </a:lnTo>
                  <a:lnTo>
                    <a:pt x="313944" y="0"/>
                  </a:lnTo>
                </a:path>
              </a:pathLst>
            </a:custGeom>
            <a:ln w="25399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>
              <a:lnSpc>
                <a:spcPts val="1045"/>
              </a:lnSpc>
            </a:pPr>
            <a:endParaRPr spc="-1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67509"/>
            <a:ext cx="59982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Best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Practice</a:t>
            </a:r>
            <a:r>
              <a:rPr sz="4400" spc="-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Guidelines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33790" y="4855794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219" y="1927351"/>
            <a:ext cx="731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Calibri"/>
                <a:cs typeface="Calibri"/>
              </a:rPr>
              <a:t>TOSCA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67509"/>
            <a:ext cx="57524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Test</a:t>
            </a:r>
            <a:r>
              <a:rPr sz="4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case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best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practices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25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4455160" cy="2288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54605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Configuration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Parameters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400">
              <a:latin typeface="Calibri"/>
              <a:cs typeface="Calibri"/>
            </a:endParaRPr>
          </a:p>
          <a:p>
            <a:pPr marL="299085" marR="157480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Ensure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mandatory configuration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parameters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being </a:t>
            </a:r>
            <a:r>
              <a:rPr sz="1400" dirty="0">
                <a:latin typeface="Calibri"/>
                <a:cs typeface="Calibri"/>
              </a:rPr>
              <a:t>applied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areas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within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your </a:t>
            </a:r>
            <a:r>
              <a:rPr sz="1400" dirty="0">
                <a:latin typeface="Calibri"/>
                <a:cs typeface="Calibri"/>
              </a:rPr>
              <a:t>project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where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stored.</a:t>
            </a:r>
            <a:endParaRPr sz="1400">
              <a:latin typeface="Calibri"/>
              <a:cs typeface="Calibri"/>
            </a:endParaRPr>
          </a:p>
          <a:p>
            <a:pPr marL="299085" marR="1554480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If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missing,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drag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from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Configurations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section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your </a:t>
            </a:r>
            <a:r>
              <a:rPr sz="1400" dirty="0">
                <a:latin typeface="Calibri"/>
                <a:cs typeface="Calibri"/>
              </a:rPr>
              <a:t>gray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component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folders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7905750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8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Configuration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Parameters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69891" y="1351788"/>
            <a:ext cx="3938270" cy="3418840"/>
            <a:chOff x="4469891" y="1351788"/>
            <a:chExt cx="3938270" cy="34188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5275" y="1466088"/>
              <a:ext cx="3532631" cy="31074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9891" y="1351788"/>
              <a:ext cx="352043" cy="34183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25517" y="1387602"/>
              <a:ext cx="259079" cy="3312160"/>
            </a:xfrm>
            <a:custGeom>
              <a:avLst/>
              <a:gdLst/>
              <a:ahLst/>
              <a:cxnLst/>
              <a:rect l="l" t="t" r="r" b="b"/>
              <a:pathLst>
                <a:path w="259079" h="3312160">
                  <a:moveTo>
                    <a:pt x="259080" y="3311652"/>
                  </a:moveTo>
                  <a:lnTo>
                    <a:pt x="208674" y="3311652"/>
                  </a:lnTo>
                  <a:lnTo>
                    <a:pt x="167497" y="3311652"/>
                  </a:lnTo>
                  <a:lnTo>
                    <a:pt x="139725" y="3311652"/>
                  </a:lnTo>
                  <a:lnTo>
                    <a:pt x="129540" y="3311652"/>
                  </a:lnTo>
                  <a:lnTo>
                    <a:pt x="129540" y="1655826"/>
                  </a:lnTo>
                  <a:lnTo>
                    <a:pt x="119354" y="1655826"/>
                  </a:lnTo>
                  <a:lnTo>
                    <a:pt x="91582" y="1655826"/>
                  </a:lnTo>
                  <a:lnTo>
                    <a:pt x="50405" y="1655826"/>
                  </a:lnTo>
                  <a:lnTo>
                    <a:pt x="0" y="1655826"/>
                  </a:lnTo>
                  <a:lnTo>
                    <a:pt x="50405" y="1655826"/>
                  </a:lnTo>
                  <a:lnTo>
                    <a:pt x="91582" y="1655826"/>
                  </a:lnTo>
                  <a:lnTo>
                    <a:pt x="119354" y="1655826"/>
                  </a:lnTo>
                  <a:lnTo>
                    <a:pt x="129540" y="1655826"/>
                  </a:lnTo>
                  <a:lnTo>
                    <a:pt x="129540" y="0"/>
                  </a:lnTo>
                  <a:lnTo>
                    <a:pt x="139725" y="0"/>
                  </a:lnTo>
                  <a:lnTo>
                    <a:pt x="167497" y="0"/>
                  </a:lnTo>
                  <a:lnTo>
                    <a:pt x="208674" y="0"/>
                  </a:lnTo>
                  <a:lnTo>
                    <a:pt x="259080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26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32175" y="1044320"/>
            <a:ext cx="19348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Test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Case</a:t>
            </a:r>
            <a:r>
              <a:rPr sz="1400" b="1" spc="-3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Folder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Structure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2393" y="1999234"/>
            <a:ext cx="4594860" cy="2373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Georgia"/>
                <a:cs typeface="Georgia"/>
              </a:rPr>
              <a:t>Individual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have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following </a:t>
            </a:r>
            <a:r>
              <a:rPr sz="1400" b="1" dirty="0">
                <a:latin typeface="Georgia"/>
                <a:cs typeface="Georgia"/>
              </a:rPr>
              <a:t>Initialize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–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any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precondition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start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workflow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such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opening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browser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Georgia"/>
                <a:cs typeface="Georgia"/>
              </a:rPr>
              <a:t>Process</a:t>
            </a:r>
            <a:r>
              <a:rPr sz="1400" b="1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–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Core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testing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steps.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Sub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be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descriptive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business</a:t>
            </a:r>
            <a:r>
              <a:rPr sz="1400" spc="-7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process.</a:t>
            </a:r>
            <a:endParaRPr sz="1400">
              <a:latin typeface="Georgia"/>
              <a:cs typeface="Georgia"/>
            </a:endParaRPr>
          </a:p>
          <a:p>
            <a:pPr marL="12700" marR="10350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Georgia"/>
                <a:cs typeface="Georgia"/>
              </a:rPr>
              <a:t>Cleanup</a:t>
            </a:r>
            <a:r>
              <a:rPr sz="1400" b="1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–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cleanup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activities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such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closing</a:t>
            </a:r>
            <a:r>
              <a:rPr sz="1400" spc="-25" dirty="0">
                <a:latin typeface="Georgia"/>
                <a:cs typeface="Georgia"/>
              </a:rPr>
              <a:t> an </a:t>
            </a:r>
            <a:r>
              <a:rPr sz="1400" dirty="0">
                <a:latin typeface="Georgia"/>
                <a:cs typeface="Georgia"/>
              </a:rPr>
              <a:t>application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system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under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back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initial </a:t>
            </a:r>
            <a:r>
              <a:rPr sz="1400" spc="-20" dirty="0">
                <a:latin typeface="Georgia"/>
                <a:cs typeface="Georgia"/>
              </a:rPr>
              <a:t>state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Within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each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these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folders,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sub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created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with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descriptive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describe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business</a:t>
            </a:r>
            <a:r>
              <a:rPr sz="1400" spc="-7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processes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9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Overall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Folder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Structure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527547" y="2004060"/>
            <a:ext cx="2994660" cy="2059305"/>
            <a:chOff x="5527547" y="2004060"/>
            <a:chExt cx="2994660" cy="20593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7547" y="2004060"/>
              <a:ext cx="324612" cy="20589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83173" y="2039874"/>
              <a:ext cx="231775" cy="1952625"/>
            </a:xfrm>
            <a:custGeom>
              <a:avLst/>
              <a:gdLst/>
              <a:ahLst/>
              <a:cxnLst/>
              <a:rect l="l" t="t" r="r" b="b"/>
              <a:pathLst>
                <a:path w="231775" h="1952625">
                  <a:moveTo>
                    <a:pt x="231648" y="1952244"/>
                  </a:moveTo>
                  <a:lnTo>
                    <a:pt x="186547" y="1952244"/>
                  </a:lnTo>
                  <a:lnTo>
                    <a:pt x="149733" y="1952244"/>
                  </a:lnTo>
                  <a:lnTo>
                    <a:pt x="124920" y="1952244"/>
                  </a:lnTo>
                  <a:lnTo>
                    <a:pt x="115824" y="1952244"/>
                  </a:lnTo>
                  <a:lnTo>
                    <a:pt x="115824" y="976121"/>
                  </a:lnTo>
                  <a:lnTo>
                    <a:pt x="106727" y="976121"/>
                  </a:lnTo>
                  <a:lnTo>
                    <a:pt x="81914" y="976121"/>
                  </a:lnTo>
                  <a:lnTo>
                    <a:pt x="45100" y="976121"/>
                  </a:lnTo>
                  <a:lnTo>
                    <a:pt x="0" y="976121"/>
                  </a:lnTo>
                  <a:lnTo>
                    <a:pt x="45100" y="976121"/>
                  </a:lnTo>
                  <a:lnTo>
                    <a:pt x="81914" y="976121"/>
                  </a:lnTo>
                  <a:lnTo>
                    <a:pt x="106727" y="976121"/>
                  </a:lnTo>
                  <a:lnTo>
                    <a:pt x="115824" y="976121"/>
                  </a:lnTo>
                  <a:lnTo>
                    <a:pt x="115824" y="0"/>
                  </a:lnTo>
                  <a:lnTo>
                    <a:pt x="124920" y="0"/>
                  </a:lnTo>
                  <a:lnTo>
                    <a:pt x="149733" y="0"/>
                  </a:lnTo>
                  <a:lnTo>
                    <a:pt x="186547" y="0"/>
                  </a:lnTo>
                  <a:lnTo>
                    <a:pt x="231648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6815" y="2183892"/>
              <a:ext cx="2755391" cy="156819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27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4279265" cy="2928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304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Naming</a:t>
            </a:r>
            <a:r>
              <a:rPr sz="1400" b="1" spc="-2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Conventions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400">
              <a:latin typeface="Calibri"/>
              <a:cs typeface="Calibri"/>
            </a:endParaRPr>
          </a:p>
          <a:p>
            <a:pPr marL="12700" marR="148463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It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10" dirty="0">
                <a:latin typeface="Calibri"/>
                <a:cs typeface="Calibri"/>
              </a:rPr>
              <a:t> important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Descriptive </a:t>
            </a:r>
            <a:r>
              <a:rPr sz="1400" b="1" dirty="0">
                <a:latin typeface="Calibri"/>
                <a:cs typeface="Calibri"/>
              </a:rPr>
              <a:t>Names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Steps.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human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should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able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look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spc="-10" dirty="0">
                <a:latin typeface="Calibri"/>
                <a:cs typeface="Calibri"/>
              </a:rPr>
              <a:t>immediately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understand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what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is </a:t>
            </a:r>
            <a:r>
              <a:rPr sz="1400" dirty="0">
                <a:latin typeface="Calibri"/>
                <a:cs typeface="Calibri"/>
              </a:rPr>
              <a:t>doing.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helps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validating </a:t>
            </a:r>
            <a:r>
              <a:rPr sz="1400" spc="-20" dirty="0">
                <a:latin typeface="Calibri"/>
                <a:cs typeface="Calibri"/>
              </a:rPr>
              <a:t>this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during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approvals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spc="-10" dirty="0">
                <a:latin typeface="Calibri"/>
                <a:cs typeface="Calibri"/>
              </a:rPr>
              <a:t>understanding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workflow.</a:t>
            </a:r>
            <a:endParaRPr sz="1400">
              <a:latin typeface="Calibri"/>
              <a:cs typeface="Calibri"/>
            </a:endParaRPr>
          </a:p>
          <a:p>
            <a:pPr marL="12700" marR="148590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Calibri"/>
                <a:cs typeface="Calibri"/>
              </a:rPr>
              <a:t>When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Test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used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certain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area,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group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together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 </a:t>
            </a:r>
            <a:r>
              <a:rPr sz="1400" dirty="0">
                <a:latin typeface="Calibri"/>
                <a:cs typeface="Calibri"/>
              </a:rPr>
              <a:t>folder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rename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9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Naming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Conventions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40123" y="1584947"/>
            <a:ext cx="4392295" cy="3142615"/>
            <a:chOff x="4040123" y="1584947"/>
            <a:chExt cx="4392295" cy="31426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55591" y="1685544"/>
              <a:ext cx="4076700" cy="9326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4319" y="1584947"/>
              <a:ext cx="309321" cy="11704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39945" y="1620774"/>
              <a:ext cx="216535" cy="1064260"/>
            </a:xfrm>
            <a:custGeom>
              <a:avLst/>
              <a:gdLst/>
              <a:ahLst/>
              <a:cxnLst/>
              <a:rect l="l" t="t" r="r" b="b"/>
              <a:pathLst>
                <a:path w="216535" h="1064260">
                  <a:moveTo>
                    <a:pt x="216407" y="1063752"/>
                  </a:moveTo>
                  <a:lnTo>
                    <a:pt x="174265" y="1063752"/>
                  </a:lnTo>
                  <a:lnTo>
                    <a:pt x="139874" y="1063752"/>
                  </a:lnTo>
                  <a:lnTo>
                    <a:pt x="116699" y="1063752"/>
                  </a:lnTo>
                  <a:lnTo>
                    <a:pt x="108203" y="1063752"/>
                  </a:lnTo>
                  <a:lnTo>
                    <a:pt x="108203" y="531876"/>
                  </a:lnTo>
                  <a:lnTo>
                    <a:pt x="99708" y="531876"/>
                  </a:lnTo>
                  <a:lnTo>
                    <a:pt x="76533" y="531876"/>
                  </a:lnTo>
                  <a:lnTo>
                    <a:pt x="42142" y="531876"/>
                  </a:lnTo>
                  <a:lnTo>
                    <a:pt x="0" y="531876"/>
                  </a:lnTo>
                  <a:lnTo>
                    <a:pt x="42142" y="531876"/>
                  </a:lnTo>
                  <a:lnTo>
                    <a:pt x="76533" y="531876"/>
                  </a:lnTo>
                  <a:lnTo>
                    <a:pt x="99708" y="531876"/>
                  </a:lnTo>
                  <a:lnTo>
                    <a:pt x="108203" y="531876"/>
                  </a:lnTo>
                  <a:lnTo>
                    <a:pt x="108203" y="0"/>
                  </a:lnTo>
                  <a:lnTo>
                    <a:pt x="116699" y="0"/>
                  </a:lnTo>
                  <a:lnTo>
                    <a:pt x="139874" y="0"/>
                  </a:lnTo>
                  <a:lnTo>
                    <a:pt x="174265" y="0"/>
                  </a:lnTo>
                  <a:lnTo>
                    <a:pt x="216407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591" y="3014472"/>
              <a:ext cx="1905000" cy="16093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0123" y="2921508"/>
              <a:ext cx="350545" cy="18059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95749" y="2957322"/>
              <a:ext cx="257810" cy="1699260"/>
            </a:xfrm>
            <a:custGeom>
              <a:avLst/>
              <a:gdLst/>
              <a:ahLst/>
              <a:cxnLst/>
              <a:rect l="l" t="t" r="r" b="b"/>
              <a:pathLst>
                <a:path w="257810" h="1699260">
                  <a:moveTo>
                    <a:pt x="257555" y="1699259"/>
                  </a:moveTo>
                  <a:lnTo>
                    <a:pt x="207430" y="1699259"/>
                  </a:lnTo>
                  <a:lnTo>
                    <a:pt x="166497" y="1699259"/>
                  </a:lnTo>
                  <a:lnTo>
                    <a:pt x="138898" y="1699259"/>
                  </a:lnTo>
                  <a:lnTo>
                    <a:pt x="128777" y="1699259"/>
                  </a:lnTo>
                  <a:lnTo>
                    <a:pt x="128777" y="849629"/>
                  </a:lnTo>
                  <a:lnTo>
                    <a:pt x="118657" y="849629"/>
                  </a:lnTo>
                  <a:lnTo>
                    <a:pt x="91059" y="849629"/>
                  </a:lnTo>
                  <a:lnTo>
                    <a:pt x="50125" y="849629"/>
                  </a:lnTo>
                  <a:lnTo>
                    <a:pt x="0" y="849629"/>
                  </a:lnTo>
                  <a:lnTo>
                    <a:pt x="50125" y="849629"/>
                  </a:lnTo>
                  <a:lnTo>
                    <a:pt x="91059" y="849629"/>
                  </a:lnTo>
                  <a:lnTo>
                    <a:pt x="118657" y="849629"/>
                  </a:lnTo>
                  <a:lnTo>
                    <a:pt x="128777" y="849629"/>
                  </a:lnTo>
                  <a:lnTo>
                    <a:pt x="128777" y="0"/>
                  </a:lnTo>
                  <a:lnTo>
                    <a:pt x="138898" y="0"/>
                  </a:lnTo>
                  <a:lnTo>
                    <a:pt x="166497" y="0"/>
                  </a:lnTo>
                  <a:lnTo>
                    <a:pt x="207430" y="0"/>
                  </a:lnTo>
                  <a:lnTo>
                    <a:pt x="257555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28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2218" y="1012951"/>
            <a:ext cx="7494270" cy="113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49554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Send</a:t>
            </a:r>
            <a:r>
              <a:rPr sz="1400" b="1" spc="-2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0075A6"/>
                </a:solidFill>
                <a:latin typeface="Calibri"/>
                <a:cs typeface="Calibri"/>
              </a:rPr>
              <a:t>Keys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Although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KEYS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generally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discouraged,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there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where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must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used.</a:t>
            </a:r>
            <a:r>
              <a:rPr sz="1400" spc="28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In </a:t>
            </a:r>
            <a:r>
              <a:rPr sz="1400" dirty="0">
                <a:latin typeface="Calibri"/>
                <a:cs typeface="Calibri"/>
              </a:rPr>
              <a:t>order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SENDKEYS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display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properly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report,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renamed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reflect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operation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performed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(ex.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Press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Down).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Creation: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TestCase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Send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Keys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339" y="2249423"/>
            <a:ext cx="3974591" cy="24490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29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2360" y="1010157"/>
            <a:ext cx="7582534" cy="1568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03200" algn="ctr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Test</a:t>
            </a:r>
            <a:r>
              <a:rPr sz="1400" b="1" spc="-4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Step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Properties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40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Georgia"/>
                <a:cs typeface="Georgia"/>
              </a:rPr>
              <a:t>The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VP</a:t>
            </a:r>
            <a:r>
              <a:rPr sz="1200" b="1" spc="-5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property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must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set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i="1" dirty="0">
                <a:latin typeface="Georgia"/>
                <a:cs typeface="Georgia"/>
              </a:rPr>
              <a:t>Yes</a:t>
            </a:r>
            <a:r>
              <a:rPr sz="1200" i="1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for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any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steps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which is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being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performed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verify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requirement.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Specify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spc="-25" dirty="0">
                <a:latin typeface="Georgia"/>
                <a:cs typeface="Georgia"/>
              </a:rPr>
              <a:t>the </a:t>
            </a:r>
            <a:r>
              <a:rPr sz="1200" dirty="0">
                <a:latin typeface="Georgia"/>
                <a:cs typeface="Georgia"/>
              </a:rPr>
              <a:t>ALM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Requirement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ID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step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is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verifying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 </a:t>
            </a:r>
            <a:r>
              <a:rPr sz="1200" b="1" dirty="0">
                <a:latin typeface="Georgia"/>
                <a:cs typeface="Georgia"/>
              </a:rPr>
              <a:t>ReqNo</a:t>
            </a:r>
            <a:r>
              <a:rPr sz="1200" b="1" spc="-2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field.</a:t>
            </a:r>
            <a:endParaRPr sz="1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200">
              <a:latin typeface="Georgia"/>
              <a:cs typeface="Georgia"/>
            </a:endParaRPr>
          </a:p>
          <a:p>
            <a:pPr marL="184785" marR="230504" indent="-172720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Georgia"/>
                <a:cs typeface="Georgia"/>
              </a:rPr>
              <a:t>This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Requirement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(ReqNo)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update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step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level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will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displayed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ALM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but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as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best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practice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once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spc="-25" dirty="0">
                <a:latin typeface="Georgia"/>
                <a:cs typeface="Georgia"/>
              </a:rPr>
              <a:t>the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synchronized</a:t>
            </a:r>
            <a:r>
              <a:rPr sz="1200" spc="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ALM,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Designer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will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link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requirement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using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ALM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Requirement </a:t>
            </a:r>
            <a:r>
              <a:rPr sz="1200" dirty="0">
                <a:latin typeface="Georgia"/>
                <a:cs typeface="Georgia"/>
              </a:rPr>
              <a:t>Traceability</a:t>
            </a:r>
            <a:r>
              <a:rPr sz="1200" spc="-6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feature.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VP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and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ReqNo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888" y="3076955"/>
            <a:ext cx="6694931" cy="14584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30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097" y="1021207"/>
            <a:ext cx="4479290" cy="2274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464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Handling</a:t>
            </a:r>
            <a:r>
              <a:rPr sz="1400" b="1" spc="-3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Screenshots</a:t>
            </a:r>
            <a:endParaRPr sz="1400">
              <a:latin typeface="Calibri"/>
              <a:cs typeface="Calibri"/>
            </a:endParaRPr>
          </a:p>
          <a:p>
            <a:pPr marL="184785" marR="734695" indent="-172720">
              <a:lnSpc>
                <a:spcPct val="100000"/>
              </a:lnSpc>
              <a:spcBef>
                <a:spcPts val="162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Georgia"/>
                <a:cs typeface="Georgia"/>
              </a:rPr>
              <a:t>The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initial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project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should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include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screenshot </a:t>
            </a:r>
            <a:r>
              <a:rPr sz="1200" dirty="0">
                <a:latin typeface="Georgia"/>
                <a:cs typeface="Georgia"/>
              </a:rPr>
              <a:t>reusable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step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block.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This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uses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configuration </a:t>
            </a:r>
            <a:r>
              <a:rPr sz="1200" dirty="0">
                <a:latin typeface="Georgia"/>
                <a:cs typeface="Georgia"/>
              </a:rPr>
              <a:t>parameter </a:t>
            </a:r>
            <a:r>
              <a:rPr sz="1200" b="1" spc="-10" dirty="0">
                <a:latin typeface="Georgia"/>
                <a:cs typeface="Georgia"/>
              </a:rPr>
              <a:t>{CP[ScreenShotDir]}</a:t>
            </a:r>
            <a:r>
              <a:rPr sz="1200" b="1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store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spc="-50" dirty="0">
                <a:latin typeface="Georgia"/>
                <a:cs typeface="Georgia"/>
              </a:rPr>
              <a:t>a </a:t>
            </a:r>
            <a:r>
              <a:rPr sz="1200" dirty="0">
                <a:latin typeface="Georgia"/>
                <a:cs typeface="Georgia"/>
              </a:rPr>
              <a:t>screenshot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of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verification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step,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using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spc="-20" dirty="0">
                <a:latin typeface="Georgia"/>
                <a:cs typeface="Georgia"/>
              </a:rPr>
              <a:t>case </a:t>
            </a:r>
            <a:r>
              <a:rPr sz="1200" dirty="0">
                <a:latin typeface="Georgia"/>
                <a:cs typeface="Georgia"/>
              </a:rPr>
              <a:t>name,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description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you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pass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into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this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block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spc="-20" dirty="0">
                <a:latin typeface="Georgia"/>
                <a:cs typeface="Georgia"/>
              </a:rPr>
              <a:t>well </a:t>
            </a:r>
            <a:r>
              <a:rPr sz="1200" dirty="0">
                <a:latin typeface="Georgia"/>
                <a:cs typeface="Georgia"/>
              </a:rPr>
              <a:t>as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10" dirty="0">
                <a:latin typeface="Georgia"/>
                <a:cs typeface="Georgia"/>
              </a:rPr>
              <a:t> timestamp</a:t>
            </a:r>
            <a:endParaRPr sz="1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200">
              <a:latin typeface="Georgia"/>
              <a:cs typeface="Georgia"/>
            </a:endParaRPr>
          </a:p>
          <a:p>
            <a:pPr marL="184785" marR="889635" indent="-172720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Georgia"/>
                <a:cs typeface="Georgia"/>
              </a:rPr>
              <a:t>Make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sure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that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overall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path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should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less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spc="-20" dirty="0">
                <a:latin typeface="Georgia"/>
                <a:cs typeface="Georgia"/>
              </a:rPr>
              <a:t>than </a:t>
            </a:r>
            <a:r>
              <a:rPr sz="1200" dirty="0">
                <a:latin typeface="Georgia"/>
                <a:cs typeface="Georgia"/>
              </a:rPr>
              <a:t>265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char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capture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screenshot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Tosca </a:t>
            </a:r>
            <a:r>
              <a:rPr sz="1200" dirty="0">
                <a:latin typeface="Georgia"/>
                <a:cs typeface="Georgia"/>
              </a:rPr>
              <a:t>Integration</a:t>
            </a:r>
            <a:r>
              <a:rPr sz="1200" spc="-5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Report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8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Screenshots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00371" y="2040623"/>
            <a:ext cx="4099560" cy="2147570"/>
            <a:chOff x="4500371" y="2040623"/>
            <a:chExt cx="4099560" cy="21475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2040623"/>
              <a:ext cx="277393" cy="21473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55997" y="2076450"/>
              <a:ext cx="184785" cy="2040889"/>
            </a:xfrm>
            <a:custGeom>
              <a:avLst/>
              <a:gdLst/>
              <a:ahLst/>
              <a:cxnLst/>
              <a:rect l="l" t="t" r="r" b="b"/>
              <a:pathLst>
                <a:path w="184785" h="2040889">
                  <a:moveTo>
                    <a:pt x="184403" y="2040636"/>
                  </a:moveTo>
                  <a:lnTo>
                    <a:pt x="148512" y="2040636"/>
                  </a:lnTo>
                  <a:lnTo>
                    <a:pt x="119205" y="2040636"/>
                  </a:lnTo>
                  <a:lnTo>
                    <a:pt x="99446" y="2040636"/>
                  </a:lnTo>
                  <a:lnTo>
                    <a:pt x="92201" y="2040636"/>
                  </a:lnTo>
                  <a:lnTo>
                    <a:pt x="92201" y="1020318"/>
                  </a:lnTo>
                  <a:lnTo>
                    <a:pt x="84957" y="1020318"/>
                  </a:lnTo>
                  <a:lnTo>
                    <a:pt x="65198" y="1020318"/>
                  </a:lnTo>
                  <a:lnTo>
                    <a:pt x="35891" y="1020318"/>
                  </a:lnTo>
                  <a:lnTo>
                    <a:pt x="0" y="1020318"/>
                  </a:lnTo>
                  <a:lnTo>
                    <a:pt x="35891" y="1020318"/>
                  </a:lnTo>
                  <a:lnTo>
                    <a:pt x="65198" y="1020318"/>
                  </a:lnTo>
                  <a:lnTo>
                    <a:pt x="84957" y="1020318"/>
                  </a:lnTo>
                  <a:lnTo>
                    <a:pt x="92201" y="1020318"/>
                  </a:lnTo>
                  <a:lnTo>
                    <a:pt x="92201" y="0"/>
                  </a:lnTo>
                  <a:lnTo>
                    <a:pt x="99446" y="0"/>
                  </a:lnTo>
                  <a:lnTo>
                    <a:pt x="119205" y="0"/>
                  </a:lnTo>
                  <a:lnTo>
                    <a:pt x="148512" y="0"/>
                  </a:lnTo>
                  <a:lnTo>
                    <a:pt x="184403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0703" y="2119884"/>
              <a:ext cx="3729228" cy="195224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31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097" y="1021207"/>
            <a:ext cx="6527800" cy="1543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4322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Screenshot</a:t>
            </a:r>
            <a:r>
              <a:rPr sz="1400" b="1" spc="-7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Dir</a:t>
            </a: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0075A6"/>
                </a:solidFill>
                <a:latin typeface="Calibri"/>
                <a:cs typeface="Calibri"/>
              </a:rPr>
              <a:t>Path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4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sz="1200" dirty="0">
                <a:latin typeface="Georgia"/>
                <a:cs typeface="Georgia"/>
              </a:rPr>
              <a:t>Tosca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user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should</a:t>
            </a:r>
            <a:r>
              <a:rPr sz="1200" spc="-5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request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have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access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shared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folder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path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for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project</a:t>
            </a:r>
            <a:endParaRPr sz="1200">
              <a:latin typeface="Georgia"/>
              <a:cs typeface="Georgia"/>
            </a:endParaRPr>
          </a:p>
          <a:p>
            <a:pPr marL="756285" lvl="1" indent="-286385">
              <a:lnSpc>
                <a:spcPct val="100000"/>
              </a:lnSpc>
              <a:buFont typeface="Courier New"/>
              <a:buChar char="o"/>
              <a:tabLst>
                <a:tab pos="756285" algn="l"/>
              </a:tabLst>
            </a:pPr>
            <a:r>
              <a:rPr sz="1200" dirty="0">
                <a:latin typeface="Georgia"/>
                <a:cs typeface="Georgia"/>
              </a:rPr>
              <a:t>Open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Run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window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from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start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menu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or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by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pressing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Win+R</a:t>
            </a:r>
            <a:r>
              <a:rPr sz="1200" spc="-10" dirty="0">
                <a:latin typeface="Georgia"/>
                <a:cs typeface="Georgia"/>
              </a:rPr>
              <a:t> button.</a:t>
            </a:r>
            <a:endParaRPr sz="1200">
              <a:latin typeface="Georgia"/>
              <a:cs typeface="Georgia"/>
            </a:endParaRPr>
          </a:p>
          <a:p>
            <a:pPr marL="793115" lvl="1" indent="-323215">
              <a:lnSpc>
                <a:spcPct val="100000"/>
              </a:lnSpc>
              <a:buFont typeface="Courier New"/>
              <a:buChar char="o"/>
              <a:tabLst>
                <a:tab pos="793115" algn="l"/>
              </a:tabLst>
            </a:pPr>
            <a:r>
              <a:rPr sz="1200" dirty="0">
                <a:latin typeface="Georgia"/>
                <a:cs typeface="Georgia"/>
              </a:rPr>
              <a:t>Input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UNC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paths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below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click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OK.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Folders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should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look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like</a:t>
            </a:r>
            <a:r>
              <a:rPr sz="1200" spc="-5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below.</a:t>
            </a:r>
            <a:endParaRPr sz="1200">
              <a:latin typeface="Georgia"/>
              <a:cs typeface="Georgia"/>
            </a:endParaRPr>
          </a:p>
          <a:p>
            <a:pPr marL="756285" lvl="1" indent="-286385">
              <a:lnSpc>
                <a:spcPct val="100000"/>
              </a:lnSpc>
              <a:buFont typeface="Courier New"/>
              <a:buChar char="o"/>
              <a:tabLst>
                <a:tab pos="756285" algn="l"/>
              </a:tabLst>
            </a:pPr>
            <a:r>
              <a:rPr sz="1200" dirty="0">
                <a:latin typeface="Georgia"/>
                <a:cs typeface="Georgia"/>
              </a:rPr>
              <a:t>PROD:</a:t>
            </a:r>
            <a:r>
              <a:rPr sz="1200" spc="220" dirty="0">
                <a:latin typeface="Georgia"/>
                <a:cs typeface="Georgia"/>
              </a:rPr>
              <a:t> </a:t>
            </a:r>
            <a:r>
              <a:rPr sz="12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2"/>
              </a:rPr>
              <a:t>\\CWF105968P\data02$\Tosca-Test-Execution-Data-Prod</a:t>
            </a:r>
            <a:r>
              <a:rPr sz="1200" spc="-10" dirty="0">
                <a:latin typeface="Georgia"/>
                <a:cs typeface="Georgia"/>
              </a:rPr>
              <a:t>\&lt;Project_Name&gt;</a:t>
            </a:r>
            <a:endParaRPr sz="1200">
              <a:latin typeface="Georgia"/>
              <a:cs typeface="Georgia"/>
            </a:endParaRPr>
          </a:p>
          <a:p>
            <a:pPr marL="756285" lvl="1" indent="-286385">
              <a:lnSpc>
                <a:spcPct val="100000"/>
              </a:lnSpc>
              <a:buFont typeface="Courier New"/>
              <a:buChar char="o"/>
              <a:tabLst>
                <a:tab pos="756285" algn="l"/>
              </a:tabLst>
            </a:pPr>
            <a:r>
              <a:rPr sz="1200" dirty="0">
                <a:latin typeface="Georgia"/>
                <a:cs typeface="Georgia"/>
              </a:rPr>
              <a:t>QA:</a:t>
            </a:r>
            <a:r>
              <a:rPr sz="1200" spc="125" dirty="0">
                <a:latin typeface="Georgia"/>
                <a:cs typeface="Georgia"/>
              </a:rPr>
              <a:t> </a:t>
            </a:r>
            <a:r>
              <a:rPr sz="1200" u="sng" spc="-10" dirty="0">
                <a:solidFill>
                  <a:srgbClr val="009CDE"/>
                </a:solidFill>
                <a:uFill>
                  <a:solidFill>
                    <a:srgbClr val="009CDE"/>
                  </a:solidFill>
                </a:uFill>
                <a:latin typeface="Georgia"/>
                <a:cs typeface="Georgia"/>
                <a:hlinkClick r:id="rId3"/>
              </a:rPr>
              <a:t>\\CWF105968P\data02$\Tosca-Test-Execution-Data</a:t>
            </a:r>
            <a:r>
              <a:rPr sz="1200" spc="-10" dirty="0">
                <a:latin typeface="Georgia"/>
                <a:cs typeface="Georgia"/>
              </a:rPr>
              <a:t>\&lt;Project_Name&gt;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32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8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Screenshots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2195" y="1020267"/>
            <a:ext cx="16167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Handling</a:t>
            </a:r>
            <a:r>
              <a:rPr sz="1400" b="1" spc="-4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Screenshots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7120" y="2076653"/>
            <a:ext cx="3813810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1447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Georgia"/>
                <a:cs typeface="Georgia"/>
              </a:rPr>
              <a:t>When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VP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is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set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Yes,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screenshot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should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spc="-25" dirty="0">
                <a:latin typeface="Georgia"/>
                <a:cs typeface="Georgia"/>
              </a:rPr>
              <a:t>be</a:t>
            </a:r>
            <a:r>
              <a:rPr sz="1200" spc="50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taken.</a:t>
            </a:r>
            <a:r>
              <a:rPr sz="1200" spc="229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standard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module,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Tbox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Take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Screenshot </a:t>
            </a:r>
            <a:r>
              <a:rPr sz="1200" dirty="0">
                <a:latin typeface="Georgia"/>
                <a:cs typeface="Georgia"/>
              </a:rPr>
              <a:t>should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spc="-20" dirty="0">
                <a:latin typeface="Georgia"/>
                <a:cs typeface="Georgia"/>
              </a:rPr>
              <a:t>used.</a:t>
            </a:r>
            <a:endParaRPr sz="1200">
              <a:latin typeface="Georgia"/>
              <a:cs typeface="Georgia"/>
            </a:endParaRPr>
          </a:p>
          <a:p>
            <a:pPr marL="184785" marR="71755" indent="-17272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Georgia"/>
                <a:cs typeface="Georgia"/>
              </a:rPr>
              <a:t>Any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step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that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verifies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requirement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should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include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spc="-50" dirty="0">
                <a:latin typeface="Georgia"/>
                <a:cs typeface="Georgia"/>
              </a:rPr>
              <a:t>a </a:t>
            </a:r>
            <a:r>
              <a:rPr sz="1200" dirty="0">
                <a:latin typeface="Georgia"/>
                <a:cs typeface="Georgia"/>
              </a:rPr>
              <a:t>screenshot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immediately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after</a:t>
            </a:r>
            <a:r>
              <a:rPr sz="1200" spc="-5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step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which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needs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spc="-25" dirty="0">
                <a:latin typeface="Georgia"/>
                <a:cs typeface="Georgia"/>
              </a:rPr>
              <a:t>to </a:t>
            </a:r>
            <a:r>
              <a:rPr sz="1200" dirty="0">
                <a:latin typeface="Georgia"/>
                <a:cs typeface="Georgia"/>
              </a:rPr>
              <a:t>be</a:t>
            </a:r>
            <a:r>
              <a:rPr sz="1200" spc="-10" dirty="0">
                <a:latin typeface="Georgia"/>
                <a:cs typeface="Georgia"/>
              </a:rPr>
              <a:t> validated.</a:t>
            </a:r>
            <a:endParaRPr sz="1200">
              <a:latin typeface="Georgia"/>
              <a:cs typeface="Georgia"/>
            </a:endParaRPr>
          </a:p>
          <a:p>
            <a:pPr marL="184785" marR="5080" indent="-172720" algn="just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Georgia"/>
                <a:cs typeface="Georgia"/>
              </a:rPr>
              <a:t>You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should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use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provided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Reusable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Step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Block </a:t>
            </a:r>
            <a:r>
              <a:rPr sz="1200" dirty="0">
                <a:latin typeface="Georgia"/>
                <a:cs typeface="Georgia"/>
              </a:rPr>
              <a:t>for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recording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screenshots</a:t>
            </a:r>
            <a:endParaRPr sz="1200">
              <a:latin typeface="Georgia"/>
              <a:cs typeface="Georgia"/>
            </a:endParaRPr>
          </a:p>
          <a:p>
            <a:pPr marL="184785" marR="210820" indent="-172720" algn="just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latin typeface="Georgia"/>
                <a:cs typeface="Georgia"/>
              </a:rPr>
              <a:t>Screenshot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steps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should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named</a:t>
            </a:r>
            <a:r>
              <a:rPr sz="1200" spc="20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“Screenshot_ </a:t>
            </a:r>
            <a:r>
              <a:rPr sz="1200" b="1" dirty="0">
                <a:latin typeface="Georgia"/>
                <a:cs typeface="Georgia"/>
              </a:rPr>
              <a:t>description</a:t>
            </a:r>
            <a:r>
              <a:rPr sz="1200" b="1" spc="-35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of</a:t>
            </a:r>
            <a:r>
              <a:rPr sz="1200" b="1" spc="-50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verification”</a:t>
            </a:r>
            <a:endParaRPr sz="1200">
              <a:latin typeface="Georgia"/>
              <a:cs typeface="Georgia"/>
            </a:endParaRPr>
          </a:p>
          <a:p>
            <a:pPr marL="186055" indent="-173355" algn="just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sz="1200" dirty="0">
                <a:latin typeface="Georgia"/>
                <a:cs typeface="Georgia"/>
              </a:rPr>
              <a:t>A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description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of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what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is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being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validated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should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spc="-25" dirty="0">
                <a:latin typeface="Georgia"/>
                <a:cs typeface="Georgia"/>
              </a:rPr>
              <a:t>be</a:t>
            </a:r>
            <a:endParaRPr sz="1200">
              <a:latin typeface="Georgia"/>
              <a:cs typeface="Georgia"/>
            </a:endParaRPr>
          </a:p>
          <a:p>
            <a:pPr marL="184785" algn="just">
              <a:lnSpc>
                <a:spcPct val="100000"/>
              </a:lnSpc>
            </a:pPr>
            <a:r>
              <a:rPr sz="1200" dirty="0">
                <a:latin typeface="Georgia"/>
                <a:cs typeface="Georgia"/>
              </a:rPr>
              <a:t>passed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into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screenshot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business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parameter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8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Screenshots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cont.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53711" y="2084832"/>
            <a:ext cx="3941445" cy="2059305"/>
            <a:chOff x="4553711" y="2084832"/>
            <a:chExt cx="3941445" cy="20593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3711" y="2084832"/>
              <a:ext cx="323113" cy="20589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09337" y="2120646"/>
              <a:ext cx="230504" cy="1952625"/>
            </a:xfrm>
            <a:custGeom>
              <a:avLst/>
              <a:gdLst/>
              <a:ahLst/>
              <a:cxnLst/>
              <a:rect l="l" t="t" r="r" b="b"/>
              <a:pathLst>
                <a:path w="230504" h="1952625">
                  <a:moveTo>
                    <a:pt x="230124" y="1952244"/>
                  </a:moveTo>
                  <a:lnTo>
                    <a:pt x="185356" y="1952244"/>
                  </a:lnTo>
                  <a:lnTo>
                    <a:pt x="148780" y="1952244"/>
                  </a:lnTo>
                  <a:lnTo>
                    <a:pt x="124110" y="1952244"/>
                  </a:lnTo>
                  <a:lnTo>
                    <a:pt x="115062" y="1952244"/>
                  </a:lnTo>
                  <a:lnTo>
                    <a:pt x="115062" y="976122"/>
                  </a:lnTo>
                  <a:lnTo>
                    <a:pt x="106013" y="976122"/>
                  </a:lnTo>
                  <a:lnTo>
                    <a:pt x="81343" y="976122"/>
                  </a:lnTo>
                  <a:lnTo>
                    <a:pt x="44767" y="976122"/>
                  </a:lnTo>
                  <a:lnTo>
                    <a:pt x="0" y="976122"/>
                  </a:lnTo>
                  <a:lnTo>
                    <a:pt x="44767" y="976122"/>
                  </a:lnTo>
                  <a:lnTo>
                    <a:pt x="81343" y="976122"/>
                  </a:lnTo>
                  <a:lnTo>
                    <a:pt x="106013" y="976122"/>
                  </a:lnTo>
                  <a:lnTo>
                    <a:pt x="115062" y="976122"/>
                  </a:lnTo>
                  <a:lnTo>
                    <a:pt x="115062" y="0"/>
                  </a:lnTo>
                  <a:lnTo>
                    <a:pt x="124110" y="0"/>
                  </a:lnTo>
                  <a:lnTo>
                    <a:pt x="148780" y="0"/>
                  </a:lnTo>
                  <a:lnTo>
                    <a:pt x="185356" y="0"/>
                  </a:lnTo>
                  <a:lnTo>
                    <a:pt x="230124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5191" y="2116836"/>
              <a:ext cx="3529584" cy="195224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40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4449445" cy="3646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5905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Reusable</a:t>
            </a:r>
            <a:r>
              <a:rPr sz="1400" b="1" spc="-6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Test</a:t>
            </a:r>
            <a:r>
              <a:rPr sz="1400" b="1" spc="-5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Step</a:t>
            </a:r>
            <a:r>
              <a:rPr sz="1400" b="1" spc="-4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Blocks</a:t>
            </a:r>
            <a:endParaRPr sz="1400">
              <a:latin typeface="Calibri"/>
              <a:cs typeface="Calibri"/>
            </a:endParaRPr>
          </a:p>
          <a:p>
            <a:pPr marL="12700" marR="1602105">
              <a:lnSpc>
                <a:spcPct val="100000"/>
              </a:lnSpc>
              <a:spcBef>
                <a:spcPts val="1614"/>
              </a:spcBef>
            </a:pPr>
            <a:r>
              <a:rPr sz="1400" spc="-10" dirty="0">
                <a:latin typeface="Calibri"/>
                <a:cs typeface="Calibri"/>
              </a:rPr>
              <a:t>Reusable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blocks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be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functionality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more </a:t>
            </a:r>
            <a:r>
              <a:rPr sz="1400" dirty="0">
                <a:latin typeface="Calibri"/>
                <a:cs typeface="Calibri"/>
              </a:rPr>
              <a:t>than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case.</a:t>
            </a:r>
            <a:endParaRPr sz="1400">
              <a:latin typeface="Calibri"/>
              <a:cs typeface="Calibri"/>
            </a:endParaRPr>
          </a:p>
          <a:p>
            <a:pPr marL="12700" marR="1612900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latin typeface="Calibri"/>
                <a:cs typeface="Calibri"/>
              </a:rPr>
              <a:t>There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Common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Library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in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Libraries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folder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common </a:t>
            </a:r>
            <a:r>
              <a:rPr sz="1400" dirty="0">
                <a:latin typeface="Calibri"/>
                <a:cs typeface="Calibri"/>
              </a:rPr>
              <a:t>functions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such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login,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screenshot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etc.</a:t>
            </a:r>
            <a:endParaRPr sz="1400">
              <a:latin typeface="Calibri"/>
              <a:cs typeface="Calibri"/>
            </a:endParaRPr>
          </a:p>
          <a:p>
            <a:pPr marL="12700" marR="1518285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latin typeface="Calibri"/>
                <a:cs typeface="Calibri"/>
              </a:rPr>
              <a:t>Library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blocks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prefixed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with </a:t>
            </a:r>
            <a:r>
              <a:rPr sz="1400" dirty="0">
                <a:latin typeface="Calibri"/>
                <a:cs typeface="Calibri"/>
              </a:rPr>
              <a:t>app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prefix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descriptive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step </a:t>
            </a:r>
            <a:r>
              <a:rPr sz="1400" dirty="0">
                <a:latin typeface="Calibri"/>
                <a:cs typeface="Calibri"/>
              </a:rPr>
              <a:t>being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performed</a:t>
            </a:r>
            <a:endParaRPr sz="1400">
              <a:latin typeface="Calibri"/>
              <a:cs typeface="Calibri"/>
            </a:endParaRPr>
          </a:p>
          <a:p>
            <a:pPr marL="12700" marR="1958975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Calibri"/>
                <a:cs typeface="Calibri"/>
              </a:rPr>
              <a:t>Additional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Library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folders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be </a:t>
            </a:r>
            <a:r>
              <a:rPr sz="1400" spc="-10" dirty="0">
                <a:latin typeface="Calibri"/>
                <a:cs typeface="Calibri"/>
              </a:rPr>
              <a:t>created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“Libraries”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folder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to </a:t>
            </a:r>
            <a:r>
              <a:rPr sz="1400" dirty="0">
                <a:latin typeface="Calibri"/>
                <a:cs typeface="Calibri"/>
              </a:rPr>
              <a:t>group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associated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blocks.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792035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7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9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Reusable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7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Step</a:t>
            </a:r>
            <a:r>
              <a:rPr sz="2600" spc="-7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Blocks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26840" y="1620011"/>
            <a:ext cx="4321175" cy="2847340"/>
            <a:chOff x="3926840" y="1620011"/>
            <a:chExt cx="4321175" cy="28473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6632" y="1620011"/>
              <a:ext cx="3191256" cy="28468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26840" y="2790570"/>
              <a:ext cx="1948814" cy="1121410"/>
            </a:xfrm>
            <a:custGeom>
              <a:avLst/>
              <a:gdLst/>
              <a:ahLst/>
              <a:cxnLst/>
              <a:rect l="l" t="t" r="r" b="b"/>
              <a:pathLst>
                <a:path w="1948814" h="1121410">
                  <a:moveTo>
                    <a:pt x="1437767" y="486029"/>
                  </a:moveTo>
                  <a:lnTo>
                    <a:pt x="1423695" y="471932"/>
                  </a:lnTo>
                  <a:lnTo>
                    <a:pt x="1377569" y="425704"/>
                  </a:lnTo>
                  <a:lnTo>
                    <a:pt x="1367510" y="455828"/>
                  </a:lnTo>
                  <a:lnTo>
                    <a:pt x="4064" y="0"/>
                  </a:lnTo>
                  <a:lnTo>
                    <a:pt x="0" y="11938"/>
                  </a:lnTo>
                  <a:lnTo>
                    <a:pt x="1363472" y="467906"/>
                  </a:lnTo>
                  <a:lnTo>
                    <a:pt x="1353439" y="497967"/>
                  </a:lnTo>
                  <a:lnTo>
                    <a:pt x="1437767" y="486029"/>
                  </a:lnTo>
                  <a:close/>
                </a:path>
                <a:path w="1948814" h="1121410">
                  <a:moveTo>
                    <a:pt x="1948307" y="1095540"/>
                  </a:moveTo>
                  <a:lnTo>
                    <a:pt x="1943125" y="1091844"/>
                  </a:lnTo>
                  <a:lnTo>
                    <a:pt x="1878965" y="1045972"/>
                  </a:lnTo>
                  <a:lnTo>
                    <a:pt x="1873999" y="1077252"/>
                  </a:lnTo>
                  <a:lnTo>
                    <a:pt x="3048" y="780034"/>
                  </a:lnTo>
                  <a:lnTo>
                    <a:pt x="1016" y="792480"/>
                  </a:lnTo>
                  <a:lnTo>
                    <a:pt x="1871992" y="1089850"/>
                  </a:lnTo>
                  <a:lnTo>
                    <a:pt x="1867027" y="1121206"/>
                  </a:lnTo>
                  <a:lnTo>
                    <a:pt x="1948307" y="1095540"/>
                  </a:lnTo>
                  <a:close/>
                </a:path>
              </a:pathLst>
            </a:custGeom>
            <a:solidFill>
              <a:srgbClr val="00B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41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7547609" cy="871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4038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Action</a:t>
            </a:r>
            <a:r>
              <a:rPr sz="1400" b="1" spc="-2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Mode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WaitOn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614"/>
              </a:spcBef>
            </a:pPr>
            <a:r>
              <a:rPr sz="1400" dirty="0">
                <a:latin typeface="Calibri"/>
                <a:cs typeface="Calibri"/>
              </a:rPr>
              <a:t>Use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dynamic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wait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WaitOn</a:t>
            </a:r>
            <a:r>
              <a:rPr sz="1400" b="1" spc="2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rather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static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waits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whenever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possible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maximize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speed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Action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Mode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WaitOn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0344" y="2523744"/>
            <a:ext cx="5163311" cy="94335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42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7434" y="1032763"/>
            <a:ext cx="15855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Action</a:t>
            </a:r>
            <a:r>
              <a:rPr sz="1400" b="1" spc="-2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Mode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WaitOn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9891" y="1911476"/>
            <a:ext cx="2444750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Use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ResultCount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step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and </a:t>
            </a:r>
            <a:r>
              <a:rPr sz="1500" b="1" dirty="0">
                <a:latin typeface="Calibri"/>
                <a:cs typeface="Calibri"/>
              </a:rPr>
              <a:t>Repetitions</a:t>
            </a:r>
            <a:r>
              <a:rPr sz="1500" b="1" spc="-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folder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instead</a:t>
            </a:r>
            <a:r>
              <a:rPr sz="1500" spc="-8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of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Loop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structure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(Combining counter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variable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WHILE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or </a:t>
            </a:r>
            <a:r>
              <a:rPr sz="1500" dirty="0">
                <a:latin typeface="Calibri"/>
                <a:cs typeface="Calibri"/>
              </a:rPr>
              <a:t>DO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statement).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0219" y="506983"/>
            <a:ext cx="57981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8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Repetitions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1376" y="1357883"/>
            <a:ext cx="4305300" cy="32766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43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r>
              <a:rPr sz="22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VERA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2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2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spc="-2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395" y="900693"/>
            <a:ext cx="6159944" cy="35493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2968" y="4480966"/>
            <a:ext cx="5041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Once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uploaded,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VERA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ALM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ID's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are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saved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to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Tosca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Item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Tosca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ID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is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saved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to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ALM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item.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When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action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is</a:t>
            </a:r>
            <a:r>
              <a:rPr sz="900" spc="-10" dirty="0">
                <a:latin typeface="Calibri"/>
                <a:cs typeface="Calibri"/>
              </a:rPr>
              <a:t> completed,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items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are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considered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"linked"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Tosca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Item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can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now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be</a:t>
            </a:r>
            <a:r>
              <a:rPr sz="900" spc="-10" dirty="0">
                <a:latin typeface="Calibri"/>
                <a:cs typeface="Calibri"/>
              </a:rPr>
              <a:t> controlled </a:t>
            </a:r>
            <a:r>
              <a:rPr sz="900" dirty="0">
                <a:latin typeface="Calibri"/>
                <a:cs typeface="Calibri"/>
              </a:rPr>
              <a:t>by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ALM.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r>
              <a:rPr b="0" spc="-25" dirty="0">
                <a:latin typeface="Calibri"/>
                <a:cs typeface="Calibri"/>
              </a:rPr>
              <a:t>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516128"/>
            <a:ext cx="34690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r>
              <a:rPr sz="22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VERA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2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2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spc="-2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072" y="1002791"/>
            <a:ext cx="4879848" cy="375208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r>
              <a:rPr b="0" spc="-25" dirty="0">
                <a:latin typeface="Calibri"/>
                <a:cs typeface="Calibri"/>
              </a:rPr>
              <a:t>46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110" dirty="0"/>
              <a:t>TOSCA</a:t>
            </a:r>
            <a:r>
              <a:rPr spc="250" dirty="0"/>
              <a:t> </a:t>
            </a:r>
            <a:r>
              <a:rPr spc="105" dirty="0"/>
              <a:t>SETUP</a:t>
            </a: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High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Level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Overview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of</a:t>
            </a:r>
            <a:r>
              <a:rPr sz="2200" spc="-7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2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9CDE"/>
                </a:solidFill>
                <a:latin typeface="Georgia"/>
                <a:cs typeface="Georgia"/>
              </a:rPr>
              <a:t>Approval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58083" y="2276729"/>
            <a:ext cx="1481455" cy="1213485"/>
            <a:chOff x="2958083" y="2276729"/>
            <a:chExt cx="1481455" cy="1213485"/>
          </a:xfrm>
        </p:grpSpPr>
        <p:sp>
          <p:nvSpPr>
            <p:cNvPr id="4" name="object 4"/>
            <p:cNvSpPr/>
            <p:nvPr/>
          </p:nvSpPr>
          <p:spPr>
            <a:xfrm>
              <a:off x="3270503" y="2330196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h="596264">
                  <a:moveTo>
                    <a:pt x="0" y="595757"/>
                  </a:moveTo>
                  <a:lnTo>
                    <a:pt x="0" y="0"/>
                  </a:lnTo>
                </a:path>
              </a:pathLst>
            </a:custGeom>
            <a:ln w="15875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70503" y="2276729"/>
              <a:ext cx="1169035" cy="107314"/>
            </a:xfrm>
            <a:custGeom>
              <a:avLst/>
              <a:gdLst/>
              <a:ahLst/>
              <a:cxnLst/>
              <a:rect l="l" t="t" r="r" b="b"/>
              <a:pathLst>
                <a:path w="1169035" h="107314">
                  <a:moveTo>
                    <a:pt x="1137031" y="53572"/>
                  </a:moveTo>
                  <a:lnTo>
                    <a:pt x="1072769" y="91058"/>
                  </a:lnTo>
                  <a:lnTo>
                    <a:pt x="1068959" y="93218"/>
                  </a:lnTo>
                  <a:lnTo>
                    <a:pt x="1067689" y="98170"/>
                  </a:lnTo>
                  <a:lnTo>
                    <a:pt x="1069848" y="101853"/>
                  </a:lnTo>
                  <a:lnTo>
                    <a:pt x="1072007" y="105663"/>
                  </a:lnTo>
                  <a:lnTo>
                    <a:pt x="1076960" y="106933"/>
                  </a:lnTo>
                  <a:lnTo>
                    <a:pt x="1080770" y="104775"/>
                  </a:lnTo>
                  <a:lnTo>
                    <a:pt x="1155166" y="61340"/>
                  </a:lnTo>
                  <a:lnTo>
                    <a:pt x="1137031" y="61340"/>
                  </a:lnTo>
                  <a:lnTo>
                    <a:pt x="1137031" y="53572"/>
                  </a:lnTo>
                  <a:close/>
                </a:path>
                <a:path w="1169035" h="107314">
                  <a:moveTo>
                    <a:pt x="1089406" y="45465"/>
                  </a:moveTo>
                  <a:lnTo>
                    <a:pt x="1073531" y="45465"/>
                  </a:lnTo>
                  <a:lnTo>
                    <a:pt x="1073531" y="61340"/>
                  </a:lnTo>
                  <a:lnTo>
                    <a:pt x="1089406" y="61340"/>
                  </a:lnTo>
                  <a:lnTo>
                    <a:pt x="1089406" y="45465"/>
                  </a:lnTo>
                  <a:close/>
                </a:path>
                <a:path w="1169035" h="107314">
                  <a:moveTo>
                    <a:pt x="1121156" y="45465"/>
                  </a:moveTo>
                  <a:lnTo>
                    <a:pt x="1105281" y="45465"/>
                  </a:lnTo>
                  <a:lnTo>
                    <a:pt x="1105281" y="61340"/>
                  </a:lnTo>
                  <a:lnTo>
                    <a:pt x="1121156" y="61340"/>
                  </a:lnTo>
                  <a:lnTo>
                    <a:pt x="1121156" y="45465"/>
                  </a:lnTo>
                  <a:close/>
                </a:path>
                <a:path w="1169035" h="107314">
                  <a:moveTo>
                    <a:pt x="1148969" y="46608"/>
                  </a:moveTo>
                  <a:lnTo>
                    <a:pt x="1137031" y="53572"/>
                  </a:lnTo>
                  <a:lnTo>
                    <a:pt x="1137031" y="61340"/>
                  </a:lnTo>
                  <a:lnTo>
                    <a:pt x="1152906" y="61340"/>
                  </a:lnTo>
                  <a:lnTo>
                    <a:pt x="1152906" y="60325"/>
                  </a:lnTo>
                  <a:lnTo>
                    <a:pt x="1148969" y="60325"/>
                  </a:lnTo>
                  <a:lnTo>
                    <a:pt x="1137393" y="53572"/>
                  </a:lnTo>
                  <a:lnTo>
                    <a:pt x="1148969" y="53572"/>
                  </a:lnTo>
                  <a:lnTo>
                    <a:pt x="1148969" y="46608"/>
                  </a:lnTo>
                  <a:close/>
                </a:path>
                <a:path w="1169035" h="107314">
                  <a:moveTo>
                    <a:pt x="1154949" y="45465"/>
                  </a:moveTo>
                  <a:lnTo>
                    <a:pt x="1152906" y="45465"/>
                  </a:lnTo>
                  <a:lnTo>
                    <a:pt x="1152906" y="61340"/>
                  </a:lnTo>
                  <a:lnTo>
                    <a:pt x="1155166" y="61340"/>
                  </a:lnTo>
                  <a:lnTo>
                    <a:pt x="1168472" y="53572"/>
                  </a:lnTo>
                  <a:lnTo>
                    <a:pt x="1168835" y="53572"/>
                  </a:lnTo>
                  <a:lnTo>
                    <a:pt x="1154949" y="45465"/>
                  </a:lnTo>
                  <a:close/>
                </a:path>
                <a:path w="1169035" h="107314">
                  <a:moveTo>
                    <a:pt x="1076960" y="0"/>
                  </a:moveTo>
                  <a:lnTo>
                    <a:pt x="1072007" y="1269"/>
                  </a:lnTo>
                  <a:lnTo>
                    <a:pt x="1069848" y="5079"/>
                  </a:lnTo>
                  <a:lnTo>
                    <a:pt x="1067689" y="8762"/>
                  </a:lnTo>
                  <a:lnTo>
                    <a:pt x="1068959" y="13715"/>
                  </a:lnTo>
                  <a:lnTo>
                    <a:pt x="1072769" y="15875"/>
                  </a:lnTo>
                  <a:lnTo>
                    <a:pt x="1148969" y="60325"/>
                  </a:lnTo>
                  <a:lnTo>
                    <a:pt x="1148969" y="53572"/>
                  </a:lnTo>
                  <a:lnTo>
                    <a:pt x="1137031" y="53572"/>
                  </a:lnTo>
                  <a:lnTo>
                    <a:pt x="1137031" y="45465"/>
                  </a:lnTo>
                  <a:lnTo>
                    <a:pt x="1154949" y="45465"/>
                  </a:lnTo>
                  <a:lnTo>
                    <a:pt x="1080770" y="2158"/>
                  </a:lnTo>
                  <a:lnTo>
                    <a:pt x="1076960" y="0"/>
                  </a:lnTo>
                  <a:close/>
                </a:path>
                <a:path w="1169035" h="107314">
                  <a:moveTo>
                    <a:pt x="1152906" y="46608"/>
                  </a:moveTo>
                  <a:lnTo>
                    <a:pt x="1148969" y="46608"/>
                  </a:lnTo>
                  <a:lnTo>
                    <a:pt x="1148969" y="60325"/>
                  </a:lnTo>
                  <a:lnTo>
                    <a:pt x="1152906" y="60325"/>
                  </a:lnTo>
                  <a:lnTo>
                    <a:pt x="1152906" y="46608"/>
                  </a:lnTo>
                  <a:close/>
                </a:path>
                <a:path w="1169035" h="107314">
                  <a:moveTo>
                    <a:pt x="1152906" y="45465"/>
                  </a:moveTo>
                  <a:lnTo>
                    <a:pt x="1137031" y="45465"/>
                  </a:lnTo>
                  <a:lnTo>
                    <a:pt x="1137031" y="53572"/>
                  </a:lnTo>
                  <a:lnTo>
                    <a:pt x="1148969" y="46608"/>
                  </a:lnTo>
                  <a:lnTo>
                    <a:pt x="1152906" y="46608"/>
                  </a:lnTo>
                  <a:lnTo>
                    <a:pt x="1152906" y="45465"/>
                  </a:lnTo>
                  <a:close/>
                </a:path>
                <a:path w="1169035" h="107314">
                  <a:moveTo>
                    <a:pt x="1057656" y="45465"/>
                  </a:moveTo>
                  <a:lnTo>
                    <a:pt x="1041781" y="45465"/>
                  </a:lnTo>
                  <a:lnTo>
                    <a:pt x="1041781" y="61340"/>
                  </a:lnTo>
                  <a:lnTo>
                    <a:pt x="1057656" y="61340"/>
                  </a:lnTo>
                  <a:lnTo>
                    <a:pt x="1057656" y="45465"/>
                  </a:lnTo>
                  <a:close/>
                </a:path>
                <a:path w="1169035" h="107314">
                  <a:moveTo>
                    <a:pt x="1025906" y="45465"/>
                  </a:moveTo>
                  <a:lnTo>
                    <a:pt x="1010031" y="45465"/>
                  </a:lnTo>
                  <a:lnTo>
                    <a:pt x="1010031" y="61340"/>
                  </a:lnTo>
                  <a:lnTo>
                    <a:pt x="1025906" y="61340"/>
                  </a:lnTo>
                  <a:lnTo>
                    <a:pt x="1025906" y="45465"/>
                  </a:lnTo>
                  <a:close/>
                </a:path>
                <a:path w="1169035" h="107314">
                  <a:moveTo>
                    <a:pt x="994156" y="45465"/>
                  </a:moveTo>
                  <a:lnTo>
                    <a:pt x="978281" y="45465"/>
                  </a:lnTo>
                  <a:lnTo>
                    <a:pt x="978281" y="61340"/>
                  </a:lnTo>
                  <a:lnTo>
                    <a:pt x="994156" y="61340"/>
                  </a:lnTo>
                  <a:lnTo>
                    <a:pt x="994156" y="45465"/>
                  </a:lnTo>
                  <a:close/>
                </a:path>
                <a:path w="1169035" h="107314">
                  <a:moveTo>
                    <a:pt x="962406" y="45465"/>
                  </a:moveTo>
                  <a:lnTo>
                    <a:pt x="946531" y="45465"/>
                  </a:lnTo>
                  <a:lnTo>
                    <a:pt x="946531" y="61340"/>
                  </a:lnTo>
                  <a:lnTo>
                    <a:pt x="962406" y="61340"/>
                  </a:lnTo>
                  <a:lnTo>
                    <a:pt x="962406" y="45465"/>
                  </a:lnTo>
                  <a:close/>
                </a:path>
                <a:path w="1169035" h="107314">
                  <a:moveTo>
                    <a:pt x="930656" y="45465"/>
                  </a:moveTo>
                  <a:lnTo>
                    <a:pt x="914781" y="45465"/>
                  </a:lnTo>
                  <a:lnTo>
                    <a:pt x="914781" y="61340"/>
                  </a:lnTo>
                  <a:lnTo>
                    <a:pt x="930656" y="61340"/>
                  </a:lnTo>
                  <a:lnTo>
                    <a:pt x="930656" y="45465"/>
                  </a:lnTo>
                  <a:close/>
                </a:path>
                <a:path w="1169035" h="107314">
                  <a:moveTo>
                    <a:pt x="898906" y="45465"/>
                  </a:moveTo>
                  <a:lnTo>
                    <a:pt x="883031" y="45465"/>
                  </a:lnTo>
                  <a:lnTo>
                    <a:pt x="883031" y="61340"/>
                  </a:lnTo>
                  <a:lnTo>
                    <a:pt x="898906" y="61340"/>
                  </a:lnTo>
                  <a:lnTo>
                    <a:pt x="898906" y="45465"/>
                  </a:lnTo>
                  <a:close/>
                </a:path>
                <a:path w="1169035" h="107314">
                  <a:moveTo>
                    <a:pt x="867156" y="45465"/>
                  </a:moveTo>
                  <a:lnTo>
                    <a:pt x="851281" y="45465"/>
                  </a:lnTo>
                  <a:lnTo>
                    <a:pt x="851281" y="61340"/>
                  </a:lnTo>
                  <a:lnTo>
                    <a:pt x="867156" y="61340"/>
                  </a:lnTo>
                  <a:lnTo>
                    <a:pt x="867156" y="45465"/>
                  </a:lnTo>
                  <a:close/>
                </a:path>
                <a:path w="1169035" h="107314">
                  <a:moveTo>
                    <a:pt x="835406" y="45465"/>
                  </a:moveTo>
                  <a:lnTo>
                    <a:pt x="819531" y="45465"/>
                  </a:lnTo>
                  <a:lnTo>
                    <a:pt x="819531" y="61340"/>
                  </a:lnTo>
                  <a:lnTo>
                    <a:pt x="835406" y="61340"/>
                  </a:lnTo>
                  <a:lnTo>
                    <a:pt x="835406" y="45465"/>
                  </a:lnTo>
                  <a:close/>
                </a:path>
                <a:path w="1169035" h="107314">
                  <a:moveTo>
                    <a:pt x="803656" y="45465"/>
                  </a:moveTo>
                  <a:lnTo>
                    <a:pt x="787781" y="45465"/>
                  </a:lnTo>
                  <a:lnTo>
                    <a:pt x="787781" y="61340"/>
                  </a:lnTo>
                  <a:lnTo>
                    <a:pt x="803656" y="61340"/>
                  </a:lnTo>
                  <a:lnTo>
                    <a:pt x="803656" y="45465"/>
                  </a:lnTo>
                  <a:close/>
                </a:path>
                <a:path w="1169035" h="107314">
                  <a:moveTo>
                    <a:pt x="771906" y="45465"/>
                  </a:moveTo>
                  <a:lnTo>
                    <a:pt x="756031" y="45465"/>
                  </a:lnTo>
                  <a:lnTo>
                    <a:pt x="756031" y="61340"/>
                  </a:lnTo>
                  <a:lnTo>
                    <a:pt x="771906" y="61340"/>
                  </a:lnTo>
                  <a:lnTo>
                    <a:pt x="771906" y="45465"/>
                  </a:lnTo>
                  <a:close/>
                </a:path>
                <a:path w="1169035" h="107314">
                  <a:moveTo>
                    <a:pt x="740156" y="45465"/>
                  </a:moveTo>
                  <a:lnTo>
                    <a:pt x="724281" y="45465"/>
                  </a:lnTo>
                  <a:lnTo>
                    <a:pt x="724281" y="61340"/>
                  </a:lnTo>
                  <a:lnTo>
                    <a:pt x="740156" y="61340"/>
                  </a:lnTo>
                  <a:lnTo>
                    <a:pt x="740156" y="45465"/>
                  </a:lnTo>
                  <a:close/>
                </a:path>
                <a:path w="1169035" h="107314">
                  <a:moveTo>
                    <a:pt x="708406" y="45465"/>
                  </a:moveTo>
                  <a:lnTo>
                    <a:pt x="692531" y="45465"/>
                  </a:lnTo>
                  <a:lnTo>
                    <a:pt x="692531" y="61340"/>
                  </a:lnTo>
                  <a:lnTo>
                    <a:pt x="708406" y="61340"/>
                  </a:lnTo>
                  <a:lnTo>
                    <a:pt x="708406" y="45465"/>
                  </a:lnTo>
                  <a:close/>
                </a:path>
                <a:path w="1169035" h="107314">
                  <a:moveTo>
                    <a:pt x="676656" y="45465"/>
                  </a:moveTo>
                  <a:lnTo>
                    <a:pt x="660781" y="45465"/>
                  </a:lnTo>
                  <a:lnTo>
                    <a:pt x="660781" y="61340"/>
                  </a:lnTo>
                  <a:lnTo>
                    <a:pt x="676656" y="61340"/>
                  </a:lnTo>
                  <a:lnTo>
                    <a:pt x="676656" y="45465"/>
                  </a:lnTo>
                  <a:close/>
                </a:path>
                <a:path w="1169035" h="107314">
                  <a:moveTo>
                    <a:pt x="644906" y="45465"/>
                  </a:moveTo>
                  <a:lnTo>
                    <a:pt x="629031" y="45465"/>
                  </a:lnTo>
                  <a:lnTo>
                    <a:pt x="629031" y="61340"/>
                  </a:lnTo>
                  <a:lnTo>
                    <a:pt x="644906" y="61340"/>
                  </a:lnTo>
                  <a:lnTo>
                    <a:pt x="644906" y="45465"/>
                  </a:lnTo>
                  <a:close/>
                </a:path>
                <a:path w="1169035" h="107314">
                  <a:moveTo>
                    <a:pt x="613156" y="45465"/>
                  </a:moveTo>
                  <a:lnTo>
                    <a:pt x="597281" y="45465"/>
                  </a:lnTo>
                  <a:lnTo>
                    <a:pt x="597281" y="61340"/>
                  </a:lnTo>
                  <a:lnTo>
                    <a:pt x="613156" y="61340"/>
                  </a:lnTo>
                  <a:lnTo>
                    <a:pt x="613156" y="45465"/>
                  </a:lnTo>
                  <a:close/>
                </a:path>
                <a:path w="1169035" h="107314">
                  <a:moveTo>
                    <a:pt x="581406" y="45465"/>
                  </a:moveTo>
                  <a:lnTo>
                    <a:pt x="565531" y="45465"/>
                  </a:lnTo>
                  <a:lnTo>
                    <a:pt x="565531" y="61340"/>
                  </a:lnTo>
                  <a:lnTo>
                    <a:pt x="581406" y="61340"/>
                  </a:lnTo>
                  <a:lnTo>
                    <a:pt x="581406" y="45465"/>
                  </a:lnTo>
                  <a:close/>
                </a:path>
                <a:path w="1169035" h="107314">
                  <a:moveTo>
                    <a:pt x="549656" y="45465"/>
                  </a:moveTo>
                  <a:lnTo>
                    <a:pt x="533781" y="45465"/>
                  </a:lnTo>
                  <a:lnTo>
                    <a:pt x="533781" y="61340"/>
                  </a:lnTo>
                  <a:lnTo>
                    <a:pt x="549656" y="61340"/>
                  </a:lnTo>
                  <a:lnTo>
                    <a:pt x="549656" y="45465"/>
                  </a:lnTo>
                  <a:close/>
                </a:path>
                <a:path w="1169035" h="107314">
                  <a:moveTo>
                    <a:pt x="517906" y="45465"/>
                  </a:moveTo>
                  <a:lnTo>
                    <a:pt x="502031" y="45465"/>
                  </a:lnTo>
                  <a:lnTo>
                    <a:pt x="502031" y="61340"/>
                  </a:lnTo>
                  <a:lnTo>
                    <a:pt x="517906" y="61340"/>
                  </a:lnTo>
                  <a:lnTo>
                    <a:pt x="517906" y="45465"/>
                  </a:lnTo>
                  <a:close/>
                </a:path>
                <a:path w="1169035" h="107314">
                  <a:moveTo>
                    <a:pt x="486156" y="45465"/>
                  </a:moveTo>
                  <a:lnTo>
                    <a:pt x="470281" y="45465"/>
                  </a:lnTo>
                  <a:lnTo>
                    <a:pt x="470281" y="61340"/>
                  </a:lnTo>
                  <a:lnTo>
                    <a:pt x="486156" y="61340"/>
                  </a:lnTo>
                  <a:lnTo>
                    <a:pt x="486156" y="45465"/>
                  </a:lnTo>
                  <a:close/>
                </a:path>
                <a:path w="1169035" h="107314">
                  <a:moveTo>
                    <a:pt x="454406" y="45465"/>
                  </a:moveTo>
                  <a:lnTo>
                    <a:pt x="438531" y="45465"/>
                  </a:lnTo>
                  <a:lnTo>
                    <a:pt x="438531" y="61340"/>
                  </a:lnTo>
                  <a:lnTo>
                    <a:pt x="454406" y="61340"/>
                  </a:lnTo>
                  <a:lnTo>
                    <a:pt x="454406" y="45465"/>
                  </a:lnTo>
                  <a:close/>
                </a:path>
                <a:path w="1169035" h="107314">
                  <a:moveTo>
                    <a:pt x="422656" y="45465"/>
                  </a:moveTo>
                  <a:lnTo>
                    <a:pt x="406781" y="45465"/>
                  </a:lnTo>
                  <a:lnTo>
                    <a:pt x="406781" y="61340"/>
                  </a:lnTo>
                  <a:lnTo>
                    <a:pt x="422656" y="61340"/>
                  </a:lnTo>
                  <a:lnTo>
                    <a:pt x="422656" y="45465"/>
                  </a:lnTo>
                  <a:close/>
                </a:path>
                <a:path w="1169035" h="107314">
                  <a:moveTo>
                    <a:pt x="390906" y="45465"/>
                  </a:moveTo>
                  <a:lnTo>
                    <a:pt x="375031" y="45465"/>
                  </a:lnTo>
                  <a:lnTo>
                    <a:pt x="375031" y="61340"/>
                  </a:lnTo>
                  <a:lnTo>
                    <a:pt x="390906" y="61340"/>
                  </a:lnTo>
                  <a:lnTo>
                    <a:pt x="390906" y="45465"/>
                  </a:lnTo>
                  <a:close/>
                </a:path>
                <a:path w="1169035" h="107314">
                  <a:moveTo>
                    <a:pt x="359156" y="45465"/>
                  </a:moveTo>
                  <a:lnTo>
                    <a:pt x="343281" y="45465"/>
                  </a:lnTo>
                  <a:lnTo>
                    <a:pt x="343281" y="61340"/>
                  </a:lnTo>
                  <a:lnTo>
                    <a:pt x="359156" y="61340"/>
                  </a:lnTo>
                  <a:lnTo>
                    <a:pt x="359156" y="45465"/>
                  </a:lnTo>
                  <a:close/>
                </a:path>
                <a:path w="1169035" h="107314">
                  <a:moveTo>
                    <a:pt x="327406" y="45465"/>
                  </a:moveTo>
                  <a:lnTo>
                    <a:pt x="311531" y="45465"/>
                  </a:lnTo>
                  <a:lnTo>
                    <a:pt x="311531" y="61340"/>
                  </a:lnTo>
                  <a:lnTo>
                    <a:pt x="327406" y="61340"/>
                  </a:lnTo>
                  <a:lnTo>
                    <a:pt x="327406" y="45465"/>
                  </a:lnTo>
                  <a:close/>
                </a:path>
                <a:path w="1169035" h="107314">
                  <a:moveTo>
                    <a:pt x="295656" y="45465"/>
                  </a:moveTo>
                  <a:lnTo>
                    <a:pt x="279781" y="45465"/>
                  </a:lnTo>
                  <a:lnTo>
                    <a:pt x="279781" y="61340"/>
                  </a:lnTo>
                  <a:lnTo>
                    <a:pt x="295656" y="61340"/>
                  </a:lnTo>
                  <a:lnTo>
                    <a:pt x="295656" y="45465"/>
                  </a:lnTo>
                  <a:close/>
                </a:path>
                <a:path w="1169035" h="107314">
                  <a:moveTo>
                    <a:pt x="263906" y="45465"/>
                  </a:moveTo>
                  <a:lnTo>
                    <a:pt x="248031" y="45465"/>
                  </a:lnTo>
                  <a:lnTo>
                    <a:pt x="248031" y="61340"/>
                  </a:lnTo>
                  <a:lnTo>
                    <a:pt x="263906" y="61340"/>
                  </a:lnTo>
                  <a:lnTo>
                    <a:pt x="263906" y="45465"/>
                  </a:lnTo>
                  <a:close/>
                </a:path>
                <a:path w="1169035" h="107314">
                  <a:moveTo>
                    <a:pt x="232156" y="45465"/>
                  </a:moveTo>
                  <a:lnTo>
                    <a:pt x="216281" y="45465"/>
                  </a:lnTo>
                  <a:lnTo>
                    <a:pt x="216281" y="61340"/>
                  </a:lnTo>
                  <a:lnTo>
                    <a:pt x="232156" y="61340"/>
                  </a:lnTo>
                  <a:lnTo>
                    <a:pt x="232156" y="45465"/>
                  </a:lnTo>
                  <a:close/>
                </a:path>
                <a:path w="1169035" h="107314">
                  <a:moveTo>
                    <a:pt x="200406" y="45465"/>
                  </a:moveTo>
                  <a:lnTo>
                    <a:pt x="184531" y="45465"/>
                  </a:lnTo>
                  <a:lnTo>
                    <a:pt x="184531" y="61340"/>
                  </a:lnTo>
                  <a:lnTo>
                    <a:pt x="200406" y="61340"/>
                  </a:lnTo>
                  <a:lnTo>
                    <a:pt x="200406" y="45465"/>
                  </a:lnTo>
                  <a:close/>
                </a:path>
                <a:path w="1169035" h="107314">
                  <a:moveTo>
                    <a:pt x="168656" y="45465"/>
                  </a:moveTo>
                  <a:lnTo>
                    <a:pt x="152781" y="45465"/>
                  </a:lnTo>
                  <a:lnTo>
                    <a:pt x="152781" y="61340"/>
                  </a:lnTo>
                  <a:lnTo>
                    <a:pt x="168656" y="61340"/>
                  </a:lnTo>
                  <a:lnTo>
                    <a:pt x="168656" y="45465"/>
                  </a:lnTo>
                  <a:close/>
                </a:path>
                <a:path w="1169035" h="107314">
                  <a:moveTo>
                    <a:pt x="136906" y="45465"/>
                  </a:moveTo>
                  <a:lnTo>
                    <a:pt x="121031" y="45465"/>
                  </a:lnTo>
                  <a:lnTo>
                    <a:pt x="121031" y="61340"/>
                  </a:lnTo>
                  <a:lnTo>
                    <a:pt x="136906" y="61340"/>
                  </a:lnTo>
                  <a:lnTo>
                    <a:pt x="136906" y="45465"/>
                  </a:lnTo>
                  <a:close/>
                </a:path>
                <a:path w="1169035" h="107314">
                  <a:moveTo>
                    <a:pt x="105156" y="45465"/>
                  </a:moveTo>
                  <a:lnTo>
                    <a:pt x="89281" y="45465"/>
                  </a:lnTo>
                  <a:lnTo>
                    <a:pt x="89281" y="61340"/>
                  </a:lnTo>
                  <a:lnTo>
                    <a:pt x="105156" y="61340"/>
                  </a:lnTo>
                  <a:lnTo>
                    <a:pt x="105156" y="45465"/>
                  </a:lnTo>
                  <a:close/>
                </a:path>
                <a:path w="1169035" h="107314">
                  <a:moveTo>
                    <a:pt x="73406" y="45465"/>
                  </a:moveTo>
                  <a:lnTo>
                    <a:pt x="57531" y="45465"/>
                  </a:lnTo>
                  <a:lnTo>
                    <a:pt x="57531" y="61340"/>
                  </a:lnTo>
                  <a:lnTo>
                    <a:pt x="73406" y="61340"/>
                  </a:lnTo>
                  <a:lnTo>
                    <a:pt x="73406" y="45465"/>
                  </a:lnTo>
                  <a:close/>
                </a:path>
                <a:path w="1169035" h="107314">
                  <a:moveTo>
                    <a:pt x="41656" y="45465"/>
                  </a:moveTo>
                  <a:lnTo>
                    <a:pt x="25781" y="45465"/>
                  </a:lnTo>
                  <a:lnTo>
                    <a:pt x="25781" y="61340"/>
                  </a:lnTo>
                  <a:lnTo>
                    <a:pt x="41656" y="61340"/>
                  </a:lnTo>
                  <a:lnTo>
                    <a:pt x="41656" y="45465"/>
                  </a:lnTo>
                  <a:close/>
                </a:path>
                <a:path w="1169035" h="107314">
                  <a:moveTo>
                    <a:pt x="9906" y="45465"/>
                  </a:moveTo>
                  <a:lnTo>
                    <a:pt x="0" y="45465"/>
                  </a:lnTo>
                  <a:lnTo>
                    <a:pt x="0" y="61340"/>
                  </a:lnTo>
                  <a:lnTo>
                    <a:pt x="9906" y="61340"/>
                  </a:lnTo>
                  <a:lnTo>
                    <a:pt x="9906" y="45465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6183" y="2758440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20">
                  <a:moveTo>
                    <a:pt x="345186" y="0"/>
                  </a:moveTo>
                  <a:lnTo>
                    <a:pt x="298349" y="3164"/>
                  </a:lnTo>
                  <a:lnTo>
                    <a:pt x="253426" y="12382"/>
                  </a:lnTo>
                  <a:lnTo>
                    <a:pt x="210829" y="27241"/>
                  </a:lnTo>
                  <a:lnTo>
                    <a:pt x="170970" y="47328"/>
                  </a:lnTo>
                  <a:lnTo>
                    <a:pt x="134259" y="72231"/>
                  </a:lnTo>
                  <a:lnTo>
                    <a:pt x="101107" y="101536"/>
                  </a:lnTo>
                  <a:lnTo>
                    <a:pt x="71928" y="134831"/>
                  </a:lnTo>
                  <a:lnTo>
                    <a:pt x="47131" y="171703"/>
                  </a:lnTo>
                  <a:lnTo>
                    <a:pt x="27128" y="211740"/>
                  </a:lnTo>
                  <a:lnTo>
                    <a:pt x="12331" y="254529"/>
                  </a:lnTo>
                  <a:lnTo>
                    <a:pt x="3151" y="299656"/>
                  </a:lnTo>
                  <a:lnTo>
                    <a:pt x="0" y="346710"/>
                  </a:lnTo>
                  <a:lnTo>
                    <a:pt x="3151" y="393763"/>
                  </a:lnTo>
                  <a:lnTo>
                    <a:pt x="12331" y="438890"/>
                  </a:lnTo>
                  <a:lnTo>
                    <a:pt x="27128" y="481679"/>
                  </a:lnTo>
                  <a:lnTo>
                    <a:pt x="47131" y="521716"/>
                  </a:lnTo>
                  <a:lnTo>
                    <a:pt x="71928" y="558588"/>
                  </a:lnTo>
                  <a:lnTo>
                    <a:pt x="101107" y="591883"/>
                  </a:lnTo>
                  <a:lnTo>
                    <a:pt x="134259" y="621188"/>
                  </a:lnTo>
                  <a:lnTo>
                    <a:pt x="170970" y="646091"/>
                  </a:lnTo>
                  <a:lnTo>
                    <a:pt x="210829" y="666178"/>
                  </a:lnTo>
                  <a:lnTo>
                    <a:pt x="253426" y="681037"/>
                  </a:lnTo>
                  <a:lnTo>
                    <a:pt x="298349" y="690255"/>
                  </a:lnTo>
                  <a:lnTo>
                    <a:pt x="345186" y="693420"/>
                  </a:lnTo>
                  <a:lnTo>
                    <a:pt x="392022" y="690255"/>
                  </a:lnTo>
                  <a:lnTo>
                    <a:pt x="436945" y="681037"/>
                  </a:lnTo>
                  <a:lnTo>
                    <a:pt x="479542" y="666178"/>
                  </a:lnTo>
                  <a:lnTo>
                    <a:pt x="519401" y="646091"/>
                  </a:lnTo>
                  <a:lnTo>
                    <a:pt x="556112" y="621188"/>
                  </a:lnTo>
                  <a:lnTo>
                    <a:pt x="589264" y="591883"/>
                  </a:lnTo>
                  <a:lnTo>
                    <a:pt x="618443" y="558588"/>
                  </a:lnTo>
                  <a:lnTo>
                    <a:pt x="643240" y="521716"/>
                  </a:lnTo>
                  <a:lnTo>
                    <a:pt x="663243" y="481679"/>
                  </a:lnTo>
                  <a:lnTo>
                    <a:pt x="678040" y="438890"/>
                  </a:lnTo>
                  <a:lnTo>
                    <a:pt x="687220" y="393763"/>
                  </a:lnTo>
                  <a:lnTo>
                    <a:pt x="690371" y="346710"/>
                  </a:lnTo>
                  <a:lnTo>
                    <a:pt x="687220" y="299656"/>
                  </a:lnTo>
                  <a:lnTo>
                    <a:pt x="678040" y="254529"/>
                  </a:lnTo>
                  <a:lnTo>
                    <a:pt x="663243" y="211740"/>
                  </a:lnTo>
                  <a:lnTo>
                    <a:pt x="643240" y="171704"/>
                  </a:lnTo>
                  <a:lnTo>
                    <a:pt x="618443" y="134831"/>
                  </a:lnTo>
                  <a:lnTo>
                    <a:pt x="589264" y="101536"/>
                  </a:lnTo>
                  <a:lnTo>
                    <a:pt x="556112" y="72231"/>
                  </a:lnTo>
                  <a:lnTo>
                    <a:pt x="519401" y="47328"/>
                  </a:lnTo>
                  <a:lnTo>
                    <a:pt x="479542" y="27241"/>
                  </a:lnTo>
                  <a:lnTo>
                    <a:pt x="436945" y="12382"/>
                  </a:lnTo>
                  <a:lnTo>
                    <a:pt x="392022" y="3164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710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96183" y="2758440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20">
                  <a:moveTo>
                    <a:pt x="0" y="346710"/>
                  </a:moveTo>
                  <a:lnTo>
                    <a:pt x="3151" y="299656"/>
                  </a:lnTo>
                  <a:lnTo>
                    <a:pt x="12331" y="254529"/>
                  </a:lnTo>
                  <a:lnTo>
                    <a:pt x="27128" y="211740"/>
                  </a:lnTo>
                  <a:lnTo>
                    <a:pt x="47131" y="171703"/>
                  </a:lnTo>
                  <a:lnTo>
                    <a:pt x="71928" y="134831"/>
                  </a:lnTo>
                  <a:lnTo>
                    <a:pt x="101107" y="101536"/>
                  </a:lnTo>
                  <a:lnTo>
                    <a:pt x="134259" y="72231"/>
                  </a:lnTo>
                  <a:lnTo>
                    <a:pt x="170970" y="47328"/>
                  </a:lnTo>
                  <a:lnTo>
                    <a:pt x="210829" y="27241"/>
                  </a:lnTo>
                  <a:lnTo>
                    <a:pt x="253426" y="12382"/>
                  </a:lnTo>
                  <a:lnTo>
                    <a:pt x="298349" y="3164"/>
                  </a:lnTo>
                  <a:lnTo>
                    <a:pt x="345186" y="0"/>
                  </a:lnTo>
                  <a:lnTo>
                    <a:pt x="392022" y="3164"/>
                  </a:lnTo>
                  <a:lnTo>
                    <a:pt x="436945" y="12382"/>
                  </a:lnTo>
                  <a:lnTo>
                    <a:pt x="479542" y="27241"/>
                  </a:lnTo>
                  <a:lnTo>
                    <a:pt x="519401" y="47328"/>
                  </a:lnTo>
                  <a:lnTo>
                    <a:pt x="556112" y="72231"/>
                  </a:lnTo>
                  <a:lnTo>
                    <a:pt x="589264" y="101536"/>
                  </a:lnTo>
                  <a:lnTo>
                    <a:pt x="618443" y="134831"/>
                  </a:lnTo>
                  <a:lnTo>
                    <a:pt x="643240" y="171704"/>
                  </a:lnTo>
                  <a:lnTo>
                    <a:pt x="663243" y="211740"/>
                  </a:lnTo>
                  <a:lnTo>
                    <a:pt x="678040" y="254529"/>
                  </a:lnTo>
                  <a:lnTo>
                    <a:pt x="687220" y="299656"/>
                  </a:lnTo>
                  <a:lnTo>
                    <a:pt x="690371" y="346710"/>
                  </a:lnTo>
                  <a:lnTo>
                    <a:pt x="687220" y="393763"/>
                  </a:lnTo>
                  <a:lnTo>
                    <a:pt x="678040" y="438890"/>
                  </a:lnTo>
                  <a:lnTo>
                    <a:pt x="663243" y="481679"/>
                  </a:lnTo>
                  <a:lnTo>
                    <a:pt x="643240" y="521716"/>
                  </a:lnTo>
                  <a:lnTo>
                    <a:pt x="618443" y="558588"/>
                  </a:lnTo>
                  <a:lnTo>
                    <a:pt x="589264" y="591883"/>
                  </a:lnTo>
                  <a:lnTo>
                    <a:pt x="556112" y="621188"/>
                  </a:lnTo>
                  <a:lnTo>
                    <a:pt x="519401" y="646091"/>
                  </a:lnTo>
                  <a:lnTo>
                    <a:pt x="479542" y="666178"/>
                  </a:lnTo>
                  <a:lnTo>
                    <a:pt x="436945" y="681037"/>
                  </a:lnTo>
                  <a:lnTo>
                    <a:pt x="392022" y="690255"/>
                  </a:lnTo>
                  <a:lnTo>
                    <a:pt x="345186" y="693420"/>
                  </a:lnTo>
                  <a:lnTo>
                    <a:pt x="298349" y="690255"/>
                  </a:lnTo>
                  <a:lnTo>
                    <a:pt x="253426" y="681037"/>
                  </a:lnTo>
                  <a:lnTo>
                    <a:pt x="210829" y="666178"/>
                  </a:lnTo>
                  <a:lnTo>
                    <a:pt x="170970" y="646091"/>
                  </a:lnTo>
                  <a:lnTo>
                    <a:pt x="134259" y="621188"/>
                  </a:lnTo>
                  <a:lnTo>
                    <a:pt x="101107" y="591883"/>
                  </a:lnTo>
                  <a:lnTo>
                    <a:pt x="71928" y="558588"/>
                  </a:lnTo>
                  <a:lnTo>
                    <a:pt x="47131" y="521716"/>
                  </a:lnTo>
                  <a:lnTo>
                    <a:pt x="27128" y="481679"/>
                  </a:lnTo>
                  <a:lnTo>
                    <a:pt x="12331" y="438890"/>
                  </a:lnTo>
                  <a:lnTo>
                    <a:pt x="3151" y="393763"/>
                  </a:lnTo>
                  <a:lnTo>
                    <a:pt x="0" y="34671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295400" y="1932432"/>
            <a:ext cx="765175" cy="769620"/>
            <a:chOff x="1295400" y="1932432"/>
            <a:chExt cx="765175" cy="769620"/>
          </a:xfrm>
        </p:grpSpPr>
        <p:sp>
          <p:nvSpPr>
            <p:cNvPr id="9" name="object 9"/>
            <p:cNvSpPr/>
            <p:nvPr/>
          </p:nvSpPr>
          <p:spPr>
            <a:xfrm>
              <a:off x="1333500" y="1970532"/>
              <a:ext cx="688975" cy="693420"/>
            </a:xfrm>
            <a:custGeom>
              <a:avLst/>
              <a:gdLst/>
              <a:ahLst/>
              <a:cxnLst/>
              <a:rect l="l" t="t" r="r" b="b"/>
              <a:pathLst>
                <a:path w="688975" h="693419">
                  <a:moveTo>
                    <a:pt x="344424" y="0"/>
                  </a:moveTo>
                  <a:lnTo>
                    <a:pt x="297682" y="3164"/>
                  </a:lnTo>
                  <a:lnTo>
                    <a:pt x="252853" y="12382"/>
                  </a:lnTo>
                  <a:lnTo>
                    <a:pt x="210347" y="27241"/>
                  </a:lnTo>
                  <a:lnTo>
                    <a:pt x="170575" y="47328"/>
                  </a:lnTo>
                  <a:lnTo>
                    <a:pt x="133945" y="72231"/>
                  </a:lnTo>
                  <a:lnTo>
                    <a:pt x="100869" y="101536"/>
                  </a:lnTo>
                  <a:lnTo>
                    <a:pt x="71757" y="134831"/>
                  </a:lnTo>
                  <a:lnTo>
                    <a:pt x="47018" y="171703"/>
                  </a:lnTo>
                  <a:lnTo>
                    <a:pt x="27062" y="211740"/>
                  </a:lnTo>
                  <a:lnTo>
                    <a:pt x="12301" y="254529"/>
                  </a:lnTo>
                  <a:lnTo>
                    <a:pt x="3143" y="299656"/>
                  </a:lnTo>
                  <a:lnTo>
                    <a:pt x="0" y="346710"/>
                  </a:lnTo>
                  <a:lnTo>
                    <a:pt x="3143" y="393763"/>
                  </a:lnTo>
                  <a:lnTo>
                    <a:pt x="12301" y="438890"/>
                  </a:lnTo>
                  <a:lnTo>
                    <a:pt x="27062" y="481679"/>
                  </a:lnTo>
                  <a:lnTo>
                    <a:pt x="47018" y="521715"/>
                  </a:lnTo>
                  <a:lnTo>
                    <a:pt x="71757" y="558588"/>
                  </a:lnTo>
                  <a:lnTo>
                    <a:pt x="100869" y="591883"/>
                  </a:lnTo>
                  <a:lnTo>
                    <a:pt x="133945" y="621188"/>
                  </a:lnTo>
                  <a:lnTo>
                    <a:pt x="170575" y="646091"/>
                  </a:lnTo>
                  <a:lnTo>
                    <a:pt x="210347" y="666178"/>
                  </a:lnTo>
                  <a:lnTo>
                    <a:pt x="252853" y="681037"/>
                  </a:lnTo>
                  <a:lnTo>
                    <a:pt x="297682" y="690255"/>
                  </a:lnTo>
                  <a:lnTo>
                    <a:pt x="344424" y="693419"/>
                  </a:lnTo>
                  <a:lnTo>
                    <a:pt x="391165" y="690255"/>
                  </a:lnTo>
                  <a:lnTo>
                    <a:pt x="435994" y="681037"/>
                  </a:lnTo>
                  <a:lnTo>
                    <a:pt x="478500" y="666178"/>
                  </a:lnTo>
                  <a:lnTo>
                    <a:pt x="518272" y="646091"/>
                  </a:lnTo>
                  <a:lnTo>
                    <a:pt x="554902" y="621188"/>
                  </a:lnTo>
                  <a:lnTo>
                    <a:pt x="587978" y="591883"/>
                  </a:lnTo>
                  <a:lnTo>
                    <a:pt x="617090" y="558588"/>
                  </a:lnTo>
                  <a:lnTo>
                    <a:pt x="641829" y="521716"/>
                  </a:lnTo>
                  <a:lnTo>
                    <a:pt x="661785" y="481679"/>
                  </a:lnTo>
                  <a:lnTo>
                    <a:pt x="676546" y="438890"/>
                  </a:lnTo>
                  <a:lnTo>
                    <a:pt x="685704" y="393763"/>
                  </a:lnTo>
                  <a:lnTo>
                    <a:pt x="688848" y="346710"/>
                  </a:lnTo>
                  <a:lnTo>
                    <a:pt x="685704" y="299656"/>
                  </a:lnTo>
                  <a:lnTo>
                    <a:pt x="676546" y="254529"/>
                  </a:lnTo>
                  <a:lnTo>
                    <a:pt x="661785" y="211740"/>
                  </a:lnTo>
                  <a:lnTo>
                    <a:pt x="641829" y="171704"/>
                  </a:lnTo>
                  <a:lnTo>
                    <a:pt x="617090" y="134831"/>
                  </a:lnTo>
                  <a:lnTo>
                    <a:pt x="587978" y="101536"/>
                  </a:lnTo>
                  <a:lnTo>
                    <a:pt x="554902" y="72231"/>
                  </a:lnTo>
                  <a:lnTo>
                    <a:pt x="518272" y="47328"/>
                  </a:lnTo>
                  <a:lnTo>
                    <a:pt x="478500" y="27241"/>
                  </a:lnTo>
                  <a:lnTo>
                    <a:pt x="435994" y="12382"/>
                  </a:lnTo>
                  <a:lnTo>
                    <a:pt x="391165" y="3164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FF8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33500" y="1970532"/>
              <a:ext cx="688975" cy="693420"/>
            </a:xfrm>
            <a:custGeom>
              <a:avLst/>
              <a:gdLst/>
              <a:ahLst/>
              <a:cxnLst/>
              <a:rect l="l" t="t" r="r" b="b"/>
              <a:pathLst>
                <a:path w="688975" h="693419">
                  <a:moveTo>
                    <a:pt x="0" y="346710"/>
                  </a:moveTo>
                  <a:lnTo>
                    <a:pt x="3143" y="299656"/>
                  </a:lnTo>
                  <a:lnTo>
                    <a:pt x="12301" y="254529"/>
                  </a:lnTo>
                  <a:lnTo>
                    <a:pt x="27062" y="211740"/>
                  </a:lnTo>
                  <a:lnTo>
                    <a:pt x="47018" y="171703"/>
                  </a:lnTo>
                  <a:lnTo>
                    <a:pt x="71757" y="134831"/>
                  </a:lnTo>
                  <a:lnTo>
                    <a:pt x="100869" y="101536"/>
                  </a:lnTo>
                  <a:lnTo>
                    <a:pt x="133945" y="72231"/>
                  </a:lnTo>
                  <a:lnTo>
                    <a:pt x="170575" y="47328"/>
                  </a:lnTo>
                  <a:lnTo>
                    <a:pt x="210347" y="27241"/>
                  </a:lnTo>
                  <a:lnTo>
                    <a:pt x="252853" y="12382"/>
                  </a:lnTo>
                  <a:lnTo>
                    <a:pt x="297682" y="3164"/>
                  </a:lnTo>
                  <a:lnTo>
                    <a:pt x="344424" y="0"/>
                  </a:lnTo>
                  <a:lnTo>
                    <a:pt x="391165" y="3164"/>
                  </a:lnTo>
                  <a:lnTo>
                    <a:pt x="435994" y="12382"/>
                  </a:lnTo>
                  <a:lnTo>
                    <a:pt x="478500" y="27241"/>
                  </a:lnTo>
                  <a:lnTo>
                    <a:pt x="518272" y="47328"/>
                  </a:lnTo>
                  <a:lnTo>
                    <a:pt x="554902" y="72231"/>
                  </a:lnTo>
                  <a:lnTo>
                    <a:pt x="587978" y="101536"/>
                  </a:lnTo>
                  <a:lnTo>
                    <a:pt x="617090" y="134831"/>
                  </a:lnTo>
                  <a:lnTo>
                    <a:pt x="641829" y="171704"/>
                  </a:lnTo>
                  <a:lnTo>
                    <a:pt x="661785" y="211740"/>
                  </a:lnTo>
                  <a:lnTo>
                    <a:pt x="676546" y="254529"/>
                  </a:lnTo>
                  <a:lnTo>
                    <a:pt x="685704" y="299656"/>
                  </a:lnTo>
                  <a:lnTo>
                    <a:pt x="688848" y="346710"/>
                  </a:lnTo>
                  <a:lnTo>
                    <a:pt x="685704" y="393763"/>
                  </a:lnTo>
                  <a:lnTo>
                    <a:pt x="676546" y="438890"/>
                  </a:lnTo>
                  <a:lnTo>
                    <a:pt x="661785" y="481679"/>
                  </a:lnTo>
                  <a:lnTo>
                    <a:pt x="641829" y="521716"/>
                  </a:lnTo>
                  <a:lnTo>
                    <a:pt x="617090" y="558588"/>
                  </a:lnTo>
                  <a:lnTo>
                    <a:pt x="587978" y="591883"/>
                  </a:lnTo>
                  <a:lnTo>
                    <a:pt x="554902" y="621188"/>
                  </a:lnTo>
                  <a:lnTo>
                    <a:pt x="518272" y="646091"/>
                  </a:lnTo>
                  <a:lnTo>
                    <a:pt x="478500" y="666178"/>
                  </a:lnTo>
                  <a:lnTo>
                    <a:pt x="435994" y="681037"/>
                  </a:lnTo>
                  <a:lnTo>
                    <a:pt x="391165" y="690255"/>
                  </a:lnTo>
                  <a:lnTo>
                    <a:pt x="344424" y="693419"/>
                  </a:lnTo>
                  <a:lnTo>
                    <a:pt x="297682" y="690255"/>
                  </a:lnTo>
                  <a:lnTo>
                    <a:pt x="252853" y="681037"/>
                  </a:lnTo>
                  <a:lnTo>
                    <a:pt x="210347" y="666178"/>
                  </a:lnTo>
                  <a:lnTo>
                    <a:pt x="170575" y="646091"/>
                  </a:lnTo>
                  <a:lnTo>
                    <a:pt x="133945" y="621188"/>
                  </a:lnTo>
                  <a:lnTo>
                    <a:pt x="100869" y="591883"/>
                  </a:lnTo>
                  <a:lnTo>
                    <a:pt x="71757" y="558588"/>
                  </a:lnTo>
                  <a:lnTo>
                    <a:pt x="47018" y="521715"/>
                  </a:lnTo>
                  <a:lnTo>
                    <a:pt x="27062" y="481679"/>
                  </a:lnTo>
                  <a:lnTo>
                    <a:pt x="12301" y="438890"/>
                  </a:lnTo>
                  <a:lnTo>
                    <a:pt x="3143" y="393763"/>
                  </a:lnTo>
                  <a:lnTo>
                    <a:pt x="0" y="34671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75561" y="2186177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11623" y="1932432"/>
            <a:ext cx="767080" cy="769620"/>
            <a:chOff x="4611623" y="1932432"/>
            <a:chExt cx="767080" cy="769620"/>
          </a:xfrm>
        </p:grpSpPr>
        <p:sp>
          <p:nvSpPr>
            <p:cNvPr id="13" name="object 13"/>
            <p:cNvSpPr/>
            <p:nvPr/>
          </p:nvSpPr>
          <p:spPr>
            <a:xfrm>
              <a:off x="4649723" y="1970532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19">
                  <a:moveTo>
                    <a:pt x="345186" y="0"/>
                  </a:moveTo>
                  <a:lnTo>
                    <a:pt x="298349" y="3164"/>
                  </a:lnTo>
                  <a:lnTo>
                    <a:pt x="253426" y="12382"/>
                  </a:lnTo>
                  <a:lnTo>
                    <a:pt x="210829" y="27241"/>
                  </a:lnTo>
                  <a:lnTo>
                    <a:pt x="170970" y="47328"/>
                  </a:lnTo>
                  <a:lnTo>
                    <a:pt x="134259" y="72231"/>
                  </a:lnTo>
                  <a:lnTo>
                    <a:pt x="101107" y="101536"/>
                  </a:lnTo>
                  <a:lnTo>
                    <a:pt x="71928" y="134831"/>
                  </a:lnTo>
                  <a:lnTo>
                    <a:pt x="47131" y="171703"/>
                  </a:lnTo>
                  <a:lnTo>
                    <a:pt x="27128" y="211740"/>
                  </a:lnTo>
                  <a:lnTo>
                    <a:pt x="12331" y="254529"/>
                  </a:lnTo>
                  <a:lnTo>
                    <a:pt x="3151" y="299656"/>
                  </a:lnTo>
                  <a:lnTo>
                    <a:pt x="0" y="346710"/>
                  </a:lnTo>
                  <a:lnTo>
                    <a:pt x="3151" y="393763"/>
                  </a:lnTo>
                  <a:lnTo>
                    <a:pt x="12331" y="438890"/>
                  </a:lnTo>
                  <a:lnTo>
                    <a:pt x="27128" y="481679"/>
                  </a:lnTo>
                  <a:lnTo>
                    <a:pt x="47131" y="521715"/>
                  </a:lnTo>
                  <a:lnTo>
                    <a:pt x="71928" y="558588"/>
                  </a:lnTo>
                  <a:lnTo>
                    <a:pt x="101107" y="591883"/>
                  </a:lnTo>
                  <a:lnTo>
                    <a:pt x="134259" y="621188"/>
                  </a:lnTo>
                  <a:lnTo>
                    <a:pt x="170970" y="646091"/>
                  </a:lnTo>
                  <a:lnTo>
                    <a:pt x="210829" y="666178"/>
                  </a:lnTo>
                  <a:lnTo>
                    <a:pt x="253426" y="681037"/>
                  </a:lnTo>
                  <a:lnTo>
                    <a:pt x="298349" y="690255"/>
                  </a:lnTo>
                  <a:lnTo>
                    <a:pt x="345186" y="693419"/>
                  </a:lnTo>
                  <a:lnTo>
                    <a:pt x="392022" y="690255"/>
                  </a:lnTo>
                  <a:lnTo>
                    <a:pt x="436945" y="681037"/>
                  </a:lnTo>
                  <a:lnTo>
                    <a:pt x="479542" y="666178"/>
                  </a:lnTo>
                  <a:lnTo>
                    <a:pt x="519401" y="646091"/>
                  </a:lnTo>
                  <a:lnTo>
                    <a:pt x="556112" y="621188"/>
                  </a:lnTo>
                  <a:lnTo>
                    <a:pt x="589264" y="591883"/>
                  </a:lnTo>
                  <a:lnTo>
                    <a:pt x="618443" y="558588"/>
                  </a:lnTo>
                  <a:lnTo>
                    <a:pt x="643240" y="521716"/>
                  </a:lnTo>
                  <a:lnTo>
                    <a:pt x="663243" y="481679"/>
                  </a:lnTo>
                  <a:lnTo>
                    <a:pt x="678040" y="438890"/>
                  </a:lnTo>
                  <a:lnTo>
                    <a:pt x="687220" y="393763"/>
                  </a:lnTo>
                  <a:lnTo>
                    <a:pt x="690372" y="346710"/>
                  </a:lnTo>
                  <a:lnTo>
                    <a:pt x="687220" y="299656"/>
                  </a:lnTo>
                  <a:lnTo>
                    <a:pt x="678040" y="254529"/>
                  </a:lnTo>
                  <a:lnTo>
                    <a:pt x="663243" y="211740"/>
                  </a:lnTo>
                  <a:lnTo>
                    <a:pt x="643240" y="171704"/>
                  </a:lnTo>
                  <a:lnTo>
                    <a:pt x="618443" y="134831"/>
                  </a:lnTo>
                  <a:lnTo>
                    <a:pt x="589264" y="101536"/>
                  </a:lnTo>
                  <a:lnTo>
                    <a:pt x="556112" y="72231"/>
                  </a:lnTo>
                  <a:lnTo>
                    <a:pt x="519401" y="47328"/>
                  </a:lnTo>
                  <a:lnTo>
                    <a:pt x="479542" y="27241"/>
                  </a:lnTo>
                  <a:lnTo>
                    <a:pt x="436945" y="12382"/>
                  </a:lnTo>
                  <a:lnTo>
                    <a:pt x="392022" y="3164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FF8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49723" y="1970532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19">
                  <a:moveTo>
                    <a:pt x="0" y="346710"/>
                  </a:moveTo>
                  <a:lnTo>
                    <a:pt x="3151" y="299656"/>
                  </a:lnTo>
                  <a:lnTo>
                    <a:pt x="12331" y="254529"/>
                  </a:lnTo>
                  <a:lnTo>
                    <a:pt x="27128" y="211740"/>
                  </a:lnTo>
                  <a:lnTo>
                    <a:pt x="47131" y="171703"/>
                  </a:lnTo>
                  <a:lnTo>
                    <a:pt x="71928" y="134831"/>
                  </a:lnTo>
                  <a:lnTo>
                    <a:pt x="101107" y="101536"/>
                  </a:lnTo>
                  <a:lnTo>
                    <a:pt x="134259" y="72231"/>
                  </a:lnTo>
                  <a:lnTo>
                    <a:pt x="170970" y="47328"/>
                  </a:lnTo>
                  <a:lnTo>
                    <a:pt x="210829" y="27241"/>
                  </a:lnTo>
                  <a:lnTo>
                    <a:pt x="253426" y="12382"/>
                  </a:lnTo>
                  <a:lnTo>
                    <a:pt x="298349" y="3164"/>
                  </a:lnTo>
                  <a:lnTo>
                    <a:pt x="345186" y="0"/>
                  </a:lnTo>
                  <a:lnTo>
                    <a:pt x="392022" y="3164"/>
                  </a:lnTo>
                  <a:lnTo>
                    <a:pt x="436945" y="12382"/>
                  </a:lnTo>
                  <a:lnTo>
                    <a:pt x="479542" y="27241"/>
                  </a:lnTo>
                  <a:lnTo>
                    <a:pt x="519401" y="47328"/>
                  </a:lnTo>
                  <a:lnTo>
                    <a:pt x="556112" y="72231"/>
                  </a:lnTo>
                  <a:lnTo>
                    <a:pt x="589264" y="101536"/>
                  </a:lnTo>
                  <a:lnTo>
                    <a:pt x="618443" y="134831"/>
                  </a:lnTo>
                  <a:lnTo>
                    <a:pt x="643240" y="171704"/>
                  </a:lnTo>
                  <a:lnTo>
                    <a:pt x="663243" y="211740"/>
                  </a:lnTo>
                  <a:lnTo>
                    <a:pt x="678040" y="254529"/>
                  </a:lnTo>
                  <a:lnTo>
                    <a:pt x="687220" y="299656"/>
                  </a:lnTo>
                  <a:lnTo>
                    <a:pt x="690372" y="346710"/>
                  </a:lnTo>
                  <a:lnTo>
                    <a:pt x="687220" y="393763"/>
                  </a:lnTo>
                  <a:lnTo>
                    <a:pt x="678040" y="438890"/>
                  </a:lnTo>
                  <a:lnTo>
                    <a:pt x="663243" y="481679"/>
                  </a:lnTo>
                  <a:lnTo>
                    <a:pt x="643240" y="521716"/>
                  </a:lnTo>
                  <a:lnTo>
                    <a:pt x="618443" y="558588"/>
                  </a:lnTo>
                  <a:lnTo>
                    <a:pt x="589264" y="591883"/>
                  </a:lnTo>
                  <a:lnTo>
                    <a:pt x="556112" y="621188"/>
                  </a:lnTo>
                  <a:lnTo>
                    <a:pt x="519401" y="646091"/>
                  </a:lnTo>
                  <a:lnTo>
                    <a:pt x="479542" y="666178"/>
                  </a:lnTo>
                  <a:lnTo>
                    <a:pt x="436945" y="681037"/>
                  </a:lnTo>
                  <a:lnTo>
                    <a:pt x="392022" y="690255"/>
                  </a:lnTo>
                  <a:lnTo>
                    <a:pt x="345186" y="693419"/>
                  </a:lnTo>
                  <a:lnTo>
                    <a:pt x="298349" y="690255"/>
                  </a:lnTo>
                  <a:lnTo>
                    <a:pt x="253426" y="681037"/>
                  </a:lnTo>
                  <a:lnTo>
                    <a:pt x="210829" y="666178"/>
                  </a:lnTo>
                  <a:lnTo>
                    <a:pt x="170970" y="646091"/>
                  </a:lnTo>
                  <a:lnTo>
                    <a:pt x="134259" y="621188"/>
                  </a:lnTo>
                  <a:lnTo>
                    <a:pt x="101107" y="591883"/>
                  </a:lnTo>
                  <a:lnTo>
                    <a:pt x="71928" y="558588"/>
                  </a:lnTo>
                  <a:lnTo>
                    <a:pt x="47131" y="521715"/>
                  </a:lnTo>
                  <a:lnTo>
                    <a:pt x="27128" y="481679"/>
                  </a:lnTo>
                  <a:lnTo>
                    <a:pt x="12331" y="438890"/>
                  </a:lnTo>
                  <a:lnTo>
                    <a:pt x="3151" y="393763"/>
                  </a:lnTo>
                  <a:lnTo>
                    <a:pt x="0" y="34671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892421" y="2186177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87690" y="2685288"/>
            <a:ext cx="1214120" cy="500380"/>
            <a:chOff x="1587690" y="2685288"/>
            <a:chExt cx="1214120" cy="500380"/>
          </a:xfrm>
        </p:grpSpPr>
        <p:sp>
          <p:nvSpPr>
            <p:cNvPr id="17" name="object 17"/>
            <p:cNvSpPr/>
            <p:nvPr/>
          </p:nvSpPr>
          <p:spPr>
            <a:xfrm>
              <a:off x="1595627" y="2685288"/>
              <a:ext cx="0" cy="446405"/>
            </a:xfrm>
            <a:custGeom>
              <a:avLst/>
              <a:gdLst/>
              <a:ahLst/>
              <a:cxnLst/>
              <a:rect l="l" t="t" r="r" b="b"/>
              <a:pathLst>
                <a:path h="446405">
                  <a:moveTo>
                    <a:pt x="0" y="0"/>
                  </a:moveTo>
                  <a:lnTo>
                    <a:pt x="0" y="446278"/>
                  </a:lnTo>
                </a:path>
              </a:pathLst>
            </a:custGeom>
            <a:ln w="15875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95627" y="3078353"/>
              <a:ext cx="1206500" cy="107314"/>
            </a:xfrm>
            <a:custGeom>
              <a:avLst/>
              <a:gdLst/>
              <a:ahLst/>
              <a:cxnLst/>
              <a:rect l="l" t="t" r="r" b="b"/>
              <a:pathLst>
                <a:path w="1206500" h="107314">
                  <a:moveTo>
                    <a:pt x="1174369" y="53572"/>
                  </a:moveTo>
                  <a:lnTo>
                    <a:pt x="1110107" y="91059"/>
                  </a:lnTo>
                  <a:lnTo>
                    <a:pt x="1106297" y="93218"/>
                  </a:lnTo>
                  <a:lnTo>
                    <a:pt x="1105027" y="98171"/>
                  </a:lnTo>
                  <a:lnTo>
                    <a:pt x="1107186" y="101854"/>
                  </a:lnTo>
                  <a:lnTo>
                    <a:pt x="1109472" y="105664"/>
                  </a:lnTo>
                  <a:lnTo>
                    <a:pt x="1114298" y="106934"/>
                  </a:lnTo>
                  <a:lnTo>
                    <a:pt x="1118108" y="104775"/>
                  </a:lnTo>
                  <a:lnTo>
                    <a:pt x="1192504" y="61341"/>
                  </a:lnTo>
                  <a:lnTo>
                    <a:pt x="1174369" y="61341"/>
                  </a:lnTo>
                  <a:lnTo>
                    <a:pt x="1174369" y="53572"/>
                  </a:lnTo>
                  <a:close/>
                </a:path>
                <a:path w="1206500" h="107314">
                  <a:moveTo>
                    <a:pt x="1126744" y="45466"/>
                  </a:moveTo>
                  <a:lnTo>
                    <a:pt x="1110869" y="45466"/>
                  </a:lnTo>
                  <a:lnTo>
                    <a:pt x="1110869" y="61341"/>
                  </a:lnTo>
                  <a:lnTo>
                    <a:pt x="1126744" y="61341"/>
                  </a:lnTo>
                  <a:lnTo>
                    <a:pt x="1126744" y="45466"/>
                  </a:lnTo>
                  <a:close/>
                </a:path>
                <a:path w="1206500" h="107314">
                  <a:moveTo>
                    <a:pt x="1158494" y="45466"/>
                  </a:moveTo>
                  <a:lnTo>
                    <a:pt x="1142619" y="45466"/>
                  </a:lnTo>
                  <a:lnTo>
                    <a:pt x="1142619" y="61341"/>
                  </a:lnTo>
                  <a:lnTo>
                    <a:pt x="1158494" y="61341"/>
                  </a:lnTo>
                  <a:lnTo>
                    <a:pt x="1158494" y="45466"/>
                  </a:lnTo>
                  <a:close/>
                </a:path>
                <a:path w="1206500" h="107314">
                  <a:moveTo>
                    <a:pt x="1186307" y="46609"/>
                  </a:moveTo>
                  <a:lnTo>
                    <a:pt x="1174369" y="53572"/>
                  </a:lnTo>
                  <a:lnTo>
                    <a:pt x="1174369" y="61341"/>
                  </a:lnTo>
                  <a:lnTo>
                    <a:pt x="1190244" y="61341"/>
                  </a:lnTo>
                  <a:lnTo>
                    <a:pt x="1190244" y="60325"/>
                  </a:lnTo>
                  <a:lnTo>
                    <a:pt x="1186307" y="60325"/>
                  </a:lnTo>
                  <a:lnTo>
                    <a:pt x="1174731" y="53572"/>
                  </a:lnTo>
                  <a:lnTo>
                    <a:pt x="1186307" y="53572"/>
                  </a:lnTo>
                  <a:lnTo>
                    <a:pt x="1186307" y="46609"/>
                  </a:lnTo>
                  <a:close/>
                </a:path>
                <a:path w="1206500" h="107314">
                  <a:moveTo>
                    <a:pt x="1192287" y="45466"/>
                  </a:moveTo>
                  <a:lnTo>
                    <a:pt x="1190244" y="45466"/>
                  </a:lnTo>
                  <a:lnTo>
                    <a:pt x="1190244" y="61341"/>
                  </a:lnTo>
                  <a:lnTo>
                    <a:pt x="1192504" y="61341"/>
                  </a:lnTo>
                  <a:lnTo>
                    <a:pt x="1205810" y="53572"/>
                  </a:lnTo>
                  <a:lnTo>
                    <a:pt x="1206173" y="53572"/>
                  </a:lnTo>
                  <a:lnTo>
                    <a:pt x="1192287" y="45466"/>
                  </a:lnTo>
                  <a:close/>
                </a:path>
                <a:path w="1206500" h="107314">
                  <a:moveTo>
                    <a:pt x="1114298" y="0"/>
                  </a:moveTo>
                  <a:lnTo>
                    <a:pt x="1109472" y="1270"/>
                  </a:lnTo>
                  <a:lnTo>
                    <a:pt x="1107186" y="5080"/>
                  </a:lnTo>
                  <a:lnTo>
                    <a:pt x="1105027" y="8763"/>
                  </a:lnTo>
                  <a:lnTo>
                    <a:pt x="1106297" y="13716"/>
                  </a:lnTo>
                  <a:lnTo>
                    <a:pt x="1110107" y="15875"/>
                  </a:lnTo>
                  <a:lnTo>
                    <a:pt x="1186307" y="60325"/>
                  </a:lnTo>
                  <a:lnTo>
                    <a:pt x="1186307" y="53572"/>
                  </a:lnTo>
                  <a:lnTo>
                    <a:pt x="1174369" y="53572"/>
                  </a:lnTo>
                  <a:lnTo>
                    <a:pt x="1174369" y="45466"/>
                  </a:lnTo>
                  <a:lnTo>
                    <a:pt x="1192287" y="45466"/>
                  </a:lnTo>
                  <a:lnTo>
                    <a:pt x="1118108" y="2159"/>
                  </a:lnTo>
                  <a:lnTo>
                    <a:pt x="1114298" y="0"/>
                  </a:lnTo>
                  <a:close/>
                </a:path>
                <a:path w="1206500" h="107314">
                  <a:moveTo>
                    <a:pt x="1190244" y="46609"/>
                  </a:moveTo>
                  <a:lnTo>
                    <a:pt x="1186307" y="46609"/>
                  </a:lnTo>
                  <a:lnTo>
                    <a:pt x="1186307" y="60325"/>
                  </a:lnTo>
                  <a:lnTo>
                    <a:pt x="1190244" y="60325"/>
                  </a:lnTo>
                  <a:lnTo>
                    <a:pt x="1190244" y="46609"/>
                  </a:lnTo>
                  <a:close/>
                </a:path>
                <a:path w="1206500" h="107314">
                  <a:moveTo>
                    <a:pt x="1190244" y="45466"/>
                  </a:moveTo>
                  <a:lnTo>
                    <a:pt x="1174369" y="45466"/>
                  </a:lnTo>
                  <a:lnTo>
                    <a:pt x="1174369" y="53572"/>
                  </a:lnTo>
                  <a:lnTo>
                    <a:pt x="1186307" y="46609"/>
                  </a:lnTo>
                  <a:lnTo>
                    <a:pt x="1190244" y="46609"/>
                  </a:lnTo>
                  <a:lnTo>
                    <a:pt x="1190244" y="45466"/>
                  </a:lnTo>
                  <a:close/>
                </a:path>
                <a:path w="1206500" h="107314">
                  <a:moveTo>
                    <a:pt x="1094994" y="45466"/>
                  </a:moveTo>
                  <a:lnTo>
                    <a:pt x="1079119" y="45466"/>
                  </a:lnTo>
                  <a:lnTo>
                    <a:pt x="1079119" y="61341"/>
                  </a:lnTo>
                  <a:lnTo>
                    <a:pt x="1094994" y="61341"/>
                  </a:lnTo>
                  <a:lnTo>
                    <a:pt x="1094994" y="45466"/>
                  </a:lnTo>
                  <a:close/>
                </a:path>
                <a:path w="1206500" h="107314">
                  <a:moveTo>
                    <a:pt x="1063244" y="45466"/>
                  </a:moveTo>
                  <a:lnTo>
                    <a:pt x="1047369" y="45466"/>
                  </a:lnTo>
                  <a:lnTo>
                    <a:pt x="1047369" y="61341"/>
                  </a:lnTo>
                  <a:lnTo>
                    <a:pt x="1063244" y="61341"/>
                  </a:lnTo>
                  <a:lnTo>
                    <a:pt x="1063244" y="45466"/>
                  </a:lnTo>
                  <a:close/>
                </a:path>
                <a:path w="1206500" h="107314">
                  <a:moveTo>
                    <a:pt x="1031494" y="45466"/>
                  </a:moveTo>
                  <a:lnTo>
                    <a:pt x="1015619" y="45466"/>
                  </a:lnTo>
                  <a:lnTo>
                    <a:pt x="1015619" y="61341"/>
                  </a:lnTo>
                  <a:lnTo>
                    <a:pt x="1031494" y="61341"/>
                  </a:lnTo>
                  <a:lnTo>
                    <a:pt x="1031494" y="45466"/>
                  </a:lnTo>
                  <a:close/>
                </a:path>
                <a:path w="1206500" h="107314">
                  <a:moveTo>
                    <a:pt x="999744" y="45466"/>
                  </a:moveTo>
                  <a:lnTo>
                    <a:pt x="983869" y="45466"/>
                  </a:lnTo>
                  <a:lnTo>
                    <a:pt x="983869" y="61341"/>
                  </a:lnTo>
                  <a:lnTo>
                    <a:pt x="999744" y="61341"/>
                  </a:lnTo>
                  <a:lnTo>
                    <a:pt x="999744" y="45466"/>
                  </a:lnTo>
                  <a:close/>
                </a:path>
                <a:path w="1206500" h="107314">
                  <a:moveTo>
                    <a:pt x="967994" y="45466"/>
                  </a:moveTo>
                  <a:lnTo>
                    <a:pt x="952119" y="45466"/>
                  </a:lnTo>
                  <a:lnTo>
                    <a:pt x="952119" y="61341"/>
                  </a:lnTo>
                  <a:lnTo>
                    <a:pt x="967994" y="61341"/>
                  </a:lnTo>
                  <a:lnTo>
                    <a:pt x="967994" y="45466"/>
                  </a:lnTo>
                  <a:close/>
                </a:path>
                <a:path w="1206500" h="107314">
                  <a:moveTo>
                    <a:pt x="936244" y="45466"/>
                  </a:moveTo>
                  <a:lnTo>
                    <a:pt x="920369" y="45466"/>
                  </a:lnTo>
                  <a:lnTo>
                    <a:pt x="920369" y="61341"/>
                  </a:lnTo>
                  <a:lnTo>
                    <a:pt x="936244" y="61341"/>
                  </a:lnTo>
                  <a:lnTo>
                    <a:pt x="936244" y="45466"/>
                  </a:lnTo>
                  <a:close/>
                </a:path>
                <a:path w="1206500" h="107314">
                  <a:moveTo>
                    <a:pt x="904494" y="45466"/>
                  </a:moveTo>
                  <a:lnTo>
                    <a:pt x="888619" y="45466"/>
                  </a:lnTo>
                  <a:lnTo>
                    <a:pt x="888619" y="61341"/>
                  </a:lnTo>
                  <a:lnTo>
                    <a:pt x="904494" y="61341"/>
                  </a:lnTo>
                  <a:lnTo>
                    <a:pt x="904494" y="45466"/>
                  </a:lnTo>
                  <a:close/>
                </a:path>
                <a:path w="1206500" h="107314">
                  <a:moveTo>
                    <a:pt x="872744" y="45466"/>
                  </a:moveTo>
                  <a:lnTo>
                    <a:pt x="856869" y="45466"/>
                  </a:lnTo>
                  <a:lnTo>
                    <a:pt x="856869" y="61341"/>
                  </a:lnTo>
                  <a:lnTo>
                    <a:pt x="872744" y="61341"/>
                  </a:lnTo>
                  <a:lnTo>
                    <a:pt x="872744" y="45466"/>
                  </a:lnTo>
                  <a:close/>
                </a:path>
                <a:path w="1206500" h="107314">
                  <a:moveTo>
                    <a:pt x="840994" y="45466"/>
                  </a:moveTo>
                  <a:lnTo>
                    <a:pt x="825119" y="45466"/>
                  </a:lnTo>
                  <a:lnTo>
                    <a:pt x="825119" y="61341"/>
                  </a:lnTo>
                  <a:lnTo>
                    <a:pt x="840994" y="61341"/>
                  </a:lnTo>
                  <a:lnTo>
                    <a:pt x="840994" y="45466"/>
                  </a:lnTo>
                  <a:close/>
                </a:path>
                <a:path w="1206500" h="107314">
                  <a:moveTo>
                    <a:pt x="809244" y="45466"/>
                  </a:moveTo>
                  <a:lnTo>
                    <a:pt x="793369" y="45466"/>
                  </a:lnTo>
                  <a:lnTo>
                    <a:pt x="793369" y="61341"/>
                  </a:lnTo>
                  <a:lnTo>
                    <a:pt x="809244" y="61341"/>
                  </a:lnTo>
                  <a:lnTo>
                    <a:pt x="809244" y="45466"/>
                  </a:lnTo>
                  <a:close/>
                </a:path>
                <a:path w="1206500" h="107314">
                  <a:moveTo>
                    <a:pt x="777494" y="45466"/>
                  </a:moveTo>
                  <a:lnTo>
                    <a:pt x="761619" y="45466"/>
                  </a:lnTo>
                  <a:lnTo>
                    <a:pt x="761619" y="61341"/>
                  </a:lnTo>
                  <a:lnTo>
                    <a:pt x="777494" y="61341"/>
                  </a:lnTo>
                  <a:lnTo>
                    <a:pt x="777494" y="45466"/>
                  </a:lnTo>
                  <a:close/>
                </a:path>
                <a:path w="1206500" h="107314">
                  <a:moveTo>
                    <a:pt x="745744" y="45466"/>
                  </a:moveTo>
                  <a:lnTo>
                    <a:pt x="729869" y="45466"/>
                  </a:lnTo>
                  <a:lnTo>
                    <a:pt x="729869" y="61341"/>
                  </a:lnTo>
                  <a:lnTo>
                    <a:pt x="745744" y="61341"/>
                  </a:lnTo>
                  <a:lnTo>
                    <a:pt x="745744" y="45466"/>
                  </a:lnTo>
                  <a:close/>
                </a:path>
                <a:path w="1206500" h="107314">
                  <a:moveTo>
                    <a:pt x="713994" y="45466"/>
                  </a:moveTo>
                  <a:lnTo>
                    <a:pt x="698119" y="45466"/>
                  </a:lnTo>
                  <a:lnTo>
                    <a:pt x="698119" y="61341"/>
                  </a:lnTo>
                  <a:lnTo>
                    <a:pt x="713994" y="61341"/>
                  </a:lnTo>
                  <a:lnTo>
                    <a:pt x="713994" y="45466"/>
                  </a:lnTo>
                  <a:close/>
                </a:path>
                <a:path w="1206500" h="107314">
                  <a:moveTo>
                    <a:pt x="682244" y="45466"/>
                  </a:moveTo>
                  <a:lnTo>
                    <a:pt x="666369" y="45466"/>
                  </a:lnTo>
                  <a:lnTo>
                    <a:pt x="666369" y="61341"/>
                  </a:lnTo>
                  <a:lnTo>
                    <a:pt x="682244" y="61341"/>
                  </a:lnTo>
                  <a:lnTo>
                    <a:pt x="682244" y="45466"/>
                  </a:lnTo>
                  <a:close/>
                </a:path>
                <a:path w="1206500" h="107314">
                  <a:moveTo>
                    <a:pt x="650494" y="45466"/>
                  </a:moveTo>
                  <a:lnTo>
                    <a:pt x="634619" y="45466"/>
                  </a:lnTo>
                  <a:lnTo>
                    <a:pt x="634619" y="61341"/>
                  </a:lnTo>
                  <a:lnTo>
                    <a:pt x="650494" y="61341"/>
                  </a:lnTo>
                  <a:lnTo>
                    <a:pt x="650494" y="45466"/>
                  </a:lnTo>
                  <a:close/>
                </a:path>
                <a:path w="1206500" h="107314">
                  <a:moveTo>
                    <a:pt x="618744" y="45466"/>
                  </a:moveTo>
                  <a:lnTo>
                    <a:pt x="602869" y="45466"/>
                  </a:lnTo>
                  <a:lnTo>
                    <a:pt x="602869" y="61341"/>
                  </a:lnTo>
                  <a:lnTo>
                    <a:pt x="618744" y="61341"/>
                  </a:lnTo>
                  <a:lnTo>
                    <a:pt x="618744" y="45466"/>
                  </a:lnTo>
                  <a:close/>
                </a:path>
                <a:path w="1206500" h="107314">
                  <a:moveTo>
                    <a:pt x="586994" y="45466"/>
                  </a:moveTo>
                  <a:lnTo>
                    <a:pt x="571119" y="45466"/>
                  </a:lnTo>
                  <a:lnTo>
                    <a:pt x="571119" y="61341"/>
                  </a:lnTo>
                  <a:lnTo>
                    <a:pt x="586994" y="61341"/>
                  </a:lnTo>
                  <a:lnTo>
                    <a:pt x="586994" y="45466"/>
                  </a:lnTo>
                  <a:close/>
                </a:path>
                <a:path w="1206500" h="107314">
                  <a:moveTo>
                    <a:pt x="555244" y="45466"/>
                  </a:moveTo>
                  <a:lnTo>
                    <a:pt x="539369" y="45466"/>
                  </a:lnTo>
                  <a:lnTo>
                    <a:pt x="539369" y="61341"/>
                  </a:lnTo>
                  <a:lnTo>
                    <a:pt x="555244" y="61341"/>
                  </a:lnTo>
                  <a:lnTo>
                    <a:pt x="555244" y="45466"/>
                  </a:lnTo>
                  <a:close/>
                </a:path>
                <a:path w="1206500" h="107314">
                  <a:moveTo>
                    <a:pt x="523494" y="45466"/>
                  </a:moveTo>
                  <a:lnTo>
                    <a:pt x="507619" y="45466"/>
                  </a:lnTo>
                  <a:lnTo>
                    <a:pt x="507619" y="61341"/>
                  </a:lnTo>
                  <a:lnTo>
                    <a:pt x="523494" y="61341"/>
                  </a:lnTo>
                  <a:lnTo>
                    <a:pt x="523494" y="45466"/>
                  </a:lnTo>
                  <a:close/>
                </a:path>
                <a:path w="1206500" h="107314">
                  <a:moveTo>
                    <a:pt x="491744" y="45466"/>
                  </a:moveTo>
                  <a:lnTo>
                    <a:pt x="475869" y="45466"/>
                  </a:lnTo>
                  <a:lnTo>
                    <a:pt x="475869" y="61341"/>
                  </a:lnTo>
                  <a:lnTo>
                    <a:pt x="491744" y="61341"/>
                  </a:lnTo>
                  <a:lnTo>
                    <a:pt x="491744" y="45466"/>
                  </a:lnTo>
                  <a:close/>
                </a:path>
                <a:path w="1206500" h="107314">
                  <a:moveTo>
                    <a:pt x="459994" y="45466"/>
                  </a:moveTo>
                  <a:lnTo>
                    <a:pt x="444119" y="45466"/>
                  </a:lnTo>
                  <a:lnTo>
                    <a:pt x="444119" y="61341"/>
                  </a:lnTo>
                  <a:lnTo>
                    <a:pt x="459994" y="61341"/>
                  </a:lnTo>
                  <a:lnTo>
                    <a:pt x="459994" y="45466"/>
                  </a:lnTo>
                  <a:close/>
                </a:path>
                <a:path w="1206500" h="107314">
                  <a:moveTo>
                    <a:pt x="428244" y="45466"/>
                  </a:moveTo>
                  <a:lnTo>
                    <a:pt x="412369" y="45466"/>
                  </a:lnTo>
                  <a:lnTo>
                    <a:pt x="412369" y="61341"/>
                  </a:lnTo>
                  <a:lnTo>
                    <a:pt x="428244" y="61341"/>
                  </a:lnTo>
                  <a:lnTo>
                    <a:pt x="428244" y="45466"/>
                  </a:lnTo>
                  <a:close/>
                </a:path>
                <a:path w="1206500" h="107314">
                  <a:moveTo>
                    <a:pt x="396494" y="45466"/>
                  </a:moveTo>
                  <a:lnTo>
                    <a:pt x="380619" y="45466"/>
                  </a:lnTo>
                  <a:lnTo>
                    <a:pt x="380619" y="61341"/>
                  </a:lnTo>
                  <a:lnTo>
                    <a:pt x="396494" y="61341"/>
                  </a:lnTo>
                  <a:lnTo>
                    <a:pt x="396494" y="45466"/>
                  </a:lnTo>
                  <a:close/>
                </a:path>
                <a:path w="1206500" h="107314">
                  <a:moveTo>
                    <a:pt x="364744" y="45466"/>
                  </a:moveTo>
                  <a:lnTo>
                    <a:pt x="348869" y="45466"/>
                  </a:lnTo>
                  <a:lnTo>
                    <a:pt x="348869" y="61341"/>
                  </a:lnTo>
                  <a:lnTo>
                    <a:pt x="364744" y="61341"/>
                  </a:lnTo>
                  <a:lnTo>
                    <a:pt x="364744" y="45466"/>
                  </a:lnTo>
                  <a:close/>
                </a:path>
                <a:path w="1206500" h="107314">
                  <a:moveTo>
                    <a:pt x="332994" y="45466"/>
                  </a:moveTo>
                  <a:lnTo>
                    <a:pt x="317119" y="45466"/>
                  </a:lnTo>
                  <a:lnTo>
                    <a:pt x="317119" y="61341"/>
                  </a:lnTo>
                  <a:lnTo>
                    <a:pt x="332994" y="61341"/>
                  </a:lnTo>
                  <a:lnTo>
                    <a:pt x="332994" y="45466"/>
                  </a:lnTo>
                  <a:close/>
                </a:path>
                <a:path w="1206500" h="107314">
                  <a:moveTo>
                    <a:pt x="301244" y="45466"/>
                  </a:moveTo>
                  <a:lnTo>
                    <a:pt x="285369" y="45466"/>
                  </a:lnTo>
                  <a:lnTo>
                    <a:pt x="285369" y="61341"/>
                  </a:lnTo>
                  <a:lnTo>
                    <a:pt x="301244" y="61341"/>
                  </a:lnTo>
                  <a:lnTo>
                    <a:pt x="301244" y="45466"/>
                  </a:lnTo>
                  <a:close/>
                </a:path>
                <a:path w="1206500" h="107314">
                  <a:moveTo>
                    <a:pt x="269494" y="45466"/>
                  </a:moveTo>
                  <a:lnTo>
                    <a:pt x="253619" y="45466"/>
                  </a:lnTo>
                  <a:lnTo>
                    <a:pt x="253619" y="61341"/>
                  </a:lnTo>
                  <a:lnTo>
                    <a:pt x="269494" y="61341"/>
                  </a:lnTo>
                  <a:lnTo>
                    <a:pt x="269494" y="45466"/>
                  </a:lnTo>
                  <a:close/>
                </a:path>
                <a:path w="1206500" h="107314">
                  <a:moveTo>
                    <a:pt x="237744" y="45466"/>
                  </a:moveTo>
                  <a:lnTo>
                    <a:pt x="221869" y="45466"/>
                  </a:lnTo>
                  <a:lnTo>
                    <a:pt x="221869" y="61341"/>
                  </a:lnTo>
                  <a:lnTo>
                    <a:pt x="237744" y="61341"/>
                  </a:lnTo>
                  <a:lnTo>
                    <a:pt x="237744" y="45466"/>
                  </a:lnTo>
                  <a:close/>
                </a:path>
                <a:path w="1206500" h="107314">
                  <a:moveTo>
                    <a:pt x="205994" y="45466"/>
                  </a:moveTo>
                  <a:lnTo>
                    <a:pt x="190119" y="45466"/>
                  </a:lnTo>
                  <a:lnTo>
                    <a:pt x="190119" y="61341"/>
                  </a:lnTo>
                  <a:lnTo>
                    <a:pt x="205994" y="61341"/>
                  </a:lnTo>
                  <a:lnTo>
                    <a:pt x="205994" y="45466"/>
                  </a:lnTo>
                  <a:close/>
                </a:path>
                <a:path w="1206500" h="107314">
                  <a:moveTo>
                    <a:pt x="174244" y="45466"/>
                  </a:moveTo>
                  <a:lnTo>
                    <a:pt x="158369" y="45466"/>
                  </a:lnTo>
                  <a:lnTo>
                    <a:pt x="158369" y="61341"/>
                  </a:lnTo>
                  <a:lnTo>
                    <a:pt x="174244" y="61341"/>
                  </a:lnTo>
                  <a:lnTo>
                    <a:pt x="174244" y="45466"/>
                  </a:lnTo>
                  <a:close/>
                </a:path>
                <a:path w="1206500" h="107314">
                  <a:moveTo>
                    <a:pt x="142494" y="45466"/>
                  </a:moveTo>
                  <a:lnTo>
                    <a:pt x="126619" y="45466"/>
                  </a:lnTo>
                  <a:lnTo>
                    <a:pt x="126619" y="61341"/>
                  </a:lnTo>
                  <a:lnTo>
                    <a:pt x="142494" y="61341"/>
                  </a:lnTo>
                  <a:lnTo>
                    <a:pt x="142494" y="45466"/>
                  </a:lnTo>
                  <a:close/>
                </a:path>
                <a:path w="1206500" h="107314">
                  <a:moveTo>
                    <a:pt x="110744" y="45466"/>
                  </a:moveTo>
                  <a:lnTo>
                    <a:pt x="94869" y="45466"/>
                  </a:lnTo>
                  <a:lnTo>
                    <a:pt x="94869" y="61341"/>
                  </a:lnTo>
                  <a:lnTo>
                    <a:pt x="110744" y="61341"/>
                  </a:lnTo>
                  <a:lnTo>
                    <a:pt x="110744" y="45466"/>
                  </a:lnTo>
                  <a:close/>
                </a:path>
                <a:path w="1206500" h="107314">
                  <a:moveTo>
                    <a:pt x="78994" y="45466"/>
                  </a:moveTo>
                  <a:lnTo>
                    <a:pt x="63119" y="45466"/>
                  </a:lnTo>
                  <a:lnTo>
                    <a:pt x="63119" y="61341"/>
                  </a:lnTo>
                  <a:lnTo>
                    <a:pt x="78994" y="61341"/>
                  </a:lnTo>
                  <a:lnTo>
                    <a:pt x="78994" y="45466"/>
                  </a:lnTo>
                  <a:close/>
                </a:path>
                <a:path w="1206500" h="107314">
                  <a:moveTo>
                    <a:pt x="47244" y="45466"/>
                  </a:moveTo>
                  <a:lnTo>
                    <a:pt x="31369" y="45466"/>
                  </a:lnTo>
                  <a:lnTo>
                    <a:pt x="31369" y="61341"/>
                  </a:lnTo>
                  <a:lnTo>
                    <a:pt x="47244" y="61341"/>
                  </a:lnTo>
                  <a:lnTo>
                    <a:pt x="47244" y="45466"/>
                  </a:lnTo>
                  <a:close/>
                </a:path>
                <a:path w="1206500" h="107314">
                  <a:moveTo>
                    <a:pt x="15493" y="45466"/>
                  </a:moveTo>
                  <a:lnTo>
                    <a:pt x="0" y="45466"/>
                  </a:lnTo>
                  <a:lnTo>
                    <a:pt x="0" y="61341"/>
                  </a:lnTo>
                  <a:lnTo>
                    <a:pt x="15493" y="61341"/>
                  </a:lnTo>
                  <a:lnTo>
                    <a:pt x="15493" y="45466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75843" y="1326007"/>
            <a:ext cx="2149475" cy="582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009CDE"/>
                </a:solidFill>
                <a:latin typeface="Calibri"/>
                <a:cs typeface="Calibri"/>
              </a:rPr>
              <a:t>CREATE</a:t>
            </a:r>
            <a:r>
              <a:rPr sz="1400" b="1" spc="-4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IN</a:t>
            </a:r>
            <a:r>
              <a:rPr sz="1400" b="1" spc="-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SANDBOX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Initial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case/module/execution </a:t>
            </a:r>
            <a:r>
              <a:rPr sz="1100" dirty="0">
                <a:latin typeface="Georgia"/>
                <a:cs typeface="Georgia"/>
              </a:rPr>
              <a:t>list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created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sandbox</a:t>
            </a:r>
            <a:r>
              <a:rPr sz="1100" spc="-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folder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45178" y="1257045"/>
            <a:ext cx="2875915" cy="750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009CDE"/>
                </a:solidFill>
                <a:latin typeface="Calibri"/>
                <a:cs typeface="Calibri"/>
              </a:rPr>
              <a:t>INTEGRATE</a:t>
            </a:r>
            <a:r>
              <a:rPr sz="1400" b="1" spc="-3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APPROVED</a:t>
            </a:r>
            <a:r>
              <a:rPr sz="1400" b="1" spc="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TEST</a:t>
            </a:r>
            <a:r>
              <a:rPr sz="1400" b="1" spc="-20" dirty="0">
                <a:solidFill>
                  <a:srgbClr val="009CDE"/>
                </a:solidFill>
                <a:latin typeface="Calibri"/>
                <a:cs typeface="Calibri"/>
              </a:rPr>
              <a:t> CASES</a:t>
            </a:r>
            <a:endParaRPr sz="1400">
              <a:latin typeface="Calibri"/>
              <a:cs typeface="Calibri"/>
            </a:endParaRPr>
          </a:p>
          <a:p>
            <a:pPr marL="12700" marR="5080" indent="1905" algn="ctr">
              <a:lnSpc>
                <a:spcPct val="100000"/>
              </a:lnSpc>
              <a:spcBef>
                <a:spcPts val="60"/>
              </a:spcBef>
            </a:pPr>
            <a:r>
              <a:rPr sz="1100" dirty="0">
                <a:latin typeface="Georgia"/>
                <a:cs typeface="Georgia"/>
              </a:rPr>
              <a:t>Automation</a:t>
            </a:r>
            <a:r>
              <a:rPr sz="1100" spc="-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Lead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marks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Status</a:t>
            </a:r>
            <a:r>
              <a:rPr sz="1100" b="1" spc="-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property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COMPLETE.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Approved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cases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linked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20" dirty="0">
                <a:latin typeface="Georgia"/>
                <a:cs typeface="Georgia"/>
              </a:rPr>
              <a:t> ALM.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74494" y="3512311"/>
            <a:ext cx="2352040" cy="1085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TEST</a:t>
            </a:r>
            <a:r>
              <a:rPr sz="1400" b="1" spc="-3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CASE</a:t>
            </a:r>
            <a:r>
              <a:rPr sz="1400" b="1" spc="-2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4F70"/>
                </a:solidFill>
                <a:latin typeface="Calibri"/>
                <a:cs typeface="Calibri"/>
              </a:rPr>
              <a:t>REVIEW</a:t>
            </a:r>
            <a:endParaRPr sz="14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65"/>
              </a:spcBef>
            </a:pPr>
            <a:r>
              <a:rPr sz="1100" spc="-10" dirty="0">
                <a:latin typeface="Georgia"/>
                <a:cs typeface="Georgia"/>
              </a:rPr>
              <a:t>Lead/approver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reviews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artifacts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moves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from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ready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for </a:t>
            </a:r>
            <a:r>
              <a:rPr sz="1100" dirty="0">
                <a:latin typeface="Georgia"/>
                <a:cs typeface="Georgia"/>
              </a:rPr>
              <a:t>review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folder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completed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folder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approved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marks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rejected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rejected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31509" y="3498341"/>
            <a:ext cx="2686050" cy="58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400" b="1" spc="-30" dirty="0">
                <a:solidFill>
                  <a:srgbClr val="004F70"/>
                </a:solidFill>
                <a:latin typeface="Calibri"/>
                <a:cs typeface="Calibri"/>
              </a:rPr>
              <a:t>VALIDATE</a:t>
            </a:r>
            <a:r>
              <a:rPr sz="1400" b="1" spc="-3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TEST</a:t>
            </a:r>
            <a:r>
              <a:rPr sz="1400" b="1" spc="-3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CASES</a:t>
            </a:r>
            <a:r>
              <a:rPr sz="1400" b="1" spc="-2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WITH</a:t>
            </a:r>
            <a:r>
              <a:rPr sz="1400" b="1" spc="-2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4F70"/>
                </a:solidFill>
                <a:latin typeface="Calibri"/>
                <a:cs typeface="Calibri"/>
              </a:rPr>
              <a:t>DEX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1100" dirty="0">
                <a:latin typeface="Georgia"/>
                <a:cs typeface="Georgia"/>
              </a:rPr>
              <a:t>Validate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cases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execution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list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with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sz="1100" spc="-10" dirty="0">
                <a:latin typeface="Georgia"/>
                <a:cs typeface="Georgia"/>
              </a:rPr>
              <a:t>Distributed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Execution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39770" y="2974340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80988" y="2720339"/>
            <a:ext cx="767080" cy="769620"/>
            <a:chOff x="6380988" y="2720339"/>
            <a:chExt cx="767080" cy="769620"/>
          </a:xfrm>
        </p:grpSpPr>
        <p:sp>
          <p:nvSpPr>
            <p:cNvPr id="25" name="object 25"/>
            <p:cNvSpPr/>
            <p:nvPr/>
          </p:nvSpPr>
          <p:spPr>
            <a:xfrm>
              <a:off x="6419088" y="2758439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20">
                  <a:moveTo>
                    <a:pt x="345186" y="0"/>
                  </a:moveTo>
                  <a:lnTo>
                    <a:pt x="298349" y="3164"/>
                  </a:lnTo>
                  <a:lnTo>
                    <a:pt x="253426" y="12382"/>
                  </a:lnTo>
                  <a:lnTo>
                    <a:pt x="210829" y="27241"/>
                  </a:lnTo>
                  <a:lnTo>
                    <a:pt x="170970" y="47328"/>
                  </a:lnTo>
                  <a:lnTo>
                    <a:pt x="134259" y="72231"/>
                  </a:lnTo>
                  <a:lnTo>
                    <a:pt x="101107" y="101536"/>
                  </a:lnTo>
                  <a:lnTo>
                    <a:pt x="71928" y="134831"/>
                  </a:lnTo>
                  <a:lnTo>
                    <a:pt x="47131" y="171703"/>
                  </a:lnTo>
                  <a:lnTo>
                    <a:pt x="27128" y="211740"/>
                  </a:lnTo>
                  <a:lnTo>
                    <a:pt x="12331" y="254529"/>
                  </a:lnTo>
                  <a:lnTo>
                    <a:pt x="3151" y="299656"/>
                  </a:lnTo>
                  <a:lnTo>
                    <a:pt x="0" y="346710"/>
                  </a:lnTo>
                  <a:lnTo>
                    <a:pt x="3151" y="393763"/>
                  </a:lnTo>
                  <a:lnTo>
                    <a:pt x="12331" y="438890"/>
                  </a:lnTo>
                  <a:lnTo>
                    <a:pt x="27128" y="481679"/>
                  </a:lnTo>
                  <a:lnTo>
                    <a:pt x="47131" y="521716"/>
                  </a:lnTo>
                  <a:lnTo>
                    <a:pt x="71928" y="558588"/>
                  </a:lnTo>
                  <a:lnTo>
                    <a:pt x="101107" y="591883"/>
                  </a:lnTo>
                  <a:lnTo>
                    <a:pt x="134259" y="621188"/>
                  </a:lnTo>
                  <a:lnTo>
                    <a:pt x="170970" y="646091"/>
                  </a:lnTo>
                  <a:lnTo>
                    <a:pt x="210829" y="666178"/>
                  </a:lnTo>
                  <a:lnTo>
                    <a:pt x="253426" y="681037"/>
                  </a:lnTo>
                  <a:lnTo>
                    <a:pt x="298349" y="690255"/>
                  </a:lnTo>
                  <a:lnTo>
                    <a:pt x="345186" y="693420"/>
                  </a:lnTo>
                  <a:lnTo>
                    <a:pt x="392022" y="690255"/>
                  </a:lnTo>
                  <a:lnTo>
                    <a:pt x="436945" y="681037"/>
                  </a:lnTo>
                  <a:lnTo>
                    <a:pt x="479542" y="666178"/>
                  </a:lnTo>
                  <a:lnTo>
                    <a:pt x="519401" y="646091"/>
                  </a:lnTo>
                  <a:lnTo>
                    <a:pt x="556112" y="621188"/>
                  </a:lnTo>
                  <a:lnTo>
                    <a:pt x="589264" y="591883"/>
                  </a:lnTo>
                  <a:lnTo>
                    <a:pt x="618443" y="558588"/>
                  </a:lnTo>
                  <a:lnTo>
                    <a:pt x="643240" y="521716"/>
                  </a:lnTo>
                  <a:lnTo>
                    <a:pt x="663243" y="481679"/>
                  </a:lnTo>
                  <a:lnTo>
                    <a:pt x="678040" y="438890"/>
                  </a:lnTo>
                  <a:lnTo>
                    <a:pt x="687220" y="393763"/>
                  </a:lnTo>
                  <a:lnTo>
                    <a:pt x="690371" y="346710"/>
                  </a:lnTo>
                  <a:lnTo>
                    <a:pt x="687220" y="299656"/>
                  </a:lnTo>
                  <a:lnTo>
                    <a:pt x="678040" y="254529"/>
                  </a:lnTo>
                  <a:lnTo>
                    <a:pt x="663243" y="211740"/>
                  </a:lnTo>
                  <a:lnTo>
                    <a:pt x="643240" y="171704"/>
                  </a:lnTo>
                  <a:lnTo>
                    <a:pt x="618443" y="134831"/>
                  </a:lnTo>
                  <a:lnTo>
                    <a:pt x="589264" y="101536"/>
                  </a:lnTo>
                  <a:lnTo>
                    <a:pt x="556112" y="72231"/>
                  </a:lnTo>
                  <a:lnTo>
                    <a:pt x="519401" y="47328"/>
                  </a:lnTo>
                  <a:lnTo>
                    <a:pt x="479542" y="27241"/>
                  </a:lnTo>
                  <a:lnTo>
                    <a:pt x="436945" y="12382"/>
                  </a:lnTo>
                  <a:lnTo>
                    <a:pt x="392022" y="3164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710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19088" y="2758439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20">
                  <a:moveTo>
                    <a:pt x="0" y="346710"/>
                  </a:moveTo>
                  <a:lnTo>
                    <a:pt x="3151" y="299656"/>
                  </a:lnTo>
                  <a:lnTo>
                    <a:pt x="12331" y="254529"/>
                  </a:lnTo>
                  <a:lnTo>
                    <a:pt x="27128" y="211740"/>
                  </a:lnTo>
                  <a:lnTo>
                    <a:pt x="47131" y="171703"/>
                  </a:lnTo>
                  <a:lnTo>
                    <a:pt x="71928" y="134831"/>
                  </a:lnTo>
                  <a:lnTo>
                    <a:pt x="101107" y="101536"/>
                  </a:lnTo>
                  <a:lnTo>
                    <a:pt x="134259" y="72231"/>
                  </a:lnTo>
                  <a:lnTo>
                    <a:pt x="170970" y="47328"/>
                  </a:lnTo>
                  <a:lnTo>
                    <a:pt x="210829" y="27241"/>
                  </a:lnTo>
                  <a:lnTo>
                    <a:pt x="253426" y="12382"/>
                  </a:lnTo>
                  <a:lnTo>
                    <a:pt x="298349" y="3164"/>
                  </a:lnTo>
                  <a:lnTo>
                    <a:pt x="345186" y="0"/>
                  </a:lnTo>
                  <a:lnTo>
                    <a:pt x="392022" y="3164"/>
                  </a:lnTo>
                  <a:lnTo>
                    <a:pt x="436945" y="12382"/>
                  </a:lnTo>
                  <a:lnTo>
                    <a:pt x="479542" y="27241"/>
                  </a:lnTo>
                  <a:lnTo>
                    <a:pt x="519401" y="47328"/>
                  </a:lnTo>
                  <a:lnTo>
                    <a:pt x="556112" y="72231"/>
                  </a:lnTo>
                  <a:lnTo>
                    <a:pt x="589264" y="101536"/>
                  </a:lnTo>
                  <a:lnTo>
                    <a:pt x="618443" y="134831"/>
                  </a:lnTo>
                  <a:lnTo>
                    <a:pt x="643240" y="171704"/>
                  </a:lnTo>
                  <a:lnTo>
                    <a:pt x="663243" y="211740"/>
                  </a:lnTo>
                  <a:lnTo>
                    <a:pt x="678040" y="254529"/>
                  </a:lnTo>
                  <a:lnTo>
                    <a:pt x="687220" y="299656"/>
                  </a:lnTo>
                  <a:lnTo>
                    <a:pt x="690371" y="346710"/>
                  </a:lnTo>
                  <a:lnTo>
                    <a:pt x="687220" y="393763"/>
                  </a:lnTo>
                  <a:lnTo>
                    <a:pt x="678040" y="438890"/>
                  </a:lnTo>
                  <a:lnTo>
                    <a:pt x="663243" y="481679"/>
                  </a:lnTo>
                  <a:lnTo>
                    <a:pt x="643240" y="521716"/>
                  </a:lnTo>
                  <a:lnTo>
                    <a:pt x="618443" y="558588"/>
                  </a:lnTo>
                  <a:lnTo>
                    <a:pt x="589264" y="591883"/>
                  </a:lnTo>
                  <a:lnTo>
                    <a:pt x="556112" y="621188"/>
                  </a:lnTo>
                  <a:lnTo>
                    <a:pt x="519401" y="646091"/>
                  </a:lnTo>
                  <a:lnTo>
                    <a:pt x="479542" y="666178"/>
                  </a:lnTo>
                  <a:lnTo>
                    <a:pt x="436945" y="681037"/>
                  </a:lnTo>
                  <a:lnTo>
                    <a:pt x="392022" y="690255"/>
                  </a:lnTo>
                  <a:lnTo>
                    <a:pt x="345186" y="693420"/>
                  </a:lnTo>
                  <a:lnTo>
                    <a:pt x="298349" y="690255"/>
                  </a:lnTo>
                  <a:lnTo>
                    <a:pt x="253426" y="681037"/>
                  </a:lnTo>
                  <a:lnTo>
                    <a:pt x="210829" y="666178"/>
                  </a:lnTo>
                  <a:lnTo>
                    <a:pt x="170970" y="646091"/>
                  </a:lnTo>
                  <a:lnTo>
                    <a:pt x="134259" y="621188"/>
                  </a:lnTo>
                  <a:lnTo>
                    <a:pt x="101107" y="591883"/>
                  </a:lnTo>
                  <a:lnTo>
                    <a:pt x="71928" y="558588"/>
                  </a:lnTo>
                  <a:lnTo>
                    <a:pt x="47131" y="521716"/>
                  </a:lnTo>
                  <a:lnTo>
                    <a:pt x="27128" y="481679"/>
                  </a:lnTo>
                  <a:lnTo>
                    <a:pt x="12331" y="438890"/>
                  </a:lnTo>
                  <a:lnTo>
                    <a:pt x="3151" y="393763"/>
                  </a:lnTo>
                  <a:lnTo>
                    <a:pt x="0" y="34671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662673" y="2974340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50574" y="2685288"/>
            <a:ext cx="1214120" cy="500380"/>
            <a:chOff x="4850574" y="2685288"/>
            <a:chExt cx="1214120" cy="500380"/>
          </a:xfrm>
        </p:grpSpPr>
        <p:sp>
          <p:nvSpPr>
            <p:cNvPr id="29" name="object 29"/>
            <p:cNvSpPr/>
            <p:nvPr/>
          </p:nvSpPr>
          <p:spPr>
            <a:xfrm>
              <a:off x="4858511" y="2685288"/>
              <a:ext cx="0" cy="446405"/>
            </a:xfrm>
            <a:custGeom>
              <a:avLst/>
              <a:gdLst/>
              <a:ahLst/>
              <a:cxnLst/>
              <a:rect l="l" t="t" r="r" b="b"/>
              <a:pathLst>
                <a:path h="446405">
                  <a:moveTo>
                    <a:pt x="0" y="0"/>
                  </a:moveTo>
                  <a:lnTo>
                    <a:pt x="0" y="446278"/>
                  </a:lnTo>
                </a:path>
              </a:pathLst>
            </a:custGeom>
            <a:ln w="15875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58511" y="3078353"/>
              <a:ext cx="1206500" cy="107314"/>
            </a:xfrm>
            <a:custGeom>
              <a:avLst/>
              <a:gdLst/>
              <a:ahLst/>
              <a:cxnLst/>
              <a:rect l="l" t="t" r="r" b="b"/>
              <a:pathLst>
                <a:path w="1206500" h="107314">
                  <a:moveTo>
                    <a:pt x="1174368" y="53572"/>
                  </a:moveTo>
                  <a:lnTo>
                    <a:pt x="1110107" y="91059"/>
                  </a:lnTo>
                  <a:lnTo>
                    <a:pt x="1106297" y="93218"/>
                  </a:lnTo>
                  <a:lnTo>
                    <a:pt x="1105027" y="98171"/>
                  </a:lnTo>
                  <a:lnTo>
                    <a:pt x="1107186" y="101854"/>
                  </a:lnTo>
                  <a:lnTo>
                    <a:pt x="1109472" y="105664"/>
                  </a:lnTo>
                  <a:lnTo>
                    <a:pt x="1114298" y="106934"/>
                  </a:lnTo>
                  <a:lnTo>
                    <a:pt x="1118108" y="104775"/>
                  </a:lnTo>
                  <a:lnTo>
                    <a:pt x="1192504" y="61341"/>
                  </a:lnTo>
                  <a:lnTo>
                    <a:pt x="1174368" y="61341"/>
                  </a:lnTo>
                  <a:lnTo>
                    <a:pt x="1174368" y="53572"/>
                  </a:lnTo>
                  <a:close/>
                </a:path>
                <a:path w="1206500" h="107314">
                  <a:moveTo>
                    <a:pt x="1126743" y="45466"/>
                  </a:moveTo>
                  <a:lnTo>
                    <a:pt x="1110868" y="45466"/>
                  </a:lnTo>
                  <a:lnTo>
                    <a:pt x="1110868" y="61341"/>
                  </a:lnTo>
                  <a:lnTo>
                    <a:pt x="1126743" y="61341"/>
                  </a:lnTo>
                  <a:lnTo>
                    <a:pt x="1126743" y="45466"/>
                  </a:lnTo>
                  <a:close/>
                </a:path>
                <a:path w="1206500" h="107314">
                  <a:moveTo>
                    <a:pt x="1158493" y="45466"/>
                  </a:moveTo>
                  <a:lnTo>
                    <a:pt x="1142618" y="45466"/>
                  </a:lnTo>
                  <a:lnTo>
                    <a:pt x="1142618" y="61341"/>
                  </a:lnTo>
                  <a:lnTo>
                    <a:pt x="1158493" y="61341"/>
                  </a:lnTo>
                  <a:lnTo>
                    <a:pt x="1158493" y="45466"/>
                  </a:lnTo>
                  <a:close/>
                </a:path>
                <a:path w="1206500" h="107314">
                  <a:moveTo>
                    <a:pt x="1186307" y="46609"/>
                  </a:moveTo>
                  <a:lnTo>
                    <a:pt x="1174368" y="53572"/>
                  </a:lnTo>
                  <a:lnTo>
                    <a:pt x="1174368" y="61341"/>
                  </a:lnTo>
                  <a:lnTo>
                    <a:pt x="1190243" y="61341"/>
                  </a:lnTo>
                  <a:lnTo>
                    <a:pt x="1190243" y="60325"/>
                  </a:lnTo>
                  <a:lnTo>
                    <a:pt x="1186307" y="60325"/>
                  </a:lnTo>
                  <a:lnTo>
                    <a:pt x="1174731" y="53572"/>
                  </a:lnTo>
                  <a:lnTo>
                    <a:pt x="1186307" y="53572"/>
                  </a:lnTo>
                  <a:lnTo>
                    <a:pt x="1186307" y="46609"/>
                  </a:lnTo>
                  <a:close/>
                </a:path>
                <a:path w="1206500" h="107314">
                  <a:moveTo>
                    <a:pt x="1192287" y="45466"/>
                  </a:moveTo>
                  <a:lnTo>
                    <a:pt x="1190243" y="45466"/>
                  </a:lnTo>
                  <a:lnTo>
                    <a:pt x="1190243" y="61341"/>
                  </a:lnTo>
                  <a:lnTo>
                    <a:pt x="1192504" y="61341"/>
                  </a:lnTo>
                  <a:lnTo>
                    <a:pt x="1205810" y="53572"/>
                  </a:lnTo>
                  <a:lnTo>
                    <a:pt x="1206173" y="53572"/>
                  </a:lnTo>
                  <a:lnTo>
                    <a:pt x="1192287" y="45466"/>
                  </a:lnTo>
                  <a:close/>
                </a:path>
                <a:path w="1206500" h="107314">
                  <a:moveTo>
                    <a:pt x="1114298" y="0"/>
                  </a:moveTo>
                  <a:lnTo>
                    <a:pt x="1109472" y="1270"/>
                  </a:lnTo>
                  <a:lnTo>
                    <a:pt x="1107186" y="5080"/>
                  </a:lnTo>
                  <a:lnTo>
                    <a:pt x="1105027" y="8763"/>
                  </a:lnTo>
                  <a:lnTo>
                    <a:pt x="1106297" y="13716"/>
                  </a:lnTo>
                  <a:lnTo>
                    <a:pt x="1110107" y="15875"/>
                  </a:lnTo>
                  <a:lnTo>
                    <a:pt x="1186307" y="60325"/>
                  </a:lnTo>
                  <a:lnTo>
                    <a:pt x="1186307" y="53572"/>
                  </a:lnTo>
                  <a:lnTo>
                    <a:pt x="1174368" y="53572"/>
                  </a:lnTo>
                  <a:lnTo>
                    <a:pt x="1174368" y="45466"/>
                  </a:lnTo>
                  <a:lnTo>
                    <a:pt x="1192287" y="45466"/>
                  </a:lnTo>
                  <a:lnTo>
                    <a:pt x="1118108" y="2159"/>
                  </a:lnTo>
                  <a:lnTo>
                    <a:pt x="1114298" y="0"/>
                  </a:lnTo>
                  <a:close/>
                </a:path>
                <a:path w="1206500" h="107314">
                  <a:moveTo>
                    <a:pt x="1190243" y="46609"/>
                  </a:moveTo>
                  <a:lnTo>
                    <a:pt x="1186307" y="46609"/>
                  </a:lnTo>
                  <a:lnTo>
                    <a:pt x="1186307" y="60325"/>
                  </a:lnTo>
                  <a:lnTo>
                    <a:pt x="1190243" y="60325"/>
                  </a:lnTo>
                  <a:lnTo>
                    <a:pt x="1190243" y="46609"/>
                  </a:lnTo>
                  <a:close/>
                </a:path>
                <a:path w="1206500" h="107314">
                  <a:moveTo>
                    <a:pt x="1190243" y="45466"/>
                  </a:moveTo>
                  <a:lnTo>
                    <a:pt x="1174368" y="45466"/>
                  </a:lnTo>
                  <a:lnTo>
                    <a:pt x="1174368" y="53572"/>
                  </a:lnTo>
                  <a:lnTo>
                    <a:pt x="1186307" y="46609"/>
                  </a:lnTo>
                  <a:lnTo>
                    <a:pt x="1190243" y="46609"/>
                  </a:lnTo>
                  <a:lnTo>
                    <a:pt x="1190243" y="45466"/>
                  </a:lnTo>
                  <a:close/>
                </a:path>
                <a:path w="1206500" h="107314">
                  <a:moveTo>
                    <a:pt x="1094993" y="45466"/>
                  </a:moveTo>
                  <a:lnTo>
                    <a:pt x="1079118" y="45466"/>
                  </a:lnTo>
                  <a:lnTo>
                    <a:pt x="1079118" y="61341"/>
                  </a:lnTo>
                  <a:lnTo>
                    <a:pt x="1094993" y="61341"/>
                  </a:lnTo>
                  <a:lnTo>
                    <a:pt x="1094993" y="45466"/>
                  </a:lnTo>
                  <a:close/>
                </a:path>
                <a:path w="1206500" h="107314">
                  <a:moveTo>
                    <a:pt x="1063243" y="45466"/>
                  </a:moveTo>
                  <a:lnTo>
                    <a:pt x="1047368" y="45466"/>
                  </a:lnTo>
                  <a:lnTo>
                    <a:pt x="1047368" y="61341"/>
                  </a:lnTo>
                  <a:lnTo>
                    <a:pt x="1063243" y="61341"/>
                  </a:lnTo>
                  <a:lnTo>
                    <a:pt x="1063243" y="45466"/>
                  </a:lnTo>
                  <a:close/>
                </a:path>
                <a:path w="1206500" h="107314">
                  <a:moveTo>
                    <a:pt x="1031493" y="45466"/>
                  </a:moveTo>
                  <a:lnTo>
                    <a:pt x="1015618" y="45466"/>
                  </a:lnTo>
                  <a:lnTo>
                    <a:pt x="1015618" y="61341"/>
                  </a:lnTo>
                  <a:lnTo>
                    <a:pt x="1031493" y="61341"/>
                  </a:lnTo>
                  <a:lnTo>
                    <a:pt x="1031493" y="45466"/>
                  </a:lnTo>
                  <a:close/>
                </a:path>
                <a:path w="1206500" h="107314">
                  <a:moveTo>
                    <a:pt x="999743" y="45466"/>
                  </a:moveTo>
                  <a:lnTo>
                    <a:pt x="983868" y="45466"/>
                  </a:lnTo>
                  <a:lnTo>
                    <a:pt x="983868" y="61341"/>
                  </a:lnTo>
                  <a:lnTo>
                    <a:pt x="999743" y="61341"/>
                  </a:lnTo>
                  <a:lnTo>
                    <a:pt x="999743" y="45466"/>
                  </a:lnTo>
                  <a:close/>
                </a:path>
                <a:path w="1206500" h="107314">
                  <a:moveTo>
                    <a:pt x="967993" y="45466"/>
                  </a:moveTo>
                  <a:lnTo>
                    <a:pt x="952118" y="45466"/>
                  </a:lnTo>
                  <a:lnTo>
                    <a:pt x="952118" y="61341"/>
                  </a:lnTo>
                  <a:lnTo>
                    <a:pt x="967993" y="61341"/>
                  </a:lnTo>
                  <a:lnTo>
                    <a:pt x="967993" y="45466"/>
                  </a:lnTo>
                  <a:close/>
                </a:path>
                <a:path w="1206500" h="107314">
                  <a:moveTo>
                    <a:pt x="936243" y="45466"/>
                  </a:moveTo>
                  <a:lnTo>
                    <a:pt x="920368" y="45466"/>
                  </a:lnTo>
                  <a:lnTo>
                    <a:pt x="920368" y="61341"/>
                  </a:lnTo>
                  <a:lnTo>
                    <a:pt x="936243" y="61341"/>
                  </a:lnTo>
                  <a:lnTo>
                    <a:pt x="936243" y="45466"/>
                  </a:lnTo>
                  <a:close/>
                </a:path>
                <a:path w="1206500" h="107314">
                  <a:moveTo>
                    <a:pt x="904493" y="45466"/>
                  </a:moveTo>
                  <a:lnTo>
                    <a:pt x="888618" y="45466"/>
                  </a:lnTo>
                  <a:lnTo>
                    <a:pt x="888618" y="61341"/>
                  </a:lnTo>
                  <a:lnTo>
                    <a:pt x="904493" y="61341"/>
                  </a:lnTo>
                  <a:lnTo>
                    <a:pt x="904493" y="45466"/>
                  </a:lnTo>
                  <a:close/>
                </a:path>
                <a:path w="1206500" h="107314">
                  <a:moveTo>
                    <a:pt x="872743" y="45466"/>
                  </a:moveTo>
                  <a:lnTo>
                    <a:pt x="856868" y="45466"/>
                  </a:lnTo>
                  <a:lnTo>
                    <a:pt x="856868" y="61341"/>
                  </a:lnTo>
                  <a:lnTo>
                    <a:pt x="872743" y="61341"/>
                  </a:lnTo>
                  <a:lnTo>
                    <a:pt x="872743" y="45466"/>
                  </a:lnTo>
                  <a:close/>
                </a:path>
                <a:path w="1206500" h="107314">
                  <a:moveTo>
                    <a:pt x="840993" y="45466"/>
                  </a:moveTo>
                  <a:lnTo>
                    <a:pt x="825118" y="45466"/>
                  </a:lnTo>
                  <a:lnTo>
                    <a:pt x="825118" y="61341"/>
                  </a:lnTo>
                  <a:lnTo>
                    <a:pt x="840993" y="61341"/>
                  </a:lnTo>
                  <a:lnTo>
                    <a:pt x="840993" y="45466"/>
                  </a:lnTo>
                  <a:close/>
                </a:path>
                <a:path w="1206500" h="107314">
                  <a:moveTo>
                    <a:pt x="809243" y="45466"/>
                  </a:moveTo>
                  <a:lnTo>
                    <a:pt x="793368" y="45466"/>
                  </a:lnTo>
                  <a:lnTo>
                    <a:pt x="793368" y="61341"/>
                  </a:lnTo>
                  <a:lnTo>
                    <a:pt x="809243" y="61341"/>
                  </a:lnTo>
                  <a:lnTo>
                    <a:pt x="809243" y="45466"/>
                  </a:lnTo>
                  <a:close/>
                </a:path>
                <a:path w="1206500" h="107314">
                  <a:moveTo>
                    <a:pt x="777493" y="45466"/>
                  </a:moveTo>
                  <a:lnTo>
                    <a:pt x="761618" y="45466"/>
                  </a:lnTo>
                  <a:lnTo>
                    <a:pt x="761618" y="61341"/>
                  </a:lnTo>
                  <a:lnTo>
                    <a:pt x="777493" y="61341"/>
                  </a:lnTo>
                  <a:lnTo>
                    <a:pt x="777493" y="45466"/>
                  </a:lnTo>
                  <a:close/>
                </a:path>
                <a:path w="1206500" h="107314">
                  <a:moveTo>
                    <a:pt x="745743" y="45466"/>
                  </a:moveTo>
                  <a:lnTo>
                    <a:pt x="729868" y="45466"/>
                  </a:lnTo>
                  <a:lnTo>
                    <a:pt x="729868" y="61341"/>
                  </a:lnTo>
                  <a:lnTo>
                    <a:pt x="745743" y="61341"/>
                  </a:lnTo>
                  <a:lnTo>
                    <a:pt x="745743" y="45466"/>
                  </a:lnTo>
                  <a:close/>
                </a:path>
                <a:path w="1206500" h="107314">
                  <a:moveTo>
                    <a:pt x="713993" y="45466"/>
                  </a:moveTo>
                  <a:lnTo>
                    <a:pt x="698118" y="45466"/>
                  </a:lnTo>
                  <a:lnTo>
                    <a:pt x="698118" y="61341"/>
                  </a:lnTo>
                  <a:lnTo>
                    <a:pt x="713993" y="61341"/>
                  </a:lnTo>
                  <a:lnTo>
                    <a:pt x="713993" y="45466"/>
                  </a:lnTo>
                  <a:close/>
                </a:path>
                <a:path w="1206500" h="107314">
                  <a:moveTo>
                    <a:pt x="682243" y="45466"/>
                  </a:moveTo>
                  <a:lnTo>
                    <a:pt x="666368" y="45466"/>
                  </a:lnTo>
                  <a:lnTo>
                    <a:pt x="666368" y="61341"/>
                  </a:lnTo>
                  <a:lnTo>
                    <a:pt x="682243" y="61341"/>
                  </a:lnTo>
                  <a:lnTo>
                    <a:pt x="682243" y="45466"/>
                  </a:lnTo>
                  <a:close/>
                </a:path>
                <a:path w="1206500" h="107314">
                  <a:moveTo>
                    <a:pt x="650493" y="45466"/>
                  </a:moveTo>
                  <a:lnTo>
                    <a:pt x="634618" y="45466"/>
                  </a:lnTo>
                  <a:lnTo>
                    <a:pt x="634618" y="61341"/>
                  </a:lnTo>
                  <a:lnTo>
                    <a:pt x="650493" y="61341"/>
                  </a:lnTo>
                  <a:lnTo>
                    <a:pt x="650493" y="45466"/>
                  </a:lnTo>
                  <a:close/>
                </a:path>
                <a:path w="1206500" h="107314">
                  <a:moveTo>
                    <a:pt x="618743" y="45466"/>
                  </a:moveTo>
                  <a:lnTo>
                    <a:pt x="602868" y="45466"/>
                  </a:lnTo>
                  <a:lnTo>
                    <a:pt x="602868" y="61341"/>
                  </a:lnTo>
                  <a:lnTo>
                    <a:pt x="618743" y="61341"/>
                  </a:lnTo>
                  <a:lnTo>
                    <a:pt x="618743" y="45466"/>
                  </a:lnTo>
                  <a:close/>
                </a:path>
                <a:path w="1206500" h="107314">
                  <a:moveTo>
                    <a:pt x="586993" y="45466"/>
                  </a:moveTo>
                  <a:lnTo>
                    <a:pt x="571118" y="45466"/>
                  </a:lnTo>
                  <a:lnTo>
                    <a:pt x="571118" y="61341"/>
                  </a:lnTo>
                  <a:lnTo>
                    <a:pt x="586993" y="61341"/>
                  </a:lnTo>
                  <a:lnTo>
                    <a:pt x="586993" y="45466"/>
                  </a:lnTo>
                  <a:close/>
                </a:path>
                <a:path w="1206500" h="107314">
                  <a:moveTo>
                    <a:pt x="555243" y="45466"/>
                  </a:moveTo>
                  <a:lnTo>
                    <a:pt x="539368" y="45466"/>
                  </a:lnTo>
                  <a:lnTo>
                    <a:pt x="539368" y="61341"/>
                  </a:lnTo>
                  <a:lnTo>
                    <a:pt x="555243" y="61341"/>
                  </a:lnTo>
                  <a:lnTo>
                    <a:pt x="555243" y="45466"/>
                  </a:lnTo>
                  <a:close/>
                </a:path>
                <a:path w="1206500" h="107314">
                  <a:moveTo>
                    <a:pt x="523493" y="45466"/>
                  </a:moveTo>
                  <a:lnTo>
                    <a:pt x="507618" y="45466"/>
                  </a:lnTo>
                  <a:lnTo>
                    <a:pt x="507618" y="61341"/>
                  </a:lnTo>
                  <a:lnTo>
                    <a:pt x="523493" y="61341"/>
                  </a:lnTo>
                  <a:lnTo>
                    <a:pt x="523493" y="45466"/>
                  </a:lnTo>
                  <a:close/>
                </a:path>
                <a:path w="1206500" h="107314">
                  <a:moveTo>
                    <a:pt x="491743" y="45466"/>
                  </a:moveTo>
                  <a:lnTo>
                    <a:pt x="475868" y="45466"/>
                  </a:lnTo>
                  <a:lnTo>
                    <a:pt x="475868" y="61341"/>
                  </a:lnTo>
                  <a:lnTo>
                    <a:pt x="491743" y="61341"/>
                  </a:lnTo>
                  <a:lnTo>
                    <a:pt x="491743" y="45466"/>
                  </a:lnTo>
                  <a:close/>
                </a:path>
                <a:path w="1206500" h="107314">
                  <a:moveTo>
                    <a:pt x="459993" y="45466"/>
                  </a:moveTo>
                  <a:lnTo>
                    <a:pt x="444118" y="45466"/>
                  </a:lnTo>
                  <a:lnTo>
                    <a:pt x="444118" y="61341"/>
                  </a:lnTo>
                  <a:lnTo>
                    <a:pt x="459993" y="61341"/>
                  </a:lnTo>
                  <a:lnTo>
                    <a:pt x="459993" y="45466"/>
                  </a:lnTo>
                  <a:close/>
                </a:path>
                <a:path w="1206500" h="107314">
                  <a:moveTo>
                    <a:pt x="428243" y="45466"/>
                  </a:moveTo>
                  <a:lnTo>
                    <a:pt x="412368" y="45466"/>
                  </a:lnTo>
                  <a:lnTo>
                    <a:pt x="412368" y="61341"/>
                  </a:lnTo>
                  <a:lnTo>
                    <a:pt x="428243" y="61341"/>
                  </a:lnTo>
                  <a:lnTo>
                    <a:pt x="428243" y="45466"/>
                  </a:lnTo>
                  <a:close/>
                </a:path>
                <a:path w="1206500" h="107314">
                  <a:moveTo>
                    <a:pt x="396493" y="45466"/>
                  </a:moveTo>
                  <a:lnTo>
                    <a:pt x="380618" y="45466"/>
                  </a:lnTo>
                  <a:lnTo>
                    <a:pt x="380618" y="61341"/>
                  </a:lnTo>
                  <a:lnTo>
                    <a:pt x="396493" y="61341"/>
                  </a:lnTo>
                  <a:lnTo>
                    <a:pt x="396493" y="45466"/>
                  </a:lnTo>
                  <a:close/>
                </a:path>
                <a:path w="1206500" h="107314">
                  <a:moveTo>
                    <a:pt x="364743" y="45466"/>
                  </a:moveTo>
                  <a:lnTo>
                    <a:pt x="348868" y="45466"/>
                  </a:lnTo>
                  <a:lnTo>
                    <a:pt x="348868" y="61341"/>
                  </a:lnTo>
                  <a:lnTo>
                    <a:pt x="364743" y="61341"/>
                  </a:lnTo>
                  <a:lnTo>
                    <a:pt x="364743" y="45466"/>
                  </a:lnTo>
                  <a:close/>
                </a:path>
                <a:path w="1206500" h="107314">
                  <a:moveTo>
                    <a:pt x="332993" y="45466"/>
                  </a:moveTo>
                  <a:lnTo>
                    <a:pt x="317118" y="45466"/>
                  </a:lnTo>
                  <a:lnTo>
                    <a:pt x="317118" y="61341"/>
                  </a:lnTo>
                  <a:lnTo>
                    <a:pt x="332993" y="61341"/>
                  </a:lnTo>
                  <a:lnTo>
                    <a:pt x="332993" y="45466"/>
                  </a:lnTo>
                  <a:close/>
                </a:path>
                <a:path w="1206500" h="107314">
                  <a:moveTo>
                    <a:pt x="301243" y="45466"/>
                  </a:moveTo>
                  <a:lnTo>
                    <a:pt x="285368" y="45466"/>
                  </a:lnTo>
                  <a:lnTo>
                    <a:pt x="285368" y="61341"/>
                  </a:lnTo>
                  <a:lnTo>
                    <a:pt x="301243" y="61341"/>
                  </a:lnTo>
                  <a:lnTo>
                    <a:pt x="301243" y="45466"/>
                  </a:lnTo>
                  <a:close/>
                </a:path>
                <a:path w="1206500" h="107314">
                  <a:moveTo>
                    <a:pt x="269493" y="45466"/>
                  </a:moveTo>
                  <a:lnTo>
                    <a:pt x="253618" y="45466"/>
                  </a:lnTo>
                  <a:lnTo>
                    <a:pt x="253618" y="61341"/>
                  </a:lnTo>
                  <a:lnTo>
                    <a:pt x="269493" y="61341"/>
                  </a:lnTo>
                  <a:lnTo>
                    <a:pt x="269493" y="45466"/>
                  </a:lnTo>
                  <a:close/>
                </a:path>
                <a:path w="1206500" h="107314">
                  <a:moveTo>
                    <a:pt x="237743" y="45466"/>
                  </a:moveTo>
                  <a:lnTo>
                    <a:pt x="221868" y="45466"/>
                  </a:lnTo>
                  <a:lnTo>
                    <a:pt x="221868" y="61341"/>
                  </a:lnTo>
                  <a:lnTo>
                    <a:pt x="237743" y="61341"/>
                  </a:lnTo>
                  <a:lnTo>
                    <a:pt x="237743" y="45466"/>
                  </a:lnTo>
                  <a:close/>
                </a:path>
                <a:path w="1206500" h="107314">
                  <a:moveTo>
                    <a:pt x="205993" y="45466"/>
                  </a:moveTo>
                  <a:lnTo>
                    <a:pt x="190118" y="45466"/>
                  </a:lnTo>
                  <a:lnTo>
                    <a:pt x="190118" y="61341"/>
                  </a:lnTo>
                  <a:lnTo>
                    <a:pt x="205993" y="61341"/>
                  </a:lnTo>
                  <a:lnTo>
                    <a:pt x="205993" y="45466"/>
                  </a:lnTo>
                  <a:close/>
                </a:path>
                <a:path w="1206500" h="107314">
                  <a:moveTo>
                    <a:pt x="174243" y="45466"/>
                  </a:moveTo>
                  <a:lnTo>
                    <a:pt x="158368" y="45466"/>
                  </a:lnTo>
                  <a:lnTo>
                    <a:pt x="158368" y="61341"/>
                  </a:lnTo>
                  <a:lnTo>
                    <a:pt x="174243" y="61341"/>
                  </a:lnTo>
                  <a:lnTo>
                    <a:pt x="174243" y="45466"/>
                  </a:lnTo>
                  <a:close/>
                </a:path>
                <a:path w="1206500" h="107314">
                  <a:moveTo>
                    <a:pt x="142493" y="45466"/>
                  </a:moveTo>
                  <a:lnTo>
                    <a:pt x="126618" y="45466"/>
                  </a:lnTo>
                  <a:lnTo>
                    <a:pt x="126618" y="61341"/>
                  </a:lnTo>
                  <a:lnTo>
                    <a:pt x="142493" y="61341"/>
                  </a:lnTo>
                  <a:lnTo>
                    <a:pt x="142493" y="45466"/>
                  </a:lnTo>
                  <a:close/>
                </a:path>
                <a:path w="1206500" h="107314">
                  <a:moveTo>
                    <a:pt x="110743" y="45466"/>
                  </a:moveTo>
                  <a:lnTo>
                    <a:pt x="94868" y="45466"/>
                  </a:lnTo>
                  <a:lnTo>
                    <a:pt x="94868" y="61341"/>
                  </a:lnTo>
                  <a:lnTo>
                    <a:pt x="110743" y="61341"/>
                  </a:lnTo>
                  <a:lnTo>
                    <a:pt x="110743" y="45466"/>
                  </a:lnTo>
                  <a:close/>
                </a:path>
                <a:path w="1206500" h="107314">
                  <a:moveTo>
                    <a:pt x="78993" y="45466"/>
                  </a:moveTo>
                  <a:lnTo>
                    <a:pt x="63118" y="45466"/>
                  </a:lnTo>
                  <a:lnTo>
                    <a:pt x="63118" y="61341"/>
                  </a:lnTo>
                  <a:lnTo>
                    <a:pt x="78993" y="61341"/>
                  </a:lnTo>
                  <a:lnTo>
                    <a:pt x="78993" y="45466"/>
                  </a:lnTo>
                  <a:close/>
                </a:path>
                <a:path w="1206500" h="107314">
                  <a:moveTo>
                    <a:pt x="47243" y="45466"/>
                  </a:moveTo>
                  <a:lnTo>
                    <a:pt x="31368" y="45466"/>
                  </a:lnTo>
                  <a:lnTo>
                    <a:pt x="31368" y="61341"/>
                  </a:lnTo>
                  <a:lnTo>
                    <a:pt x="47243" y="61341"/>
                  </a:lnTo>
                  <a:lnTo>
                    <a:pt x="47243" y="45466"/>
                  </a:lnTo>
                  <a:close/>
                </a:path>
                <a:path w="1206500" h="107314">
                  <a:moveTo>
                    <a:pt x="15493" y="45466"/>
                  </a:moveTo>
                  <a:lnTo>
                    <a:pt x="0" y="45466"/>
                  </a:lnTo>
                  <a:lnTo>
                    <a:pt x="0" y="61341"/>
                  </a:lnTo>
                  <a:lnTo>
                    <a:pt x="15493" y="61341"/>
                  </a:lnTo>
                  <a:lnTo>
                    <a:pt x="15493" y="45466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r>
              <a:rPr b="0" spc="-25" dirty="0">
                <a:latin typeface="Calibri"/>
                <a:cs typeface="Calibri"/>
              </a:rPr>
              <a:t>47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940" y="928217"/>
            <a:ext cx="5624195" cy="883919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2707005">
              <a:lnSpc>
                <a:spcPct val="100000"/>
              </a:lnSpc>
              <a:spcBef>
                <a:spcPts val="97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WorkState</a:t>
            </a:r>
            <a:r>
              <a:rPr sz="1400" b="1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Property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ts val="1660"/>
              </a:lnSpc>
              <a:spcBef>
                <a:spcPts val="875"/>
              </a:spcBef>
            </a:pP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Work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field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needs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utilized.</a:t>
            </a:r>
            <a:r>
              <a:rPr sz="1400" spc="3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While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being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worked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on,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ts val="1660"/>
              </a:lnSpc>
            </a:pPr>
            <a:r>
              <a:rPr sz="1400" dirty="0">
                <a:latin typeface="Georgia"/>
                <a:cs typeface="Georgia"/>
              </a:rPr>
              <a:t>“IN_WORK”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used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5628640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8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Workstate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1623" y="1876044"/>
            <a:ext cx="4965700" cy="2362200"/>
            <a:chOff x="801623" y="1876044"/>
            <a:chExt cx="4965700" cy="2362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23" y="1876044"/>
              <a:ext cx="4943856" cy="8473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627" y="3400044"/>
              <a:ext cx="4933188" cy="8382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0940" y="3104515"/>
            <a:ext cx="43294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Georgia"/>
                <a:cs typeface="Georgia"/>
              </a:rPr>
              <a:t>When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work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done,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marked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“COMPLETED”: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48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762" y="1038859"/>
            <a:ext cx="4412615" cy="3396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1142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Approval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/</a:t>
            </a:r>
            <a:r>
              <a:rPr sz="1400" b="1" spc="-1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Rejection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400" dirty="0">
                <a:latin typeface="Georgia"/>
                <a:cs typeface="Georgia"/>
              </a:rPr>
              <a:t>Responsible</a:t>
            </a:r>
            <a:r>
              <a:rPr sz="1400" spc="-8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lead/reviewer</a:t>
            </a:r>
            <a:r>
              <a:rPr sz="1400" spc="-8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will</a:t>
            </a:r>
            <a:endParaRPr sz="1400">
              <a:latin typeface="Georgia"/>
              <a:cs typeface="Georgia"/>
            </a:endParaRPr>
          </a:p>
          <a:p>
            <a:pPr marL="12700" marR="169862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property </a:t>
            </a: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"COMPLETE"</a:t>
            </a:r>
            <a:r>
              <a:rPr sz="1400" spc="-25" dirty="0">
                <a:latin typeface="Georgia"/>
                <a:cs typeface="Georgia"/>
              </a:rPr>
              <a:t> in </a:t>
            </a:r>
            <a:r>
              <a:rPr sz="1400" dirty="0">
                <a:latin typeface="Georgia"/>
                <a:cs typeface="Georgia"/>
              </a:rPr>
              <a:t>production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folders.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15544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The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Completed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be </a:t>
            </a:r>
            <a:r>
              <a:rPr sz="1400" dirty="0">
                <a:latin typeface="Georgia"/>
                <a:cs typeface="Georgia"/>
              </a:rPr>
              <a:t>comprised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only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those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Cases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have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been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through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review </a:t>
            </a:r>
            <a:r>
              <a:rPr sz="1400" dirty="0">
                <a:latin typeface="Georgia"/>
                <a:cs typeface="Georgia"/>
              </a:rPr>
              <a:t>process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7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have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been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deemed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to </a:t>
            </a:r>
            <a:r>
              <a:rPr sz="1400" dirty="0">
                <a:latin typeface="Georgia"/>
                <a:cs typeface="Georgia"/>
              </a:rPr>
              <a:t>meet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established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standards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best </a:t>
            </a:r>
            <a:r>
              <a:rPr sz="1400" dirty="0">
                <a:latin typeface="Georgia"/>
                <a:cs typeface="Georgia"/>
              </a:rPr>
              <a:t>practices,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synchronized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to </a:t>
            </a:r>
            <a:r>
              <a:rPr sz="1400" dirty="0">
                <a:latin typeface="Georgia"/>
                <a:cs typeface="Georgia"/>
              </a:rPr>
              <a:t>ALM.</a:t>
            </a:r>
            <a:r>
              <a:rPr sz="1400" spc="29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When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ExecutionLists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are </a:t>
            </a:r>
            <a:r>
              <a:rPr sz="1400" dirty="0">
                <a:latin typeface="Georgia"/>
                <a:cs typeface="Georgia"/>
              </a:rPr>
              <a:t>created,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these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only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that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eligible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inclusion.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7147559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Upload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5447" y="2749295"/>
            <a:ext cx="4491228" cy="12832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49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8859"/>
            <a:ext cx="7390130" cy="2501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8290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TQL</a:t>
            </a:r>
            <a:r>
              <a:rPr sz="1400" b="1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Query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 marR="7366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uploaded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linked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within both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systems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VERASyncID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50" dirty="0">
                <a:latin typeface="Georgia"/>
                <a:cs typeface="Georgia"/>
              </a:rPr>
              <a:t>&amp;</a:t>
            </a:r>
            <a:r>
              <a:rPr sz="1400" spc="500" dirty="0">
                <a:latin typeface="Georgia"/>
                <a:cs typeface="Georgia"/>
              </a:rPr>
              <a:t>  </a:t>
            </a:r>
            <a:r>
              <a:rPr sz="1400" dirty="0">
                <a:latin typeface="Georgia"/>
                <a:cs typeface="Georgia"/>
              </a:rPr>
              <a:t>ALMTestID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populated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VERASyncID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&amp;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ID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populated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in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ALM.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Make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sure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edit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properties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mentioned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above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Tosca.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It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recommended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TQL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query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monitor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have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been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moved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into </a:t>
            </a:r>
            <a:r>
              <a:rPr sz="1400" dirty="0">
                <a:latin typeface="Georgia"/>
                <a:cs typeface="Georgia"/>
              </a:rPr>
              <a:t>Completed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required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synchronization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updates/re-synchronization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yet </a:t>
            </a:r>
            <a:r>
              <a:rPr sz="1400" dirty="0">
                <a:latin typeface="Georgia"/>
                <a:cs typeface="Georgia"/>
              </a:rPr>
              <a:t>been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performed.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This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query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performed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regularly.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50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7147559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Upload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51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506983"/>
            <a:ext cx="714755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Upload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0480" y="1038859"/>
            <a:ext cx="7445375" cy="3366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3815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Default</a:t>
            </a:r>
            <a:r>
              <a:rPr sz="1400" b="1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Filtering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Tests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only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appear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all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conditions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true: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Vera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Sync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property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blank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ALM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ID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property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blank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Completed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Owning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Group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Locking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Owner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Group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currently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checked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in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400">
              <a:latin typeface="Georgia"/>
              <a:cs typeface="Georgia"/>
            </a:endParaRPr>
          </a:p>
          <a:p>
            <a:pPr marL="116205">
              <a:lnSpc>
                <a:spcPct val="100000"/>
              </a:lnSpc>
            </a:pPr>
            <a:r>
              <a:rPr sz="1800" b="1" dirty="0">
                <a:latin typeface="Georgia"/>
                <a:cs typeface="Georgia"/>
              </a:rPr>
              <a:t>Example</a:t>
            </a:r>
            <a:r>
              <a:rPr sz="1800" b="1" spc="-45" dirty="0">
                <a:latin typeface="Georgia"/>
                <a:cs typeface="Georgia"/>
              </a:rPr>
              <a:t> </a:t>
            </a:r>
            <a:r>
              <a:rPr sz="1800" b="1" dirty="0">
                <a:latin typeface="Georgia"/>
                <a:cs typeface="Georgia"/>
              </a:rPr>
              <a:t>TQL</a:t>
            </a:r>
            <a:r>
              <a:rPr sz="1800" b="1" spc="-65" dirty="0">
                <a:latin typeface="Georgia"/>
                <a:cs typeface="Georgia"/>
              </a:rPr>
              <a:t> </a:t>
            </a:r>
            <a:r>
              <a:rPr sz="1800" b="1" spc="-10" dirty="0">
                <a:latin typeface="Georgia"/>
                <a:cs typeface="Georgia"/>
              </a:rPr>
              <a:t>Query:</a:t>
            </a:r>
            <a:endParaRPr sz="1800">
              <a:latin typeface="Georgia"/>
              <a:cs typeface="Georgia"/>
            </a:endParaRPr>
          </a:p>
          <a:p>
            <a:pPr marL="116205">
              <a:lnSpc>
                <a:spcPct val="100000"/>
              </a:lnSpc>
              <a:spcBef>
                <a:spcPts val="1140"/>
              </a:spcBef>
            </a:pPr>
            <a:r>
              <a:rPr sz="1800" spc="-25" dirty="0">
                <a:latin typeface="Calibri"/>
                <a:cs typeface="Calibri"/>
              </a:rPr>
              <a:t>=&gt;SUBPARTS:TestCase[(ALMTestID=="")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(VeraSyncId=="")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(TestCaseWorkState=="COMPLETED")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(OwningGroupName!="ALM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Lock")</a:t>
            </a:r>
            <a:endParaRPr sz="1800">
              <a:latin typeface="Calibri"/>
              <a:cs typeface="Calibri"/>
            </a:endParaRPr>
          </a:p>
          <a:p>
            <a:pPr marL="1162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(CheckOutState!="CheckedOut")]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7696834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Update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0480" y="1593850"/>
            <a:ext cx="7447915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5336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Georgia"/>
                <a:cs typeface="Georgia"/>
              </a:rPr>
              <a:t>Reviewer/Lead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change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"IN_WORK"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move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respective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IN_WORK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automation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engineer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update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case.</a:t>
            </a:r>
            <a:endParaRPr sz="1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Once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automation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engineer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completes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process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reviewer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moves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updated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case</a:t>
            </a:r>
            <a:endParaRPr sz="14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back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COMPLETED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change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"COMPLETE"</a:t>
            </a:r>
            <a:endParaRPr sz="1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Use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"Update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Existing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Tests"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Addon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sync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updated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ALM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544" y="3172967"/>
            <a:ext cx="4767072" cy="12451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52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53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506983"/>
            <a:ext cx="769683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Update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0480" y="1038859"/>
            <a:ext cx="7445375" cy="3366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3815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Default</a:t>
            </a:r>
            <a:r>
              <a:rPr sz="1400" b="1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Filtering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Tests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only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appear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if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all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conditions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true: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Vera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Sync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blank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ALM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ID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blank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Completed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Owning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Group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Locking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Owner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Group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currently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checked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in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400">
              <a:latin typeface="Georgia"/>
              <a:cs typeface="Georgia"/>
            </a:endParaRPr>
          </a:p>
          <a:p>
            <a:pPr marL="116205">
              <a:lnSpc>
                <a:spcPct val="100000"/>
              </a:lnSpc>
            </a:pPr>
            <a:r>
              <a:rPr sz="1800" b="1" dirty="0">
                <a:latin typeface="Georgia"/>
                <a:cs typeface="Georgia"/>
              </a:rPr>
              <a:t>Example</a:t>
            </a:r>
            <a:r>
              <a:rPr sz="1800" b="1" spc="-45" dirty="0">
                <a:latin typeface="Georgia"/>
                <a:cs typeface="Georgia"/>
              </a:rPr>
              <a:t> </a:t>
            </a:r>
            <a:r>
              <a:rPr sz="1800" b="1" dirty="0">
                <a:latin typeface="Georgia"/>
                <a:cs typeface="Georgia"/>
              </a:rPr>
              <a:t>TQL</a:t>
            </a:r>
            <a:r>
              <a:rPr sz="1800" b="1" spc="-65" dirty="0">
                <a:latin typeface="Georgia"/>
                <a:cs typeface="Georgia"/>
              </a:rPr>
              <a:t> </a:t>
            </a:r>
            <a:r>
              <a:rPr sz="1800" b="1" spc="-10" dirty="0">
                <a:latin typeface="Georgia"/>
                <a:cs typeface="Georgia"/>
              </a:rPr>
              <a:t>Query:</a:t>
            </a:r>
            <a:endParaRPr sz="1800">
              <a:latin typeface="Georgia"/>
              <a:cs typeface="Georgia"/>
            </a:endParaRPr>
          </a:p>
          <a:p>
            <a:pPr marL="116205">
              <a:lnSpc>
                <a:spcPct val="100000"/>
              </a:lnSpc>
              <a:spcBef>
                <a:spcPts val="1140"/>
              </a:spcBef>
            </a:pPr>
            <a:r>
              <a:rPr sz="1800" spc="-25" dirty="0">
                <a:latin typeface="Calibri"/>
                <a:cs typeface="Calibri"/>
              </a:rPr>
              <a:t>=&gt;SUBPARTS:TestCase[(ALMTestID!="")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(VeraSyncId!="")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(TestCaseWorkState=="COMPLETED")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(OwningGroupName!="ALM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Lock")</a:t>
            </a:r>
            <a:endParaRPr sz="1800">
              <a:latin typeface="Calibri"/>
              <a:cs typeface="Calibri"/>
            </a:endParaRPr>
          </a:p>
          <a:p>
            <a:pPr marL="1162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(CheckOutState!="CheckedOut")]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Approve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54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00480" y="1038859"/>
            <a:ext cx="7339965" cy="2501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3464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Start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Approval</a:t>
            </a:r>
            <a:r>
              <a:rPr sz="1400" b="1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Route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Login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permissions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able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access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Tosca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Case.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(i.e.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account,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prompted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credentials.)</a:t>
            </a:r>
            <a:endParaRPr sz="1400">
              <a:latin typeface="Georgia"/>
              <a:cs typeface="Georgia"/>
            </a:endParaRPr>
          </a:p>
          <a:p>
            <a:pPr marL="12700" marR="730250">
              <a:lnSpc>
                <a:spcPts val="3360"/>
              </a:lnSpc>
              <a:spcBef>
                <a:spcPts val="395"/>
              </a:spcBef>
            </a:pP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Plan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module,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navigate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appropriate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select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Test. </a:t>
            </a:r>
            <a:r>
              <a:rPr sz="1400" dirty="0">
                <a:latin typeface="Georgia"/>
                <a:cs typeface="Georgia"/>
              </a:rPr>
              <a:t>View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memo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field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view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ALM.</a:t>
            </a:r>
            <a:endParaRPr sz="1400">
              <a:latin typeface="Georgia"/>
              <a:cs typeface="Georgia"/>
            </a:endParaRPr>
          </a:p>
          <a:p>
            <a:pPr marL="12700" marR="693420">
              <a:lnSpc>
                <a:spcPct val="100000"/>
              </a:lnSpc>
              <a:spcBef>
                <a:spcPts val="1290"/>
              </a:spcBef>
            </a:pPr>
            <a:r>
              <a:rPr sz="1400" dirty="0">
                <a:latin typeface="Georgia"/>
                <a:cs typeface="Georgia"/>
              </a:rPr>
              <a:t>Route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Approval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clicking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VERA's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"Go"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"Start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Approval </a:t>
            </a:r>
            <a:r>
              <a:rPr sz="1400" dirty="0">
                <a:latin typeface="Georgia"/>
                <a:cs typeface="Georgia"/>
              </a:rPr>
              <a:t>Route(s)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button"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Approve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55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00480" y="1038859"/>
            <a:ext cx="7243445" cy="3355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749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Approve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a</a:t>
            </a:r>
            <a:r>
              <a:rPr sz="1400" b="1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VERA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in</a:t>
            </a:r>
            <a:r>
              <a:rPr sz="1400" b="1" spc="-1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automated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stored</a:t>
            </a:r>
            <a:r>
              <a:rPr sz="1400" spc="29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displayed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'TOSCA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Steps'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tab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ALM.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Once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routed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approval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"Routing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Approval"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and </a:t>
            </a:r>
            <a:r>
              <a:rPr sz="1400" dirty="0">
                <a:latin typeface="Georgia"/>
                <a:cs typeface="Georgia"/>
              </a:rPr>
              <a:t>locked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any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updates.</a:t>
            </a:r>
            <a:endParaRPr sz="1400">
              <a:latin typeface="Georgia"/>
              <a:cs typeface="Georgia"/>
            </a:endParaRPr>
          </a:p>
          <a:p>
            <a:pPr marL="12700" marR="1703705">
              <a:lnSpc>
                <a:spcPct val="2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View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memo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field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view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ALM.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 </a:t>
            </a:r>
            <a:r>
              <a:rPr sz="1400" spc="-10" dirty="0">
                <a:latin typeface="Georgia"/>
                <a:cs typeface="Georgia"/>
              </a:rPr>
              <a:t>VERA-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Test: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Login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project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Approver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Navigate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to,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select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Test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Review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Details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tab,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comments,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etc.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'TOSCA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Steps'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tab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test.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Once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reviewed,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"Go"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toolbar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perform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appropriate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action.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Approve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0480" y="1038859"/>
            <a:ext cx="5368290" cy="2495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6855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Approved</a:t>
            </a:r>
            <a:r>
              <a:rPr sz="1400" b="1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VERA-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Test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400">
              <a:latin typeface="Georgia"/>
              <a:cs typeface="Georgia"/>
            </a:endParaRPr>
          </a:p>
          <a:p>
            <a:pPr marL="12700" marR="338518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Once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approval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is </a:t>
            </a:r>
            <a:r>
              <a:rPr sz="1400" dirty="0">
                <a:latin typeface="Calibri"/>
                <a:cs typeface="Calibri"/>
              </a:rPr>
              <a:t>applied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VERA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Tosca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ALM,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status </a:t>
            </a:r>
            <a:r>
              <a:rPr sz="1400" dirty="0">
                <a:latin typeface="Calibri"/>
                <a:cs typeface="Calibri"/>
              </a:rPr>
              <a:t>becomes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"Approved".</a:t>
            </a:r>
            <a:endParaRPr sz="1400">
              <a:latin typeface="Calibri"/>
              <a:cs typeface="Calibri"/>
            </a:endParaRPr>
          </a:p>
          <a:p>
            <a:pPr marL="12700" marR="3557904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in </a:t>
            </a:r>
            <a:r>
              <a:rPr sz="1400" spc="-10" dirty="0">
                <a:latin typeface="Calibri"/>
                <a:cs typeface="Calibri"/>
              </a:rPr>
              <a:t>"Approved"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ALM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locked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Tosca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ALM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updates.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4571" y="1566672"/>
            <a:ext cx="4572000" cy="2542540"/>
            <a:chOff x="3814571" y="1566672"/>
            <a:chExt cx="4572000" cy="25425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4571" y="1566672"/>
              <a:ext cx="4495800" cy="13167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9623" y="3035808"/>
              <a:ext cx="4536948" cy="107289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56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8859"/>
            <a:ext cx="7304405" cy="2288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9845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Copy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Case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In 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VERA-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Integration,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there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 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one-</a:t>
            </a:r>
            <a:r>
              <a:rPr sz="1400" spc="-10" dirty="0">
                <a:latin typeface="Georgia"/>
                <a:cs typeface="Georgia"/>
              </a:rPr>
              <a:t>to-</a:t>
            </a:r>
            <a:r>
              <a:rPr sz="1400" dirty="0">
                <a:latin typeface="Georgia"/>
                <a:cs typeface="Georgia"/>
              </a:rPr>
              <a:t>one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correspondence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between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 </a:t>
            </a:r>
            <a:r>
              <a:rPr sz="1400" spc="-10" dirty="0">
                <a:latin typeface="Georgia"/>
                <a:cs typeface="Georgia"/>
              </a:rPr>
              <a:t>entities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entities.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one,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only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one,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Test Case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Automation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engineers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avoid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copying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object.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Instead,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create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a</a:t>
            </a:r>
            <a:r>
              <a:rPr sz="1400" b="1" spc="-2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new</a:t>
            </a:r>
            <a:r>
              <a:rPr sz="1400" b="1" spc="-45" dirty="0">
                <a:latin typeface="Georgia"/>
                <a:cs typeface="Georgia"/>
              </a:rPr>
              <a:t> </a:t>
            </a:r>
            <a:r>
              <a:rPr sz="1400" b="1" spc="-20" dirty="0">
                <a:latin typeface="Georgia"/>
                <a:cs typeface="Georgia"/>
              </a:rPr>
              <a:t>Test</a:t>
            </a:r>
            <a:endParaRPr sz="1400">
              <a:latin typeface="Georgia"/>
              <a:cs typeface="Georgia"/>
            </a:endParaRPr>
          </a:p>
          <a:p>
            <a:pPr marL="12700" marR="240029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Georgia"/>
                <a:cs typeface="Georgia"/>
              </a:rPr>
              <a:t>Case</a:t>
            </a:r>
            <a:r>
              <a:rPr sz="1400" b="1" spc="-4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object</a:t>
            </a:r>
            <a:r>
              <a:rPr sz="1400" dirty="0">
                <a:latin typeface="Georgia"/>
                <a:cs typeface="Georgia"/>
              </a:rPr>
              <a:t>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copy</a:t>
            </a:r>
            <a:r>
              <a:rPr sz="1400" b="1" spc="-2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the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Test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Steps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source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new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Case. </a:t>
            </a:r>
            <a:r>
              <a:rPr sz="1400" dirty="0">
                <a:latin typeface="Georgia"/>
                <a:cs typeface="Georgia"/>
              </a:rPr>
              <a:t>This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ensure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all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control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fields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new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their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initial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states,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ready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be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7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new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Test.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57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640270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Copy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8859"/>
            <a:ext cx="7386320" cy="2501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63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Revise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Linked</a:t>
            </a:r>
            <a:r>
              <a:rPr sz="1400" b="1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To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update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approved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linked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Designer/Test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Manager </a:t>
            </a:r>
            <a:r>
              <a:rPr sz="1400" dirty="0">
                <a:latin typeface="Georgia"/>
                <a:cs typeface="Georgia"/>
              </a:rPr>
              <a:t>permissions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Revise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operation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back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"Draft"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state. </a:t>
            </a:r>
            <a:r>
              <a:rPr sz="1400" dirty="0">
                <a:latin typeface="Georgia"/>
                <a:cs typeface="Georgia"/>
              </a:rPr>
              <a:t>Revise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action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unlock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change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Owning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Group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property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test </a:t>
            </a:r>
            <a:r>
              <a:rPr sz="1400" dirty="0">
                <a:latin typeface="Georgia"/>
                <a:cs typeface="Georgia"/>
              </a:rPr>
              <a:t>from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Lock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Tosca.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Once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revised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editable,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Follow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process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Update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Test.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>
              <a:latin typeface="Georgia"/>
              <a:cs typeface="Georgia"/>
            </a:endParaRPr>
          </a:p>
          <a:p>
            <a:pPr marL="12700" marR="1193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must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re-routed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through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full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approval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process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before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becoming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again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in </a:t>
            </a:r>
            <a:r>
              <a:rPr sz="1400" spc="-10" dirty="0">
                <a:latin typeface="Georgia"/>
                <a:cs typeface="Georgia"/>
              </a:rPr>
              <a:t>VERA.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58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661606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Revise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1943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VERA</a:t>
            </a:r>
            <a:r>
              <a:rPr spc="-40" dirty="0"/>
              <a:t> </a:t>
            </a:r>
            <a:r>
              <a:rPr spc="-10" dirty="0"/>
              <a:t>Actions</a:t>
            </a: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Cancel/Uncancel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Test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Case:</a:t>
            </a:r>
          </a:p>
          <a:p>
            <a:pPr marL="299085" marR="410845" indent="-287020">
              <a:lnSpc>
                <a:spcPct val="100000"/>
              </a:lnSpc>
              <a:buChar char="•"/>
              <a:tabLst>
                <a:tab pos="299085" algn="l"/>
                <a:tab pos="341630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Use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VERA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Go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button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'Cancel'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Case.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This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prevents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further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operations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be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performed</a:t>
            </a:r>
            <a:r>
              <a:rPr b="0" spc="-6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on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Case.</a:t>
            </a: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Undo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Cancel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operation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by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clicking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VERA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Go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button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and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select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'Uncancel'.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This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sets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</a:p>
          <a:p>
            <a:pPr marL="299085">
              <a:lnSpc>
                <a:spcPct val="100000"/>
              </a:lnSpc>
            </a:pP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Case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status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back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'Draft'.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b="0" spc="-10" dirty="0">
              <a:solidFill>
                <a:srgbClr val="000000"/>
              </a:solidFill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Smart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Delete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Test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Case:</a:t>
            </a:r>
          </a:p>
          <a:p>
            <a:pPr marL="299085" marR="7620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This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option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is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available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in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cases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when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case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has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not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been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executed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but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as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best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practice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users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should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avoid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deletion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of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case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since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extra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steps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need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performed</a:t>
            </a:r>
            <a:r>
              <a:rPr b="0" spc="-5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in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Tosca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as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it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leaves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associated</a:t>
            </a:r>
            <a:r>
              <a:rPr b="0" spc="-6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Tosca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object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locked.</a:t>
            </a:r>
          </a:p>
          <a:p>
            <a:pPr marL="299085" marR="1847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Before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deleting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ALM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Case,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note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its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"Tosca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ID"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value.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After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deleting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ALM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Test,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have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an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Admin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log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in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Tosca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and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clear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associated</a:t>
            </a:r>
            <a:r>
              <a:rPr b="0" spc="-5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Case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ALM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ID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&amp;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Vera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Synchronization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values,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and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set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its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owning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group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back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group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that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allows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editing. Alternatively,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have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Admin</a:t>
            </a:r>
            <a:r>
              <a:rPr b="0" spc="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delete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Case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in</a:t>
            </a:r>
            <a:r>
              <a:rPr b="0" spc="-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Tosca,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if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desired.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59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7077709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18719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ALM</a:t>
            </a:r>
            <a:r>
              <a:rPr sz="2600" spc="-7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VERA</a:t>
            </a:r>
            <a:r>
              <a:rPr sz="2600" spc="-8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Actions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167509"/>
            <a:ext cx="6966584" cy="123317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Test</a:t>
            </a:r>
            <a:r>
              <a:rPr sz="44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case</a:t>
            </a:r>
            <a:r>
              <a:rPr sz="44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Recovery/Cleanup Scenarios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60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4186554" cy="3141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Recovery Scenario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400">
              <a:latin typeface="Calibri"/>
              <a:cs typeface="Calibri"/>
            </a:endParaRPr>
          </a:p>
          <a:p>
            <a:pPr marL="12700" marR="58674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Recovery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Scenario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collection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TestSteps</a:t>
            </a:r>
            <a:r>
              <a:rPr sz="1400" spc="-20" dirty="0">
                <a:latin typeface="Calibri"/>
                <a:cs typeface="Calibri"/>
              </a:rPr>
              <a:t> that </a:t>
            </a:r>
            <a:r>
              <a:rPr sz="1400" spc="-25" dirty="0">
                <a:latin typeface="Calibri"/>
                <a:cs typeface="Calibri"/>
              </a:rPr>
              <a:t>Tosca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fails.</a:t>
            </a:r>
            <a:endParaRPr sz="1400">
              <a:latin typeface="Calibri"/>
              <a:cs typeface="Calibri"/>
            </a:endParaRPr>
          </a:p>
          <a:p>
            <a:pPr marL="12700" marR="278765" algn="just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Calibri"/>
                <a:cs typeface="Calibri"/>
              </a:rPr>
              <a:t>They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execute</a:t>
            </a:r>
            <a:r>
              <a:rPr sz="1400" dirty="0">
                <a:latin typeface="Calibri"/>
                <a:cs typeface="Calibri"/>
              </a:rPr>
              <a:t> 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b="1" spc="-40" dirty="0">
                <a:latin typeface="Calibri"/>
                <a:cs typeface="Calibri"/>
              </a:rPr>
              <a:t>Test </a:t>
            </a:r>
            <a:r>
              <a:rPr sz="1400" b="1" dirty="0">
                <a:latin typeface="Calibri"/>
                <a:cs typeface="Calibri"/>
              </a:rPr>
              <a:t>Case,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40" dirty="0">
                <a:latin typeface="Calibri"/>
                <a:cs typeface="Calibri"/>
              </a:rPr>
              <a:t>Test </a:t>
            </a:r>
            <a:r>
              <a:rPr sz="1400" b="1" spc="-20" dirty="0">
                <a:latin typeface="Calibri"/>
                <a:cs typeface="Calibri"/>
              </a:rPr>
              <a:t>Step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Test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Step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Value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level.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Typically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Test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25" dirty="0">
                <a:latin typeface="Calibri"/>
                <a:cs typeface="Calibri"/>
              </a:rPr>
              <a:t> for </a:t>
            </a:r>
            <a:r>
              <a:rPr sz="1400" spc="-10" dirty="0">
                <a:latin typeface="Calibri"/>
                <a:cs typeface="Calibri"/>
              </a:rPr>
              <a:t>recovery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scenarios.</a:t>
            </a:r>
            <a:endParaRPr sz="1400">
              <a:latin typeface="Calibri"/>
              <a:cs typeface="Calibri"/>
            </a:endParaRPr>
          </a:p>
          <a:p>
            <a:pPr marL="12700" marR="292100">
              <a:lnSpc>
                <a:spcPct val="100000"/>
              </a:lnSpc>
              <a:spcBef>
                <a:spcPts val="1680"/>
              </a:spcBef>
            </a:pPr>
            <a:r>
              <a:rPr sz="1400" spc="-10" dirty="0">
                <a:latin typeface="Calibri"/>
                <a:cs typeface="Calibri"/>
              </a:rPr>
              <a:t>Recovery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Scenarios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executed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Case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proceed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up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directory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each </a:t>
            </a:r>
            <a:r>
              <a:rPr sz="1400" spc="-10" dirty="0">
                <a:latin typeface="Calibri"/>
                <a:cs typeface="Calibri"/>
              </a:rPr>
              <a:t>Recovery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Type.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Lower-</a:t>
            </a:r>
            <a:r>
              <a:rPr sz="1400" dirty="0">
                <a:latin typeface="Calibri"/>
                <a:cs typeface="Calibri"/>
              </a:rPr>
              <a:t>level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directory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scenarios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are </a:t>
            </a:r>
            <a:r>
              <a:rPr sz="1400" spc="-10" dirty="0">
                <a:latin typeface="Calibri"/>
                <a:cs typeface="Calibri"/>
              </a:rPr>
              <a:t>executed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first.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b="1" spc="-30" dirty="0">
                <a:latin typeface="Calibri"/>
                <a:cs typeface="Calibri"/>
              </a:rPr>
              <a:t>Test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Step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Value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Scenarios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executed </a:t>
            </a:r>
            <a:r>
              <a:rPr sz="1400" dirty="0">
                <a:latin typeface="Calibri"/>
                <a:cs typeface="Calibri"/>
              </a:rPr>
              <a:t>first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b="1" spc="-30" dirty="0">
                <a:latin typeface="Calibri"/>
                <a:cs typeface="Calibri"/>
              </a:rPr>
              <a:t>Test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Step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b="1" spc="-30" dirty="0">
                <a:latin typeface="Calibri"/>
                <a:cs typeface="Calibri"/>
              </a:rPr>
              <a:t>Test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Case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scenarios.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8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Recovery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Scenario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48200" y="1472183"/>
            <a:ext cx="3746500" cy="2935605"/>
            <a:chOff x="4648200" y="1472183"/>
            <a:chExt cx="3746500" cy="29356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1683" y="1472183"/>
              <a:ext cx="3302508" cy="29352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48200" y="3329939"/>
              <a:ext cx="352425" cy="76200"/>
            </a:xfrm>
            <a:custGeom>
              <a:avLst/>
              <a:gdLst/>
              <a:ahLst/>
              <a:cxnLst/>
              <a:rect l="l" t="t" r="r" b="b"/>
              <a:pathLst>
                <a:path w="352425" h="76200">
                  <a:moveTo>
                    <a:pt x="276098" y="0"/>
                  </a:moveTo>
                  <a:lnTo>
                    <a:pt x="276098" y="76200"/>
                  </a:lnTo>
                  <a:lnTo>
                    <a:pt x="339598" y="44450"/>
                  </a:lnTo>
                  <a:lnTo>
                    <a:pt x="288798" y="44450"/>
                  </a:lnTo>
                  <a:lnTo>
                    <a:pt x="288798" y="31750"/>
                  </a:lnTo>
                  <a:lnTo>
                    <a:pt x="339598" y="31750"/>
                  </a:lnTo>
                  <a:lnTo>
                    <a:pt x="276098" y="0"/>
                  </a:lnTo>
                  <a:close/>
                </a:path>
                <a:path w="352425" h="76200">
                  <a:moveTo>
                    <a:pt x="276098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76098" y="44450"/>
                  </a:lnTo>
                  <a:lnTo>
                    <a:pt x="276098" y="31750"/>
                  </a:lnTo>
                  <a:close/>
                </a:path>
                <a:path w="352425" h="76200">
                  <a:moveTo>
                    <a:pt x="339598" y="31750"/>
                  </a:moveTo>
                  <a:lnTo>
                    <a:pt x="288798" y="31750"/>
                  </a:lnTo>
                  <a:lnTo>
                    <a:pt x="288798" y="44450"/>
                  </a:lnTo>
                  <a:lnTo>
                    <a:pt x="339598" y="44450"/>
                  </a:lnTo>
                  <a:lnTo>
                    <a:pt x="352298" y="38100"/>
                  </a:lnTo>
                  <a:lnTo>
                    <a:pt x="339598" y="31750"/>
                  </a:lnTo>
                  <a:close/>
                </a:path>
              </a:pathLst>
            </a:custGeom>
            <a:solidFill>
              <a:srgbClr val="00B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61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4186554" cy="1861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Recovery Scenario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400">
              <a:latin typeface="Calibri"/>
              <a:cs typeface="Calibri"/>
            </a:endParaRPr>
          </a:p>
          <a:p>
            <a:pPr marL="12700" marR="52197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Recovery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scenarios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only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triggered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Execution </a:t>
            </a:r>
            <a:r>
              <a:rPr sz="1400" b="1" dirty="0">
                <a:latin typeface="Calibri"/>
                <a:cs typeface="Calibri"/>
              </a:rPr>
              <a:t>Lists.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trigger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scratchbook.</a:t>
            </a:r>
            <a:endParaRPr sz="1400">
              <a:latin typeface="Calibri"/>
              <a:cs typeface="Calibri"/>
            </a:endParaRPr>
          </a:p>
          <a:p>
            <a:pPr marL="12700" marR="885190">
              <a:lnSpc>
                <a:spcPct val="100000"/>
              </a:lnSpc>
              <a:spcBef>
                <a:spcPts val="1680"/>
              </a:spcBef>
            </a:pPr>
            <a:r>
              <a:rPr sz="1400" spc="-10" dirty="0">
                <a:latin typeface="Calibri"/>
                <a:cs typeface="Calibri"/>
              </a:rPr>
              <a:t>Triggering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only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happens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OnDialogFailure</a:t>
            </a:r>
            <a:r>
              <a:rPr sz="1400" spc="-10" dirty="0">
                <a:latin typeface="Calibri"/>
                <a:cs typeface="Calibri"/>
              </a:rPr>
              <a:t>, </a:t>
            </a:r>
            <a:r>
              <a:rPr sz="1400" b="1" spc="-10" dirty="0">
                <a:latin typeface="Calibri"/>
                <a:cs typeface="Calibri"/>
              </a:rPr>
              <a:t>OnExceptionFailure</a:t>
            </a:r>
            <a:r>
              <a:rPr sz="1400" spc="-10" dirty="0">
                <a:latin typeface="Calibri"/>
                <a:cs typeface="Calibri"/>
              </a:rPr>
              <a:t>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OnVerificationFailure </a:t>
            </a:r>
            <a:r>
              <a:rPr sz="1400" spc="-10" dirty="0">
                <a:latin typeface="Calibri"/>
                <a:cs typeface="Calibri"/>
              </a:rPr>
              <a:t>Configuration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parameters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Recover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8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Recovery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Scenario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97628" y="2075688"/>
            <a:ext cx="4140200" cy="1621790"/>
            <a:chOff x="4397628" y="2075688"/>
            <a:chExt cx="4140200" cy="16217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8967" y="2075688"/>
              <a:ext cx="3078480" cy="16215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97628" y="2624455"/>
              <a:ext cx="891540" cy="328295"/>
            </a:xfrm>
            <a:custGeom>
              <a:avLst/>
              <a:gdLst/>
              <a:ahLst/>
              <a:cxnLst/>
              <a:rect l="l" t="t" r="r" b="b"/>
              <a:pathLst>
                <a:path w="891539" h="328294">
                  <a:moveTo>
                    <a:pt x="817406" y="298299"/>
                  </a:moveTo>
                  <a:lnTo>
                    <a:pt x="806958" y="328168"/>
                  </a:lnTo>
                  <a:lnTo>
                    <a:pt x="891413" y="317500"/>
                  </a:lnTo>
                  <a:lnTo>
                    <a:pt x="876893" y="302513"/>
                  </a:lnTo>
                  <a:lnTo>
                    <a:pt x="829437" y="302513"/>
                  </a:lnTo>
                  <a:lnTo>
                    <a:pt x="817406" y="298299"/>
                  </a:lnTo>
                  <a:close/>
                </a:path>
                <a:path w="891539" h="328294">
                  <a:moveTo>
                    <a:pt x="821623" y="286244"/>
                  </a:moveTo>
                  <a:lnTo>
                    <a:pt x="817406" y="298299"/>
                  </a:lnTo>
                  <a:lnTo>
                    <a:pt x="829437" y="302513"/>
                  </a:lnTo>
                  <a:lnTo>
                    <a:pt x="833628" y="290449"/>
                  </a:lnTo>
                  <a:lnTo>
                    <a:pt x="821623" y="286244"/>
                  </a:lnTo>
                  <a:close/>
                </a:path>
                <a:path w="891539" h="328294">
                  <a:moveTo>
                    <a:pt x="832104" y="256286"/>
                  </a:moveTo>
                  <a:lnTo>
                    <a:pt x="821623" y="286244"/>
                  </a:lnTo>
                  <a:lnTo>
                    <a:pt x="833628" y="290449"/>
                  </a:lnTo>
                  <a:lnTo>
                    <a:pt x="829437" y="302513"/>
                  </a:lnTo>
                  <a:lnTo>
                    <a:pt x="876893" y="302513"/>
                  </a:lnTo>
                  <a:lnTo>
                    <a:pt x="832104" y="256286"/>
                  </a:lnTo>
                  <a:close/>
                </a:path>
                <a:path w="891539" h="328294">
                  <a:moveTo>
                    <a:pt x="4318" y="0"/>
                  </a:moveTo>
                  <a:lnTo>
                    <a:pt x="0" y="11937"/>
                  </a:lnTo>
                  <a:lnTo>
                    <a:pt x="817406" y="298299"/>
                  </a:lnTo>
                  <a:lnTo>
                    <a:pt x="821623" y="286244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rgbClr val="00B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62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9027" y="1032763"/>
            <a:ext cx="7459980" cy="1124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7084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Cleanup</a:t>
            </a:r>
            <a:r>
              <a:rPr sz="1400" b="1" spc="-5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Scenario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CleanUp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Scenarios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Recovery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Scenarios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attempted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have</a:t>
            </a:r>
            <a:r>
              <a:rPr sz="1400" spc="5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failed.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purpose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CleanUp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scenarios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reset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application/environment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next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begin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10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Cleanup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Scenario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3896" y="2328672"/>
            <a:ext cx="5891783" cy="14203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63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7104380" cy="2043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9779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Naming</a:t>
            </a:r>
            <a:r>
              <a:rPr sz="1400" b="1" spc="-2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Convention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recovery scenario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name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descriptive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below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Prefixes: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spc="-20" dirty="0">
                <a:latin typeface="Calibri"/>
                <a:cs typeface="Calibri"/>
              </a:rPr>
              <a:t>TestCase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Recovery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TC_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Test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case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retry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level)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spc="-25" dirty="0">
                <a:latin typeface="Calibri"/>
                <a:cs typeface="Calibri"/>
              </a:rPr>
              <a:t>TestStep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Recovery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TS_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(For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Test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retry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level)</a:t>
            </a:r>
            <a:endParaRPr sz="1600">
              <a:latin typeface="Calibri"/>
              <a:cs typeface="Calibri"/>
            </a:endParaRPr>
          </a:p>
          <a:p>
            <a:pPr marL="12700" marR="1649730" indent="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spc="-25" dirty="0">
                <a:latin typeface="Calibri"/>
                <a:cs typeface="Calibri"/>
              </a:rPr>
              <a:t>TestStepValue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Recovery -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TSV_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Test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Value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retry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level) </a:t>
            </a:r>
            <a:r>
              <a:rPr sz="1600" dirty="0">
                <a:latin typeface="Calibri"/>
                <a:cs typeface="Calibri"/>
              </a:rPr>
              <a:t>Cleanup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Scenario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Cleanup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scenario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descriptive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does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64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0219" y="506983"/>
            <a:ext cx="817499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8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Recovery/Cleanup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Scenario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67509"/>
            <a:ext cx="54114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Module</a:t>
            </a:r>
            <a:r>
              <a:rPr sz="44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best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practices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65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110" dirty="0"/>
              <a:t>TOSCA</a:t>
            </a:r>
            <a:r>
              <a:rPr spc="250" dirty="0"/>
              <a:t> </a:t>
            </a:r>
            <a:r>
              <a:rPr spc="105" dirty="0"/>
              <a:t>SETUP</a:t>
            </a: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Module</a:t>
            </a:r>
            <a:r>
              <a:rPr sz="2200" spc="-9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Modification</a:t>
            </a:r>
            <a:r>
              <a:rPr sz="2200" spc="-8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9CDE"/>
                </a:solidFill>
                <a:latin typeface="Georgia"/>
                <a:cs typeface="Georgia"/>
              </a:rPr>
              <a:t>Workflow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58083" y="2276729"/>
            <a:ext cx="1481455" cy="1213485"/>
            <a:chOff x="2958083" y="2276729"/>
            <a:chExt cx="1481455" cy="1213485"/>
          </a:xfrm>
        </p:grpSpPr>
        <p:sp>
          <p:nvSpPr>
            <p:cNvPr id="6" name="object 6"/>
            <p:cNvSpPr/>
            <p:nvPr/>
          </p:nvSpPr>
          <p:spPr>
            <a:xfrm>
              <a:off x="3270503" y="2330196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h="596264">
                  <a:moveTo>
                    <a:pt x="0" y="595757"/>
                  </a:moveTo>
                  <a:lnTo>
                    <a:pt x="0" y="0"/>
                  </a:lnTo>
                </a:path>
              </a:pathLst>
            </a:custGeom>
            <a:ln w="15875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0503" y="2276729"/>
              <a:ext cx="1169035" cy="107314"/>
            </a:xfrm>
            <a:custGeom>
              <a:avLst/>
              <a:gdLst/>
              <a:ahLst/>
              <a:cxnLst/>
              <a:rect l="l" t="t" r="r" b="b"/>
              <a:pathLst>
                <a:path w="1169035" h="107314">
                  <a:moveTo>
                    <a:pt x="1137031" y="53572"/>
                  </a:moveTo>
                  <a:lnTo>
                    <a:pt x="1072769" y="91058"/>
                  </a:lnTo>
                  <a:lnTo>
                    <a:pt x="1068959" y="93218"/>
                  </a:lnTo>
                  <a:lnTo>
                    <a:pt x="1067689" y="98170"/>
                  </a:lnTo>
                  <a:lnTo>
                    <a:pt x="1069848" y="101853"/>
                  </a:lnTo>
                  <a:lnTo>
                    <a:pt x="1072007" y="105663"/>
                  </a:lnTo>
                  <a:lnTo>
                    <a:pt x="1076960" y="106933"/>
                  </a:lnTo>
                  <a:lnTo>
                    <a:pt x="1080770" y="104775"/>
                  </a:lnTo>
                  <a:lnTo>
                    <a:pt x="1155166" y="61340"/>
                  </a:lnTo>
                  <a:lnTo>
                    <a:pt x="1137031" y="61340"/>
                  </a:lnTo>
                  <a:lnTo>
                    <a:pt x="1137031" y="53572"/>
                  </a:lnTo>
                  <a:close/>
                </a:path>
                <a:path w="1169035" h="107314">
                  <a:moveTo>
                    <a:pt x="1089406" y="45465"/>
                  </a:moveTo>
                  <a:lnTo>
                    <a:pt x="1073531" y="45465"/>
                  </a:lnTo>
                  <a:lnTo>
                    <a:pt x="1073531" y="61340"/>
                  </a:lnTo>
                  <a:lnTo>
                    <a:pt x="1089406" y="61340"/>
                  </a:lnTo>
                  <a:lnTo>
                    <a:pt x="1089406" y="45465"/>
                  </a:lnTo>
                  <a:close/>
                </a:path>
                <a:path w="1169035" h="107314">
                  <a:moveTo>
                    <a:pt x="1121156" y="45465"/>
                  </a:moveTo>
                  <a:lnTo>
                    <a:pt x="1105281" y="45465"/>
                  </a:lnTo>
                  <a:lnTo>
                    <a:pt x="1105281" y="61340"/>
                  </a:lnTo>
                  <a:lnTo>
                    <a:pt x="1121156" y="61340"/>
                  </a:lnTo>
                  <a:lnTo>
                    <a:pt x="1121156" y="45465"/>
                  </a:lnTo>
                  <a:close/>
                </a:path>
                <a:path w="1169035" h="107314">
                  <a:moveTo>
                    <a:pt x="1148969" y="46608"/>
                  </a:moveTo>
                  <a:lnTo>
                    <a:pt x="1137031" y="53572"/>
                  </a:lnTo>
                  <a:lnTo>
                    <a:pt x="1137031" y="61340"/>
                  </a:lnTo>
                  <a:lnTo>
                    <a:pt x="1152906" y="61340"/>
                  </a:lnTo>
                  <a:lnTo>
                    <a:pt x="1152906" y="60325"/>
                  </a:lnTo>
                  <a:lnTo>
                    <a:pt x="1148969" y="60325"/>
                  </a:lnTo>
                  <a:lnTo>
                    <a:pt x="1137393" y="53572"/>
                  </a:lnTo>
                  <a:lnTo>
                    <a:pt x="1148969" y="53572"/>
                  </a:lnTo>
                  <a:lnTo>
                    <a:pt x="1148969" y="46608"/>
                  </a:lnTo>
                  <a:close/>
                </a:path>
                <a:path w="1169035" h="107314">
                  <a:moveTo>
                    <a:pt x="1154949" y="45465"/>
                  </a:moveTo>
                  <a:lnTo>
                    <a:pt x="1152906" y="45465"/>
                  </a:lnTo>
                  <a:lnTo>
                    <a:pt x="1152906" y="61340"/>
                  </a:lnTo>
                  <a:lnTo>
                    <a:pt x="1155166" y="61340"/>
                  </a:lnTo>
                  <a:lnTo>
                    <a:pt x="1168472" y="53572"/>
                  </a:lnTo>
                  <a:lnTo>
                    <a:pt x="1168835" y="53572"/>
                  </a:lnTo>
                  <a:lnTo>
                    <a:pt x="1154949" y="45465"/>
                  </a:lnTo>
                  <a:close/>
                </a:path>
                <a:path w="1169035" h="107314">
                  <a:moveTo>
                    <a:pt x="1076960" y="0"/>
                  </a:moveTo>
                  <a:lnTo>
                    <a:pt x="1072007" y="1269"/>
                  </a:lnTo>
                  <a:lnTo>
                    <a:pt x="1069848" y="5079"/>
                  </a:lnTo>
                  <a:lnTo>
                    <a:pt x="1067689" y="8762"/>
                  </a:lnTo>
                  <a:lnTo>
                    <a:pt x="1068959" y="13715"/>
                  </a:lnTo>
                  <a:lnTo>
                    <a:pt x="1072769" y="15875"/>
                  </a:lnTo>
                  <a:lnTo>
                    <a:pt x="1148969" y="60325"/>
                  </a:lnTo>
                  <a:lnTo>
                    <a:pt x="1148969" y="53572"/>
                  </a:lnTo>
                  <a:lnTo>
                    <a:pt x="1137031" y="53572"/>
                  </a:lnTo>
                  <a:lnTo>
                    <a:pt x="1137031" y="45465"/>
                  </a:lnTo>
                  <a:lnTo>
                    <a:pt x="1154949" y="45465"/>
                  </a:lnTo>
                  <a:lnTo>
                    <a:pt x="1080770" y="2158"/>
                  </a:lnTo>
                  <a:lnTo>
                    <a:pt x="1076960" y="0"/>
                  </a:lnTo>
                  <a:close/>
                </a:path>
                <a:path w="1169035" h="107314">
                  <a:moveTo>
                    <a:pt x="1152906" y="46608"/>
                  </a:moveTo>
                  <a:lnTo>
                    <a:pt x="1148969" y="46608"/>
                  </a:lnTo>
                  <a:lnTo>
                    <a:pt x="1148969" y="60325"/>
                  </a:lnTo>
                  <a:lnTo>
                    <a:pt x="1152906" y="60325"/>
                  </a:lnTo>
                  <a:lnTo>
                    <a:pt x="1152906" y="46608"/>
                  </a:lnTo>
                  <a:close/>
                </a:path>
                <a:path w="1169035" h="107314">
                  <a:moveTo>
                    <a:pt x="1152906" y="45465"/>
                  </a:moveTo>
                  <a:lnTo>
                    <a:pt x="1137031" y="45465"/>
                  </a:lnTo>
                  <a:lnTo>
                    <a:pt x="1137031" y="53572"/>
                  </a:lnTo>
                  <a:lnTo>
                    <a:pt x="1148969" y="46608"/>
                  </a:lnTo>
                  <a:lnTo>
                    <a:pt x="1152906" y="46608"/>
                  </a:lnTo>
                  <a:lnTo>
                    <a:pt x="1152906" y="45465"/>
                  </a:lnTo>
                  <a:close/>
                </a:path>
                <a:path w="1169035" h="107314">
                  <a:moveTo>
                    <a:pt x="1057656" y="45465"/>
                  </a:moveTo>
                  <a:lnTo>
                    <a:pt x="1041781" y="45465"/>
                  </a:lnTo>
                  <a:lnTo>
                    <a:pt x="1041781" y="61340"/>
                  </a:lnTo>
                  <a:lnTo>
                    <a:pt x="1057656" y="61340"/>
                  </a:lnTo>
                  <a:lnTo>
                    <a:pt x="1057656" y="45465"/>
                  </a:lnTo>
                  <a:close/>
                </a:path>
                <a:path w="1169035" h="107314">
                  <a:moveTo>
                    <a:pt x="1025906" y="45465"/>
                  </a:moveTo>
                  <a:lnTo>
                    <a:pt x="1010031" y="45465"/>
                  </a:lnTo>
                  <a:lnTo>
                    <a:pt x="1010031" y="61340"/>
                  </a:lnTo>
                  <a:lnTo>
                    <a:pt x="1025906" y="61340"/>
                  </a:lnTo>
                  <a:lnTo>
                    <a:pt x="1025906" y="45465"/>
                  </a:lnTo>
                  <a:close/>
                </a:path>
                <a:path w="1169035" h="107314">
                  <a:moveTo>
                    <a:pt x="994156" y="45465"/>
                  </a:moveTo>
                  <a:lnTo>
                    <a:pt x="978281" y="45465"/>
                  </a:lnTo>
                  <a:lnTo>
                    <a:pt x="978281" y="61340"/>
                  </a:lnTo>
                  <a:lnTo>
                    <a:pt x="994156" y="61340"/>
                  </a:lnTo>
                  <a:lnTo>
                    <a:pt x="994156" y="45465"/>
                  </a:lnTo>
                  <a:close/>
                </a:path>
                <a:path w="1169035" h="107314">
                  <a:moveTo>
                    <a:pt x="962406" y="45465"/>
                  </a:moveTo>
                  <a:lnTo>
                    <a:pt x="946531" y="45465"/>
                  </a:lnTo>
                  <a:lnTo>
                    <a:pt x="946531" y="61340"/>
                  </a:lnTo>
                  <a:lnTo>
                    <a:pt x="962406" y="61340"/>
                  </a:lnTo>
                  <a:lnTo>
                    <a:pt x="962406" y="45465"/>
                  </a:lnTo>
                  <a:close/>
                </a:path>
                <a:path w="1169035" h="107314">
                  <a:moveTo>
                    <a:pt x="930656" y="45465"/>
                  </a:moveTo>
                  <a:lnTo>
                    <a:pt x="914781" y="45465"/>
                  </a:lnTo>
                  <a:lnTo>
                    <a:pt x="914781" y="61340"/>
                  </a:lnTo>
                  <a:lnTo>
                    <a:pt x="930656" y="61340"/>
                  </a:lnTo>
                  <a:lnTo>
                    <a:pt x="930656" y="45465"/>
                  </a:lnTo>
                  <a:close/>
                </a:path>
                <a:path w="1169035" h="107314">
                  <a:moveTo>
                    <a:pt x="898906" y="45465"/>
                  </a:moveTo>
                  <a:lnTo>
                    <a:pt x="883031" y="45465"/>
                  </a:lnTo>
                  <a:lnTo>
                    <a:pt x="883031" y="61340"/>
                  </a:lnTo>
                  <a:lnTo>
                    <a:pt x="898906" y="61340"/>
                  </a:lnTo>
                  <a:lnTo>
                    <a:pt x="898906" y="45465"/>
                  </a:lnTo>
                  <a:close/>
                </a:path>
                <a:path w="1169035" h="107314">
                  <a:moveTo>
                    <a:pt x="867156" y="45465"/>
                  </a:moveTo>
                  <a:lnTo>
                    <a:pt x="851281" y="45465"/>
                  </a:lnTo>
                  <a:lnTo>
                    <a:pt x="851281" y="61340"/>
                  </a:lnTo>
                  <a:lnTo>
                    <a:pt x="867156" y="61340"/>
                  </a:lnTo>
                  <a:lnTo>
                    <a:pt x="867156" y="45465"/>
                  </a:lnTo>
                  <a:close/>
                </a:path>
                <a:path w="1169035" h="107314">
                  <a:moveTo>
                    <a:pt x="835406" y="45465"/>
                  </a:moveTo>
                  <a:lnTo>
                    <a:pt x="819531" y="45465"/>
                  </a:lnTo>
                  <a:lnTo>
                    <a:pt x="819531" y="61340"/>
                  </a:lnTo>
                  <a:lnTo>
                    <a:pt x="835406" y="61340"/>
                  </a:lnTo>
                  <a:lnTo>
                    <a:pt x="835406" y="45465"/>
                  </a:lnTo>
                  <a:close/>
                </a:path>
                <a:path w="1169035" h="107314">
                  <a:moveTo>
                    <a:pt x="803656" y="45465"/>
                  </a:moveTo>
                  <a:lnTo>
                    <a:pt x="787781" y="45465"/>
                  </a:lnTo>
                  <a:lnTo>
                    <a:pt x="787781" y="61340"/>
                  </a:lnTo>
                  <a:lnTo>
                    <a:pt x="803656" y="61340"/>
                  </a:lnTo>
                  <a:lnTo>
                    <a:pt x="803656" y="45465"/>
                  </a:lnTo>
                  <a:close/>
                </a:path>
                <a:path w="1169035" h="107314">
                  <a:moveTo>
                    <a:pt x="771906" y="45465"/>
                  </a:moveTo>
                  <a:lnTo>
                    <a:pt x="756031" y="45465"/>
                  </a:lnTo>
                  <a:lnTo>
                    <a:pt x="756031" y="61340"/>
                  </a:lnTo>
                  <a:lnTo>
                    <a:pt x="771906" y="61340"/>
                  </a:lnTo>
                  <a:lnTo>
                    <a:pt x="771906" y="45465"/>
                  </a:lnTo>
                  <a:close/>
                </a:path>
                <a:path w="1169035" h="107314">
                  <a:moveTo>
                    <a:pt x="740156" y="45465"/>
                  </a:moveTo>
                  <a:lnTo>
                    <a:pt x="724281" y="45465"/>
                  </a:lnTo>
                  <a:lnTo>
                    <a:pt x="724281" y="61340"/>
                  </a:lnTo>
                  <a:lnTo>
                    <a:pt x="740156" y="61340"/>
                  </a:lnTo>
                  <a:lnTo>
                    <a:pt x="740156" y="45465"/>
                  </a:lnTo>
                  <a:close/>
                </a:path>
                <a:path w="1169035" h="107314">
                  <a:moveTo>
                    <a:pt x="708406" y="45465"/>
                  </a:moveTo>
                  <a:lnTo>
                    <a:pt x="692531" y="45465"/>
                  </a:lnTo>
                  <a:lnTo>
                    <a:pt x="692531" y="61340"/>
                  </a:lnTo>
                  <a:lnTo>
                    <a:pt x="708406" y="61340"/>
                  </a:lnTo>
                  <a:lnTo>
                    <a:pt x="708406" y="45465"/>
                  </a:lnTo>
                  <a:close/>
                </a:path>
                <a:path w="1169035" h="107314">
                  <a:moveTo>
                    <a:pt x="676656" y="45465"/>
                  </a:moveTo>
                  <a:lnTo>
                    <a:pt x="660781" y="45465"/>
                  </a:lnTo>
                  <a:lnTo>
                    <a:pt x="660781" y="61340"/>
                  </a:lnTo>
                  <a:lnTo>
                    <a:pt x="676656" y="61340"/>
                  </a:lnTo>
                  <a:lnTo>
                    <a:pt x="676656" y="45465"/>
                  </a:lnTo>
                  <a:close/>
                </a:path>
                <a:path w="1169035" h="107314">
                  <a:moveTo>
                    <a:pt x="644906" y="45465"/>
                  </a:moveTo>
                  <a:lnTo>
                    <a:pt x="629031" y="45465"/>
                  </a:lnTo>
                  <a:lnTo>
                    <a:pt x="629031" y="61340"/>
                  </a:lnTo>
                  <a:lnTo>
                    <a:pt x="644906" y="61340"/>
                  </a:lnTo>
                  <a:lnTo>
                    <a:pt x="644906" y="45465"/>
                  </a:lnTo>
                  <a:close/>
                </a:path>
                <a:path w="1169035" h="107314">
                  <a:moveTo>
                    <a:pt x="613156" y="45465"/>
                  </a:moveTo>
                  <a:lnTo>
                    <a:pt x="597281" y="45465"/>
                  </a:lnTo>
                  <a:lnTo>
                    <a:pt x="597281" y="61340"/>
                  </a:lnTo>
                  <a:lnTo>
                    <a:pt x="613156" y="61340"/>
                  </a:lnTo>
                  <a:lnTo>
                    <a:pt x="613156" y="45465"/>
                  </a:lnTo>
                  <a:close/>
                </a:path>
                <a:path w="1169035" h="107314">
                  <a:moveTo>
                    <a:pt x="581406" y="45465"/>
                  </a:moveTo>
                  <a:lnTo>
                    <a:pt x="565531" y="45465"/>
                  </a:lnTo>
                  <a:lnTo>
                    <a:pt x="565531" y="61340"/>
                  </a:lnTo>
                  <a:lnTo>
                    <a:pt x="581406" y="61340"/>
                  </a:lnTo>
                  <a:lnTo>
                    <a:pt x="581406" y="45465"/>
                  </a:lnTo>
                  <a:close/>
                </a:path>
                <a:path w="1169035" h="107314">
                  <a:moveTo>
                    <a:pt x="549656" y="45465"/>
                  </a:moveTo>
                  <a:lnTo>
                    <a:pt x="533781" y="45465"/>
                  </a:lnTo>
                  <a:lnTo>
                    <a:pt x="533781" y="61340"/>
                  </a:lnTo>
                  <a:lnTo>
                    <a:pt x="549656" y="61340"/>
                  </a:lnTo>
                  <a:lnTo>
                    <a:pt x="549656" y="45465"/>
                  </a:lnTo>
                  <a:close/>
                </a:path>
                <a:path w="1169035" h="107314">
                  <a:moveTo>
                    <a:pt x="517906" y="45465"/>
                  </a:moveTo>
                  <a:lnTo>
                    <a:pt x="502031" y="45465"/>
                  </a:lnTo>
                  <a:lnTo>
                    <a:pt x="502031" y="61340"/>
                  </a:lnTo>
                  <a:lnTo>
                    <a:pt x="517906" y="61340"/>
                  </a:lnTo>
                  <a:lnTo>
                    <a:pt x="517906" y="45465"/>
                  </a:lnTo>
                  <a:close/>
                </a:path>
                <a:path w="1169035" h="107314">
                  <a:moveTo>
                    <a:pt x="486156" y="45465"/>
                  </a:moveTo>
                  <a:lnTo>
                    <a:pt x="470281" y="45465"/>
                  </a:lnTo>
                  <a:lnTo>
                    <a:pt x="470281" y="61340"/>
                  </a:lnTo>
                  <a:lnTo>
                    <a:pt x="486156" y="61340"/>
                  </a:lnTo>
                  <a:lnTo>
                    <a:pt x="486156" y="45465"/>
                  </a:lnTo>
                  <a:close/>
                </a:path>
                <a:path w="1169035" h="107314">
                  <a:moveTo>
                    <a:pt x="454406" y="45465"/>
                  </a:moveTo>
                  <a:lnTo>
                    <a:pt x="438531" y="45465"/>
                  </a:lnTo>
                  <a:lnTo>
                    <a:pt x="438531" y="61340"/>
                  </a:lnTo>
                  <a:lnTo>
                    <a:pt x="454406" y="61340"/>
                  </a:lnTo>
                  <a:lnTo>
                    <a:pt x="454406" y="45465"/>
                  </a:lnTo>
                  <a:close/>
                </a:path>
                <a:path w="1169035" h="107314">
                  <a:moveTo>
                    <a:pt x="422656" y="45465"/>
                  </a:moveTo>
                  <a:lnTo>
                    <a:pt x="406781" y="45465"/>
                  </a:lnTo>
                  <a:lnTo>
                    <a:pt x="406781" y="61340"/>
                  </a:lnTo>
                  <a:lnTo>
                    <a:pt x="422656" y="61340"/>
                  </a:lnTo>
                  <a:lnTo>
                    <a:pt x="422656" y="45465"/>
                  </a:lnTo>
                  <a:close/>
                </a:path>
                <a:path w="1169035" h="107314">
                  <a:moveTo>
                    <a:pt x="390906" y="45465"/>
                  </a:moveTo>
                  <a:lnTo>
                    <a:pt x="375031" y="45465"/>
                  </a:lnTo>
                  <a:lnTo>
                    <a:pt x="375031" y="61340"/>
                  </a:lnTo>
                  <a:lnTo>
                    <a:pt x="390906" y="61340"/>
                  </a:lnTo>
                  <a:lnTo>
                    <a:pt x="390906" y="45465"/>
                  </a:lnTo>
                  <a:close/>
                </a:path>
                <a:path w="1169035" h="107314">
                  <a:moveTo>
                    <a:pt x="359156" y="45465"/>
                  </a:moveTo>
                  <a:lnTo>
                    <a:pt x="343281" y="45465"/>
                  </a:lnTo>
                  <a:lnTo>
                    <a:pt x="343281" y="61340"/>
                  </a:lnTo>
                  <a:lnTo>
                    <a:pt x="359156" y="61340"/>
                  </a:lnTo>
                  <a:lnTo>
                    <a:pt x="359156" y="45465"/>
                  </a:lnTo>
                  <a:close/>
                </a:path>
                <a:path w="1169035" h="107314">
                  <a:moveTo>
                    <a:pt x="327406" y="45465"/>
                  </a:moveTo>
                  <a:lnTo>
                    <a:pt x="311531" y="45465"/>
                  </a:lnTo>
                  <a:lnTo>
                    <a:pt x="311531" y="61340"/>
                  </a:lnTo>
                  <a:lnTo>
                    <a:pt x="327406" y="61340"/>
                  </a:lnTo>
                  <a:lnTo>
                    <a:pt x="327406" y="45465"/>
                  </a:lnTo>
                  <a:close/>
                </a:path>
                <a:path w="1169035" h="107314">
                  <a:moveTo>
                    <a:pt x="295656" y="45465"/>
                  </a:moveTo>
                  <a:lnTo>
                    <a:pt x="279781" y="45465"/>
                  </a:lnTo>
                  <a:lnTo>
                    <a:pt x="279781" y="61340"/>
                  </a:lnTo>
                  <a:lnTo>
                    <a:pt x="295656" y="61340"/>
                  </a:lnTo>
                  <a:lnTo>
                    <a:pt x="295656" y="45465"/>
                  </a:lnTo>
                  <a:close/>
                </a:path>
                <a:path w="1169035" h="107314">
                  <a:moveTo>
                    <a:pt x="263906" y="45465"/>
                  </a:moveTo>
                  <a:lnTo>
                    <a:pt x="248031" y="45465"/>
                  </a:lnTo>
                  <a:lnTo>
                    <a:pt x="248031" y="61340"/>
                  </a:lnTo>
                  <a:lnTo>
                    <a:pt x="263906" y="61340"/>
                  </a:lnTo>
                  <a:lnTo>
                    <a:pt x="263906" y="45465"/>
                  </a:lnTo>
                  <a:close/>
                </a:path>
                <a:path w="1169035" h="107314">
                  <a:moveTo>
                    <a:pt x="232156" y="45465"/>
                  </a:moveTo>
                  <a:lnTo>
                    <a:pt x="216281" y="45465"/>
                  </a:lnTo>
                  <a:lnTo>
                    <a:pt x="216281" y="61340"/>
                  </a:lnTo>
                  <a:lnTo>
                    <a:pt x="232156" y="61340"/>
                  </a:lnTo>
                  <a:lnTo>
                    <a:pt x="232156" y="45465"/>
                  </a:lnTo>
                  <a:close/>
                </a:path>
                <a:path w="1169035" h="107314">
                  <a:moveTo>
                    <a:pt x="200406" y="45465"/>
                  </a:moveTo>
                  <a:lnTo>
                    <a:pt x="184531" y="45465"/>
                  </a:lnTo>
                  <a:lnTo>
                    <a:pt x="184531" y="61340"/>
                  </a:lnTo>
                  <a:lnTo>
                    <a:pt x="200406" y="61340"/>
                  </a:lnTo>
                  <a:lnTo>
                    <a:pt x="200406" y="45465"/>
                  </a:lnTo>
                  <a:close/>
                </a:path>
                <a:path w="1169035" h="107314">
                  <a:moveTo>
                    <a:pt x="168656" y="45465"/>
                  </a:moveTo>
                  <a:lnTo>
                    <a:pt x="152781" y="45465"/>
                  </a:lnTo>
                  <a:lnTo>
                    <a:pt x="152781" y="61340"/>
                  </a:lnTo>
                  <a:lnTo>
                    <a:pt x="168656" y="61340"/>
                  </a:lnTo>
                  <a:lnTo>
                    <a:pt x="168656" y="45465"/>
                  </a:lnTo>
                  <a:close/>
                </a:path>
                <a:path w="1169035" h="107314">
                  <a:moveTo>
                    <a:pt x="136906" y="45465"/>
                  </a:moveTo>
                  <a:lnTo>
                    <a:pt x="121031" y="45465"/>
                  </a:lnTo>
                  <a:lnTo>
                    <a:pt x="121031" y="61340"/>
                  </a:lnTo>
                  <a:lnTo>
                    <a:pt x="136906" y="61340"/>
                  </a:lnTo>
                  <a:lnTo>
                    <a:pt x="136906" y="45465"/>
                  </a:lnTo>
                  <a:close/>
                </a:path>
                <a:path w="1169035" h="107314">
                  <a:moveTo>
                    <a:pt x="105156" y="45465"/>
                  </a:moveTo>
                  <a:lnTo>
                    <a:pt x="89281" y="45465"/>
                  </a:lnTo>
                  <a:lnTo>
                    <a:pt x="89281" y="61340"/>
                  </a:lnTo>
                  <a:lnTo>
                    <a:pt x="105156" y="61340"/>
                  </a:lnTo>
                  <a:lnTo>
                    <a:pt x="105156" y="45465"/>
                  </a:lnTo>
                  <a:close/>
                </a:path>
                <a:path w="1169035" h="107314">
                  <a:moveTo>
                    <a:pt x="73406" y="45465"/>
                  </a:moveTo>
                  <a:lnTo>
                    <a:pt x="57531" y="45465"/>
                  </a:lnTo>
                  <a:lnTo>
                    <a:pt x="57531" y="61340"/>
                  </a:lnTo>
                  <a:lnTo>
                    <a:pt x="73406" y="61340"/>
                  </a:lnTo>
                  <a:lnTo>
                    <a:pt x="73406" y="45465"/>
                  </a:lnTo>
                  <a:close/>
                </a:path>
                <a:path w="1169035" h="107314">
                  <a:moveTo>
                    <a:pt x="41656" y="45465"/>
                  </a:moveTo>
                  <a:lnTo>
                    <a:pt x="25781" y="45465"/>
                  </a:lnTo>
                  <a:lnTo>
                    <a:pt x="25781" y="61340"/>
                  </a:lnTo>
                  <a:lnTo>
                    <a:pt x="41656" y="61340"/>
                  </a:lnTo>
                  <a:lnTo>
                    <a:pt x="41656" y="45465"/>
                  </a:lnTo>
                  <a:close/>
                </a:path>
                <a:path w="1169035" h="107314">
                  <a:moveTo>
                    <a:pt x="9906" y="45465"/>
                  </a:moveTo>
                  <a:lnTo>
                    <a:pt x="0" y="45465"/>
                  </a:lnTo>
                  <a:lnTo>
                    <a:pt x="0" y="61340"/>
                  </a:lnTo>
                  <a:lnTo>
                    <a:pt x="9906" y="61340"/>
                  </a:lnTo>
                  <a:lnTo>
                    <a:pt x="9906" y="45465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6183" y="2758440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20">
                  <a:moveTo>
                    <a:pt x="345186" y="0"/>
                  </a:moveTo>
                  <a:lnTo>
                    <a:pt x="298349" y="3164"/>
                  </a:lnTo>
                  <a:lnTo>
                    <a:pt x="253426" y="12382"/>
                  </a:lnTo>
                  <a:lnTo>
                    <a:pt x="210829" y="27241"/>
                  </a:lnTo>
                  <a:lnTo>
                    <a:pt x="170970" y="47328"/>
                  </a:lnTo>
                  <a:lnTo>
                    <a:pt x="134259" y="72231"/>
                  </a:lnTo>
                  <a:lnTo>
                    <a:pt x="101107" y="101536"/>
                  </a:lnTo>
                  <a:lnTo>
                    <a:pt x="71928" y="134831"/>
                  </a:lnTo>
                  <a:lnTo>
                    <a:pt x="47131" y="171703"/>
                  </a:lnTo>
                  <a:lnTo>
                    <a:pt x="27128" y="211740"/>
                  </a:lnTo>
                  <a:lnTo>
                    <a:pt x="12331" y="254529"/>
                  </a:lnTo>
                  <a:lnTo>
                    <a:pt x="3151" y="299656"/>
                  </a:lnTo>
                  <a:lnTo>
                    <a:pt x="0" y="346710"/>
                  </a:lnTo>
                  <a:lnTo>
                    <a:pt x="3151" y="393763"/>
                  </a:lnTo>
                  <a:lnTo>
                    <a:pt x="12331" y="438890"/>
                  </a:lnTo>
                  <a:lnTo>
                    <a:pt x="27128" y="481679"/>
                  </a:lnTo>
                  <a:lnTo>
                    <a:pt x="47131" y="521716"/>
                  </a:lnTo>
                  <a:lnTo>
                    <a:pt x="71928" y="558588"/>
                  </a:lnTo>
                  <a:lnTo>
                    <a:pt x="101107" y="591883"/>
                  </a:lnTo>
                  <a:lnTo>
                    <a:pt x="134259" y="621188"/>
                  </a:lnTo>
                  <a:lnTo>
                    <a:pt x="170970" y="646091"/>
                  </a:lnTo>
                  <a:lnTo>
                    <a:pt x="210829" y="666178"/>
                  </a:lnTo>
                  <a:lnTo>
                    <a:pt x="253426" y="681037"/>
                  </a:lnTo>
                  <a:lnTo>
                    <a:pt x="298349" y="690255"/>
                  </a:lnTo>
                  <a:lnTo>
                    <a:pt x="345186" y="693420"/>
                  </a:lnTo>
                  <a:lnTo>
                    <a:pt x="392022" y="690255"/>
                  </a:lnTo>
                  <a:lnTo>
                    <a:pt x="436945" y="681037"/>
                  </a:lnTo>
                  <a:lnTo>
                    <a:pt x="479542" y="666178"/>
                  </a:lnTo>
                  <a:lnTo>
                    <a:pt x="519401" y="646091"/>
                  </a:lnTo>
                  <a:lnTo>
                    <a:pt x="556112" y="621188"/>
                  </a:lnTo>
                  <a:lnTo>
                    <a:pt x="589264" y="591883"/>
                  </a:lnTo>
                  <a:lnTo>
                    <a:pt x="618443" y="558588"/>
                  </a:lnTo>
                  <a:lnTo>
                    <a:pt x="643240" y="521716"/>
                  </a:lnTo>
                  <a:lnTo>
                    <a:pt x="663243" y="481679"/>
                  </a:lnTo>
                  <a:lnTo>
                    <a:pt x="678040" y="438890"/>
                  </a:lnTo>
                  <a:lnTo>
                    <a:pt x="687220" y="393763"/>
                  </a:lnTo>
                  <a:lnTo>
                    <a:pt x="690371" y="346710"/>
                  </a:lnTo>
                  <a:lnTo>
                    <a:pt x="687220" y="299656"/>
                  </a:lnTo>
                  <a:lnTo>
                    <a:pt x="678040" y="254529"/>
                  </a:lnTo>
                  <a:lnTo>
                    <a:pt x="663243" y="211740"/>
                  </a:lnTo>
                  <a:lnTo>
                    <a:pt x="643240" y="171704"/>
                  </a:lnTo>
                  <a:lnTo>
                    <a:pt x="618443" y="134831"/>
                  </a:lnTo>
                  <a:lnTo>
                    <a:pt x="589264" y="101536"/>
                  </a:lnTo>
                  <a:lnTo>
                    <a:pt x="556112" y="72231"/>
                  </a:lnTo>
                  <a:lnTo>
                    <a:pt x="519401" y="47328"/>
                  </a:lnTo>
                  <a:lnTo>
                    <a:pt x="479542" y="27241"/>
                  </a:lnTo>
                  <a:lnTo>
                    <a:pt x="436945" y="12382"/>
                  </a:lnTo>
                  <a:lnTo>
                    <a:pt x="392022" y="3164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710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96183" y="2758440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20">
                  <a:moveTo>
                    <a:pt x="0" y="346710"/>
                  </a:moveTo>
                  <a:lnTo>
                    <a:pt x="3151" y="299656"/>
                  </a:lnTo>
                  <a:lnTo>
                    <a:pt x="12331" y="254529"/>
                  </a:lnTo>
                  <a:lnTo>
                    <a:pt x="27128" y="211740"/>
                  </a:lnTo>
                  <a:lnTo>
                    <a:pt x="47131" y="171703"/>
                  </a:lnTo>
                  <a:lnTo>
                    <a:pt x="71928" y="134831"/>
                  </a:lnTo>
                  <a:lnTo>
                    <a:pt x="101107" y="101536"/>
                  </a:lnTo>
                  <a:lnTo>
                    <a:pt x="134259" y="72231"/>
                  </a:lnTo>
                  <a:lnTo>
                    <a:pt x="170970" y="47328"/>
                  </a:lnTo>
                  <a:lnTo>
                    <a:pt x="210829" y="27241"/>
                  </a:lnTo>
                  <a:lnTo>
                    <a:pt x="253426" y="12382"/>
                  </a:lnTo>
                  <a:lnTo>
                    <a:pt x="298349" y="3164"/>
                  </a:lnTo>
                  <a:lnTo>
                    <a:pt x="345186" y="0"/>
                  </a:lnTo>
                  <a:lnTo>
                    <a:pt x="392022" y="3164"/>
                  </a:lnTo>
                  <a:lnTo>
                    <a:pt x="436945" y="12382"/>
                  </a:lnTo>
                  <a:lnTo>
                    <a:pt x="479542" y="27241"/>
                  </a:lnTo>
                  <a:lnTo>
                    <a:pt x="519401" y="47328"/>
                  </a:lnTo>
                  <a:lnTo>
                    <a:pt x="556112" y="72231"/>
                  </a:lnTo>
                  <a:lnTo>
                    <a:pt x="589264" y="101536"/>
                  </a:lnTo>
                  <a:lnTo>
                    <a:pt x="618443" y="134831"/>
                  </a:lnTo>
                  <a:lnTo>
                    <a:pt x="643240" y="171704"/>
                  </a:lnTo>
                  <a:lnTo>
                    <a:pt x="663243" y="211740"/>
                  </a:lnTo>
                  <a:lnTo>
                    <a:pt x="678040" y="254529"/>
                  </a:lnTo>
                  <a:lnTo>
                    <a:pt x="687220" y="299656"/>
                  </a:lnTo>
                  <a:lnTo>
                    <a:pt x="690371" y="346710"/>
                  </a:lnTo>
                  <a:lnTo>
                    <a:pt x="687220" y="393763"/>
                  </a:lnTo>
                  <a:lnTo>
                    <a:pt x="678040" y="438890"/>
                  </a:lnTo>
                  <a:lnTo>
                    <a:pt x="663243" y="481679"/>
                  </a:lnTo>
                  <a:lnTo>
                    <a:pt x="643240" y="521716"/>
                  </a:lnTo>
                  <a:lnTo>
                    <a:pt x="618443" y="558588"/>
                  </a:lnTo>
                  <a:lnTo>
                    <a:pt x="589264" y="591883"/>
                  </a:lnTo>
                  <a:lnTo>
                    <a:pt x="556112" y="621188"/>
                  </a:lnTo>
                  <a:lnTo>
                    <a:pt x="519401" y="646091"/>
                  </a:lnTo>
                  <a:lnTo>
                    <a:pt x="479542" y="666178"/>
                  </a:lnTo>
                  <a:lnTo>
                    <a:pt x="436945" y="681037"/>
                  </a:lnTo>
                  <a:lnTo>
                    <a:pt x="392022" y="690255"/>
                  </a:lnTo>
                  <a:lnTo>
                    <a:pt x="345186" y="693420"/>
                  </a:lnTo>
                  <a:lnTo>
                    <a:pt x="298349" y="690255"/>
                  </a:lnTo>
                  <a:lnTo>
                    <a:pt x="253426" y="681037"/>
                  </a:lnTo>
                  <a:lnTo>
                    <a:pt x="210829" y="666178"/>
                  </a:lnTo>
                  <a:lnTo>
                    <a:pt x="170970" y="646091"/>
                  </a:lnTo>
                  <a:lnTo>
                    <a:pt x="134259" y="621188"/>
                  </a:lnTo>
                  <a:lnTo>
                    <a:pt x="101107" y="591883"/>
                  </a:lnTo>
                  <a:lnTo>
                    <a:pt x="71928" y="558588"/>
                  </a:lnTo>
                  <a:lnTo>
                    <a:pt x="47131" y="521716"/>
                  </a:lnTo>
                  <a:lnTo>
                    <a:pt x="27128" y="481679"/>
                  </a:lnTo>
                  <a:lnTo>
                    <a:pt x="12331" y="438890"/>
                  </a:lnTo>
                  <a:lnTo>
                    <a:pt x="3151" y="393763"/>
                  </a:lnTo>
                  <a:lnTo>
                    <a:pt x="0" y="34671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295400" y="1932432"/>
            <a:ext cx="765175" cy="769620"/>
            <a:chOff x="1295400" y="1932432"/>
            <a:chExt cx="765175" cy="769620"/>
          </a:xfrm>
        </p:grpSpPr>
        <p:sp>
          <p:nvSpPr>
            <p:cNvPr id="11" name="object 11"/>
            <p:cNvSpPr/>
            <p:nvPr/>
          </p:nvSpPr>
          <p:spPr>
            <a:xfrm>
              <a:off x="1333500" y="1970532"/>
              <a:ext cx="688975" cy="693420"/>
            </a:xfrm>
            <a:custGeom>
              <a:avLst/>
              <a:gdLst/>
              <a:ahLst/>
              <a:cxnLst/>
              <a:rect l="l" t="t" r="r" b="b"/>
              <a:pathLst>
                <a:path w="688975" h="693419">
                  <a:moveTo>
                    <a:pt x="344424" y="0"/>
                  </a:moveTo>
                  <a:lnTo>
                    <a:pt x="297682" y="3164"/>
                  </a:lnTo>
                  <a:lnTo>
                    <a:pt x="252853" y="12382"/>
                  </a:lnTo>
                  <a:lnTo>
                    <a:pt x="210347" y="27241"/>
                  </a:lnTo>
                  <a:lnTo>
                    <a:pt x="170575" y="47328"/>
                  </a:lnTo>
                  <a:lnTo>
                    <a:pt x="133945" y="72231"/>
                  </a:lnTo>
                  <a:lnTo>
                    <a:pt x="100869" y="101536"/>
                  </a:lnTo>
                  <a:lnTo>
                    <a:pt x="71757" y="134831"/>
                  </a:lnTo>
                  <a:lnTo>
                    <a:pt x="47018" y="171703"/>
                  </a:lnTo>
                  <a:lnTo>
                    <a:pt x="27062" y="211740"/>
                  </a:lnTo>
                  <a:lnTo>
                    <a:pt x="12301" y="254529"/>
                  </a:lnTo>
                  <a:lnTo>
                    <a:pt x="3143" y="299656"/>
                  </a:lnTo>
                  <a:lnTo>
                    <a:pt x="0" y="346710"/>
                  </a:lnTo>
                  <a:lnTo>
                    <a:pt x="3143" y="393763"/>
                  </a:lnTo>
                  <a:lnTo>
                    <a:pt x="12301" y="438890"/>
                  </a:lnTo>
                  <a:lnTo>
                    <a:pt x="27062" y="481679"/>
                  </a:lnTo>
                  <a:lnTo>
                    <a:pt x="47018" y="521715"/>
                  </a:lnTo>
                  <a:lnTo>
                    <a:pt x="71757" y="558588"/>
                  </a:lnTo>
                  <a:lnTo>
                    <a:pt x="100869" y="591883"/>
                  </a:lnTo>
                  <a:lnTo>
                    <a:pt x="133945" y="621188"/>
                  </a:lnTo>
                  <a:lnTo>
                    <a:pt x="170575" y="646091"/>
                  </a:lnTo>
                  <a:lnTo>
                    <a:pt x="210347" y="666178"/>
                  </a:lnTo>
                  <a:lnTo>
                    <a:pt x="252853" y="681037"/>
                  </a:lnTo>
                  <a:lnTo>
                    <a:pt x="297682" y="690255"/>
                  </a:lnTo>
                  <a:lnTo>
                    <a:pt x="344424" y="693419"/>
                  </a:lnTo>
                  <a:lnTo>
                    <a:pt x="391165" y="690255"/>
                  </a:lnTo>
                  <a:lnTo>
                    <a:pt x="435994" y="681037"/>
                  </a:lnTo>
                  <a:lnTo>
                    <a:pt x="478500" y="666178"/>
                  </a:lnTo>
                  <a:lnTo>
                    <a:pt x="518272" y="646091"/>
                  </a:lnTo>
                  <a:lnTo>
                    <a:pt x="554902" y="621188"/>
                  </a:lnTo>
                  <a:lnTo>
                    <a:pt x="587978" y="591883"/>
                  </a:lnTo>
                  <a:lnTo>
                    <a:pt x="617090" y="558588"/>
                  </a:lnTo>
                  <a:lnTo>
                    <a:pt x="641829" y="521716"/>
                  </a:lnTo>
                  <a:lnTo>
                    <a:pt x="661785" y="481679"/>
                  </a:lnTo>
                  <a:lnTo>
                    <a:pt x="676546" y="438890"/>
                  </a:lnTo>
                  <a:lnTo>
                    <a:pt x="685704" y="393763"/>
                  </a:lnTo>
                  <a:lnTo>
                    <a:pt x="688848" y="346710"/>
                  </a:lnTo>
                  <a:lnTo>
                    <a:pt x="685704" y="299656"/>
                  </a:lnTo>
                  <a:lnTo>
                    <a:pt x="676546" y="254529"/>
                  </a:lnTo>
                  <a:lnTo>
                    <a:pt x="661785" y="211740"/>
                  </a:lnTo>
                  <a:lnTo>
                    <a:pt x="641829" y="171704"/>
                  </a:lnTo>
                  <a:lnTo>
                    <a:pt x="617090" y="134831"/>
                  </a:lnTo>
                  <a:lnTo>
                    <a:pt x="587978" y="101536"/>
                  </a:lnTo>
                  <a:lnTo>
                    <a:pt x="554902" y="72231"/>
                  </a:lnTo>
                  <a:lnTo>
                    <a:pt x="518272" y="47328"/>
                  </a:lnTo>
                  <a:lnTo>
                    <a:pt x="478500" y="27241"/>
                  </a:lnTo>
                  <a:lnTo>
                    <a:pt x="435994" y="12382"/>
                  </a:lnTo>
                  <a:lnTo>
                    <a:pt x="391165" y="3164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FF8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33500" y="1970532"/>
              <a:ext cx="688975" cy="693420"/>
            </a:xfrm>
            <a:custGeom>
              <a:avLst/>
              <a:gdLst/>
              <a:ahLst/>
              <a:cxnLst/>
              <a:rect l="l" t="t" r="r" b="b"/>
              <a:pathLst>
                <a:path w="688975" h="693419">
                  <a:moveTo>
                    <a:pt x="0" y="346710"/>
                  </a:moveTo>
                  <a:lnTo>
                    <a:pt x="3143" y="299656"/>
                  </a:lnTo>
                  <a:lnTo>
                    <a:pt x="12301" y="254529"/>
                  </a:lnTo>
                  <a:lnTo>
                    <a:pt x="27062" y="211740"/>
                  </a:lnTo>
                  <a:lnTo>
                    <a:pt x="47018" y="171703"/>
                  </a:lnTo>
                  <a:lnTo>
                    <a:pt x="71757" y="134831"/>
                  </a:lnTo>
                  <a:lnTo>
                    <a:pt x="100869" y="101536"/>
                  </a:lnTo>
                  <a:lnTo>
                    <a:pt x="133945" y="72231"/>
                  </a:lnTo>
                  <a:lnTo>
                    <a:pt x="170575" y="47328"/>
                  </a:lnTo>
                  <a:lnTo>
                    <a:pt x="210347" y="27241"/>
                  </a:lnTo>
                  <a:lnTo>
                    <a:pt x="252853" y="12382"/>
                  </a:lnTo>
                  <a:lnTo>
                    <a:pt x="297682" y="3164"/>
                  </a:lnTo>
                  <a:lnTo>
                    <a:pt x="344424" y="0"/>
                  </a:lnTo>
                  <a:lnTo>
                    <a:pt x="391165" y="3164"/>
                  </a:lnTo>
                  <a:lnTo>
                    <a:pt x="435994" y="12382"/>
                  </a:lnTo>
                  <a:lnTo>
                    <a:pt x="478500" y="27241"/>
                  </a:lnTo>
                  <a:lnTo>
                    <a:pt x="518272" y="47328"/>
                  </a:lnTo>
                  <a:lnTo>
                    <a:pt x="554902" y="72231"/>
                  </a:lnTo>
                  <a:lnTo>
                    <a:pt x="587978" y="101536"/>
                  </a:lnTo>
                  <a:lnTo>
                    <a:pt x="617090" y="134831"/>
                  </a:lnTo>
                  <a:lnTo>
                    <a:pt x="641829" y="171704"/>
                  </a:lnTo>
                  <a:lnTo>
                    <a:pt x="661785" y="211740"/>
                  </a:lnTo>
                  <a:lnTo>
                    <a:pt x="676546" y="254529"/>
                  </a:lnTo>
                  <a:lnTo>
                    <a:pt x="685704" y="299656"/>
                  </a:lnTo>
                  <a:lnTo>
                    <a:pt x="688848" y="346710"/>
                  </a:lnTo>
                  <a:lnTo>
                    <a:pt x="685704" y="393763"/>
                  </a:lnTo>
                  <a:lnTo>
                    <a:pt x="676546" y="438890"/>
                  </a:lnTo>
                  <a:lnTo>
                    <a:pt x="661785" y="481679"/>
                  </a:lnTo>
                  <a:lnTo>
                    <a:pt x="641829" y="521716"/>
                  </a:lnTo>
                  <a:lnTo>
                    <a:pt x="617090" y="558588"/>
                  </a:lnTo>
                  <a:lnTo>
                    <a:pt x="587978" y="591883"/>
                  </a:lnTo>
                  <a:lnTo>
                    <a:pt x="554902" y="621188"/>
                  </a:lnTo>
                  <a:lnTo>
                    <a:pt x="518272" y="646091"/>
                  </a:lnTo>
                  <a:lnTo>
                    <a:pt x="478500" y="666178"/>
                  </a:lnTo>
                  <a:lnTo>
                    <a:pt x="435994" y="681037"/>
                  </a:lnTo>
                  <a:lnTo>
                    <a:pt x="391165" y="690255"/>
                  </a:lnTo>
                  <a:lnTo>
                    <a:pt x="344424" y="693419"/>
                  </a:lnTo>
                  <a:lnTo>
                    <a:pt x="297682" y="690255"/>
                  </a:lnTo>
                  <a:lnTo>
                    <a:pt x="252853" y="681037"/>
                  </a:lnTo>
                  <a:lnTo>
                    <a:pt x="210347" y="666178"/>
                  </a:lnTo>
                  <a:lnTo>
                    <a:pt x="170575" y="646091"/>
                  </a:lnTo>
                  <a:lnTo>
                    <a:pt x="133945" y="621188"/>
                  </a:lnTo>
                  <a:lnTo>
                    <a:pt x="100869" y="591883"/>
                  </a:lnTo>
                  <a:lnTo>
                    <a:pt x="71757" y="558588"/>
                  </a:lnTo>
                  <a:lnTo>
                    <a:pt x="47018" y="521715"/>
                  </a:lnTo>
                  <a:lnTo>
                    <a:pt x="27062" y="481679"/>
                  </a:lnTo>
                  <a:lnTo>
                    <a:pt x="12301" y="438890"/>
                  </a:lnTo>
                  <a:lnTo>
                    <a:pt x="3143" y="393763"/>
                  </a:lnTo>
                  <a:lnTo>
                    <a:pt x="0" y="34671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75561" y="2186177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11623" y="1932432"/>
            <a:ext cx="767080" cy="769620"/>
            <a:chOff x="4611623" y="1932432"/>
            <a:chExt cx="767080" cy="769620"/>
          </a:xfrm>
        </p:grpSpPr>
        <p:sp>
          <p:nvSpPr>
            <p:cNvPr id="15" name="object 15"/>
            <p:cNvSpPr/>
            <p:nvPr/>
          </p:nvSpPr>
          <p:spPr>
            <a:xfrm>
              <a:off x="4649723" y="1970532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19">
                  <a:moveTo>
                    <a:pt x="345186" y="0"/>
                  </a:moveTo>
                  <a:lnTo>
                    <a:pt x="298349" y="3164"/>
                  </a:lnTo>
                  <a:lnTo>
                    <a:pt x="253426" y="12382"/>
                  </a:lnTo>
                  <a:lnTo>
                    <a:pt x="210829" y="27241"/>
                  </a:lnTo>
                  <a:lnTo>
                    <a:pt x="170970" y="47328"/>
                  </a:lnTo>
                  <a:lnTo>
                    <a:pt x="134259" y="72231"/>
                  </a:lnTo>
                  <a:lnTo>
                    <a:pt x="101107" y="101536"/>
                  </a:lnTo>
                  <a:lnTo>
                    <a:pt x="71928" y="134831"/>
                  </a:lnTo>
                  <a:lnTo>
                    <a:pt x="47131" y="171703"/>
                  </a:lnTo>
                  <a:lnTo>
                    <a:pt x="27128" y="211740"/>
                  </a:lnTo>
                  <a:lnTo>
                    <a:pt x="12331" y="254529"/>
                  </a:lnTo>
                  <a:lnTo>
                    <a:pt x="3151" y="299656"/>
                  </a:lnTo>
                  <a:lnTo>
                    <a:pt x="0" y="346710"/>
                  </a:lnTo>
                  <a:lnTo>
                    <a:pt x="3151" y="393763"/>
                  </a:lnTo>
                  <a:lnTo>
                    <a:pt x="12331" y="438890"/>
                  </a:lnTo>
                  <a:lnTo>
                    <a:pt x="27128" y="481679"/>
                  </a:lnTo>
                  <a:lnTo>
                    <a:pt x="47131" y="521715"/>
                  </a:lnTo>
                  <a:lnTo>
                    <a:pt x="71928" y="558588"/>
                  </a:lnTo>
                  <a:lnTo>
                    <a:pt x="101107" y="591883"/>
                  </a:lnTo>
                  <a:lnTo>
                    <a:pt x="134259" y="621188"/>
                  </a:lnTo>
                  <a:lnTo>
                    <a:pt x="170970" y="646091"/>
                  </a:lnTo>
                  <a:lnTo>
                    <a:pt x="210829" y="666178"/>
                  </a:lnTo>
                  <a:lnTo>
                    <a:pt x="253426" y="681037"/>
                  </a:lnTo>
                  <a:lnTo>
                    <a:pt x="298349" y="690255"/>
                  </a:lnTo>
                  <a:lnTo>
                    <a:pt x="345186" y="693419"/>
                  </a:lnTo>
                  <a:lnTo>
                    <a:pt x="392022" y="690255"/>
                  </a:lnTo>
                  <a:lnTo>
                    <a:pt x="436945" y="681037"/>
                  </a:lnTo>
                  <a:lnTo>
                    <a:pt x="479542" y="666178"/>
                  </a:lnTo>
                  <a:lnTo>
                    <a:pt x="519401" y="646091"/>
                  </a:lnTo>
                  <a:lnTo>
                    <a:pt x="556112" y="621188"/>
                  </a:lnTo>
                  <a:lnTo>
                    <a:pt x="589264" y="591883"/>
                  </a:lnTo>
                  <a:lnTo>
                    <a:pt x="618443" y="558588"/>
                  </a:lnTo>
                  <a:lnTo>
                    <a:pt x="643240" y="521716"/>
                  </a:lnTo>
                  <a:lnTo>
                    <a:pt x="663243" y="481679"/>
                  </a:lnTo>
                  <a:lnTo>
                    <a:pt x="678040" y="438890"/>
                  </a:lnTo>
                  <a:lnTo>
                    <a:pt x="687220" y="393763"/>
                  </a:lnTo>
                  <a:lnTo>
                    <a:pt x="690372" y="346710"/>
                  </a:lnTo>
                  <a:lnTo>
                    <a:pt x="687220" y="299656"/>
                  </a:lnTo>
                  <a:lnTo>
                    <a:pt x="678040" y="254529"/>
                  </a:lnTo>
                  <a:lnTo>
                    <a:pt x="663243" y="211740"/>
                  </a:lnTo>
                  <a:lnTo>
                    <a:pt x="643240" y="171704"/>
                  </a:lnTo>
                  <a:lnTo>
                    <a:pt x="618443" y="134831"/>
                  </a:lnTo>
                  <a:lnTo>
                    <a:pt x="589264" y="101536"/>
                  </a:lnTo>
                  <a:lnTo>
                    <a:pt x="556112" y="72231"/>
                  </a:lnTo>
                  <a:lnTo>
                    <a:pt x="519401" y="47328"/>
                  </a:lnTo>
                  <a:lnTo>
                    <a:pt x="479542" y="27241"/>
                  </a:lnTo>
                  <a:lnTo>
                    <a:pt x="436945" y="12382"/>
                  </a:lnTo>
                  <a:lnTo>
                    <a:pt x="392022" y="3164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FF8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49723" y="1970532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19">
                  <a:moveTo>
                    <a:pt x="0" y="346710"/>
                  </a:moveTo>
                  <a:lnTo>
                    <a:pt x="3151" y="299656"/>
                  </a:lnTo>
                  <a:lnTo>
                    <a:pt x="12331" y="254529"/>
                  </a:lnTo>
                  <a:lnTo>
                    <a:pt x="27128" y="211740"/>
                  </a:lnTo>
                  <a:lnTo>
                    <a:pt x="47131" y="171703"/>
                  </a:lnTo>
                  <a:lnTo>
                    <a:pt x="71928" y="134831"/>
                  </a:lnTo>
                  <a:lnTo>
                    <a:pt x="101107" y="101536"/>
                  </a:lnTo>
                  <a:lnTo>
                    <a:pt x="134259" y="72231"/>
                  </a:lnTo>
                  <a:lnTo>
                    <a:pt x="170970" y="47328"/>
                  </a:lnTo>
                  <a:lnTo>
                    <a:pt x="210829" y="27241"/>
                  </a:lnTo>
                  <a:lnTo>
                    <a:pt x="253426" y="12382"/>
                  </a:lnTo>
                  <a:lnTo>
                    <a:pt x="298349" y="3164"/>
                  </a:lnTo>
                  <a:lnTo>
                    <a:pt x="345186" y="0"/>
                  </a:lnTo>
                  <a:lnTo>
                    <a:pt x="392022" y="3164"/>
                  </a:lnTo>
                  <a:lnTo>
                    <a:pt x="436945" y="12382"/>
                  </a:lnTo>
                  <a:lnTo>
                    <a:pt x="479542" y="27241"/>
                  </a:lnTo>
                  <a:lnTo>
                    <a:pt x="519401" y="47328"/>
                  </a:lnTo>
                  <a:lnTo>
                    <a:pt x="556112" y="72231"/>
                  </a:lnTo>
                  <a:lnTo>
                    <a:pt x="589264" y="101536"/>
                  </a:lnTo>
                  <a:lnTo>
                    <a:pt x="618443" y="134831"/>
                  </a:lnTo>
                  <a:lnTo>
                    <a:pt x="643240" y="171704"/>
                  </a:lnTo>
                  <a:lnTo>
                    <a:pt x="663243" y="211740"/>
                  </a:lnTo>
                  <a:lnTo>
                    <a:pt x="678040" y="254529"/>
                  </a:lnTo>
                  <a:lnTo>
                    <a:pt x="687220" y="299656"/>
                  </a:lnTo>
                  <a:lnTo>
                    <a:pt x="690372" y="346710"/>
                  </a:lnTo>
                  <a:lnTo>
                    <a:pt x="687220" y="393763"/>
                  </a:lnTo>
                  <a:lnTo>
                    <a:pt x="678040" y="438890"/>
                  </a:lnTo>
                  <a:lnTo>
                    <a:pt x="663243" y="481679"/>
                  </a:lnTo>
                  <a:lnTo>
                    <a:pt x="643240" y="521716"/>
                  </a:lnTo>
                  <a:lnTo>
                    <a:pt x="618443" y="558588"/>
                  </a:lnTo>
                  <a:lnTo>
                    <a:pt x="589264" y="591883"/>
                  </a:lnTo>
                  <a:lnTo>
                    <a:pt x="556112" y="621188"/>
                  </a:lnTo>
                  <a:lnTo>
                    <a:pt x="519401" y="646091"/>
                  </a:lnTo>
                  <a:lnTo>
                    <a:pt x="479542" y="666178"/>
                  </a:lnTo>
                  <a:lnTo>
                    <a:pt x="436945" y="681037"/>
                  </a:lnTo>
                  <a:lnTo>
                    <a:pt x="392022" y="690255"/>
                  </a:lnTo>
                  <a:lnTo>
                    <a:pt x="345186" y="693419"/>
                  </a:lnTo>
                  <a:lnTo>
                    <a:pt x="298349" y="690255"/>
                  </a:lnTo>
                  <a:lnTo>
                    <a:pt x="253426" y="681037"/>
                  </a:lnTo>
                  <a:lnTo>
                    <a:pt x="210829" y="666178"/>
                  </a:lnTo>
                  <a:lnTo>
                    <a:pt x="170970" y="646091"/>
                  </a:lnTo>
                  <a:lnTo>
                    <a:pt x="134259" y="621188"/>
                  </a:lnTo>
                  <a:lnTo>
                    <a:pt x="101107" y="591883"/>
                  </a:lnTo>
                  <a:lnTo>
                    <a:pt x="71928" y="558588"/>
                  </a:lnTo>
                  <a:lnTo>
                    <a:pt x="47131" y="521715"/>
                  </a:lnTo>
                  <a:lnTo>
                    <a:pt x="27128" y="481679"/>
                  </a:lnTo>
                  <a:lnTo>
                    <a:pt x="12331" y="438890"/>
                  </a:lnTo>
                  <a:lnTo>
                    <a:pt x="3151" y="393763"/>
                  </a:lnTo>
                  <a:lnTo>
                    <a:pt x="0" y="34671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892421" y="2186177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87690" y="2685288"/>
            <a:ext cx="1214120" cy="500380"/>
            <a:chOff x="1587690" y="2685288"/>
            <a:chExt cx="1214120" cy="500380"/>
          </a:xfrm>
        </p:grpSpPr>
        <p:sp>
          <p:nvSpPr>
            <p:cNvPr id="19" name="object 19"/>
            <p:cNvSpPr/>
            <p:nvPr/>
          </p:nvSpPr>
          <p:spPr>
            <a:xfrm>
              <a:off x="1595627" y="2685288"/>
              <a:ext cx="0" cy="446405"/>
            </a:xfrm>
            <a:custGeom>
              <a:avLst/>
              <a:gdLst/>
              <a:ahLst/>
              <a:cxnLst/>
              <a:rect l="l" t="t" r="r" b="b"/>
              <a:pathLst>
                <a:path h="446405">
                  <a:moveTo>
                    <a:pt x="0" y="0"/>
                  </a:moveTo>
                  <a:lnTo>
                    <a:pt x="0" y="446278"/>
                  </a:lnTo>
                </a:path>
              </a:pathLst>
            </a:custGeom>
            <a:ln w="15875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95627" y="3078353"/>
              <a:ext cx="1206500" cy="107314"/>
            </a:xfrm>
            <a:custGeom>
              <a:avLst/>
              <a:gdLst/>
              <a:ahLst/>
              <a:cxnLst/>
              <a:rect l="l" t="t" r="r" b="b"/>
              <a:pathLst>
                <a:path w="1206500" h="107314">
                  <a:moveTo>
                    <a:pt x="1174369" y="53572"/>
                  </a:moveTo>
                  <a:lnTo>
                    <a:pt x="1110107" y="91059"/>
                  </a:lnTo>
                  <a:lnTo>
                    <a:pt x="1106297" y="93218"/>
                  </a:lnTo>
                  <a:lnTo>
                    <a:pt x="1105027" y="98171"/>
                  </a:lnTo>
                  <a:lnTo>
                    <a:pt x="1107186" y="101854"/>
                  </a:lnTo>
                  <a:lnTo>
                    <a:pt x="1109472" y="105664"/>
                  </a:lnTo>
                  <a:lnTo>
                    <a:pt x="1114298" y="106934"/>
                  </a:lnTo>
                  <a:lnTo>
                    <a:pt x="1118108" y="104775"/>
                  </a:lnTo>
                  <a:lnTo>
                    <a:pt x="1192504" y="61341"/>
                  </a:lnTo>
                  <a:lnTo>
                    <a:pt x="1174369" y="61341"/>
                  </a:lnTo>
                  <a:lnTo>
                    <a:pt x="1174369" y="53572"/>
                  </a:lnTo>
                  <a:close/>
                </a:path>
                <a:path w="1206500" h="107314">
                  <a:moveTo>
                    <a:pt x="1126744" y="45466"/>
                  </a:moveTo>
                  <a:lnTo>
                    <a:pt x="1110869" y="45466"/>
                  </a:lnTo>
                  <a:lnTo>
                    <a:pt x="1110869" y="61341"/>
                  </a:lnTo>
                  <a:lnTo>
                    <a:pt x="1126744" y="61341"/>
                  </a:lnTo>
                  <a:lnTo>
                    <a:pt x="1126744" y="45466"/>
                  </a:lnTo>
                  <a:close/>
                </a:path>
                <a:path w="1206500" h="107314">
                  <a:moveTo>
                    <a:pt x="1158494" y="45466"/>
                  </a:moveTo>
                  <a:lnTo>
                    <a:pt x="1142619" y="45466"/>
                  </a:lnTo>
                  <a:lnTo>
                    <a:pt x="1142619" y="61341"/>
                  </a:lnTo>
                  <a:lnTo>
                    <a:pt x="1158494" y="61341"/>
                  </a:lnTo>
                  <a:lnTo>
                    <a:pt x="1158494" y="45466"/>
                  </a:lnTo>
                  <a:close/>
                </a:path>
                <a:path w="1206500" h="107314">
                  <a:moveTo>
                    <a:pt x="1186307" y="46609"/>
                  </a:moveTo>
                  <a:lnTo>
                    <a:pt x="1174369" y="53572"/>
                  </a:lnTo>
                  <a:lnTo>
                    <a:pt x="1174369" y="61341"/>
                  </a:lnTo>
                  <a:lnTo>
                    <a:pt x="1190244" y="61341"/>
                  </a:lnTo>
                  <a:lnTo>
                    <a:pt x="1190244" y="60325"/>
                  </a:lnTo>
                  <a:lnTo>
                    <a:pt x="1186307" y="60325"/>
                  </a:lnTo>
                  <a:lnTo>
                    <a:pt x="1174731" y="53572"/>
                  </a:lnTo>
                  <a:lnTo>
                    <a:pt x="1186307" y="53572"/>
                  </a:lnTo>
                  <a:lnTo>
                    <a:pt x="1186307" y="46609"/>
                  </a:lnTo>
                  <a:close/>
                </a:path>
                <a:path w="1206500" h="107314">
                  <a:moveTo>
                    <a:pt x="1192287" y="45466"/>
                  </a:moveTo>
                  <a:lnTo>
                    <a:pt x="1190244" y="45466"/>
                  </a:lnTo>
                  <a:lnTo>
                    <a:pt x="1190244" y="61341"/>
                  </a:lnTo>
                  <a:lnTo>
                    <a:pt x="1192504" y="61341"/>
                  </a:lnTo>
                  <a:lnTo>
                    <a:pt x="1205810" y="53572"/>
                  </a:lnTo>
                  <a:lnTo>
                    <a:pt x="1206173" y="53572"/>
                  </a:lnTo>
                  <a:lnTo>
                    <a:pt x="1192287" y="45466"/>
                  </a:lnTo>
                  <a:close/>
                </a:path>
                <a:path w="1206500" h="107314">
                  <a:moveTo>
                    <a:pt x="1114298" y="0"/>
                  </a:moveTo>
                  <a:lnTo>
                    <a:pt x="1109472" y="1270"/>
                  </a:lnTo>
                  <a:lnTo>
                    <a:pt x="1107186" y="5080"/>
                  </a:lnTo>
                  <a:lnTo>
                    <a:pt x="1105027" y="8763"/>
                  </a:lnTo>
                  <a:lnTo>
                    <a:pt x="1106297" y="13716"/>
                  </a:lnTo>
                  <a:lnTo>
                    <a:pt x="1110107" y="15875"/>
                  </a:lnTo>
                  <a:lnTo>
                    <a:pt x="1186307" y="60325"/>
                  </a:lnTo>
                  <a:lnTo>
                    <a:pt x="1186307" y="53572"/>
                  </a:lnTo>
                  <a:lnTo>
                    <a:pt x="1174369" y="53572"/>
                  </a:lnTo>
                  <a:lnTo>
                    <a:pt x="1174369" y="45466"/>
                  </a:lnTo>
                  <a:lnTo>
                    <a:pt x="1192287" y="45466"/>
                  </a:lnTo>
                  <a:lnTo>
                    <a:pt x="1118108" y="2159"/>
                  </a:lnTo>
                  <a:lnTo>
                    <a:pt x="1114298" y="0"/>
                  </a:lnTo>
                  <a:close/>
                </a:path>
                <a:path w="1206500" h="107314">
                  <a:moveTo>
                    <a:pt x="1190244" y="46609"/>
                  </a:moveTo>
                  <a:lnTo>
                    <a:pt x="1186307" y="46609"/>
                  </a:lnTo>
                  <a:lnTo>
                    <a:pt x="1186307" y="60325"/>
                  </a:lnTo>
                  <a:lnTo>
                    <a:pt x="1190244" y="60325"/>
                  </a:lnTo>
                  <a:lnTo>
                    <a:pt x="1190244" y="46609"/>
                  </a:lnTo>
                  <a:close/>
                </a:path>
                <a:path w="1206500" h="107314">
                  <a:moveTo>
                    <a:pt x="1190244" y="45466"/>
                  </a:moveTo>
                  <a:lnTo>
                    <a:pt x="1174369" y="45466"/>
                  </a:lnTo>
                  <a:lnTo>
                    <a:pt x="1174369" y="53572"/>
                  </a:lnTo>
                  <a:lnTo>
                    <a:pt x="1186307" y="46609"/>
                  </a:lnTo>
                  <a:lnTo>
                    <a:pt x="1190244" y="46609"/>
                  </a:lnTo>
                  <a:lnTo>
                    <a:pt x="1190244" y="45466"/>
                  </a:lnTo>
                  <a:close/>
                </a:path>
                <a:path w="1206500" h="107314">
                  <a:moveTo>
                    <a:pt x="1094994" y="45466"/>
                  </a:moveTo>
                  <a:lnTo>
                    <a:pt x="1079119" y="45466"/>
                  </a:lnTo>
                  <a:lnTo>
                    <a:pt x="1079119" y="61341"/>
                  </a:lnTo>
                  <a:lnTo>
                    <a:pt x="1094994" y="61341"/>
                  </a:lnTo>
                  <a:lnTo>
                    <a:pt x="1094994" y="45466"/>
                  </a:lnTo>
                  <a:close/>
                </a:path>
                <a:path w="1206500" h="107314">
                  <a:moveTo>
                    <a:pt x="1063244" y="45466"/>
                  </a:moveTo>
                  <a:lnTo>
                    <a:pt x="1047369" y="45466"/>
                  </a:lnTo>
                  <a:lnTo>
                    <a:pt x="1047369" y="61341"/>
                  </a:lnTo>
                  <a:lnTo>
                    <a:pt x="1063244" y="61341"/>
                  </a:lnTo>
                  <a:lnTo>
                    <a:pt x="1063244" y="45466"/>
                  </a:lnTo>
                  <a:close/>
                </a:path>
                <a:path w="1206500" h="107314">
                  <a:moveTo>
                    <a:pt x="1031494" y="45466"/>
                  </a:moveTo>
                  <a:lnTo>
                    <a:pt x="1015619" y="45466"/>
                  </a:lnTo>
                  <a:lnTo>
                    <a:pt x="1015619" y="61341"/>
                  </a:lnTo>
                  <a:lnTo>
                    <a:pt x="1031494" y="61341"/>
                  </a:lnTo>
                  <a:lnTo>
                    <a:pt x="1031494" y="45466"/>
                  </a:lnTo>
                  <a:close/>
                </a:path>
                <a:path w="1206500" h="107314">
                  <a:moveTo>
                    <a:pt x="999744" y="45466"/>
                  </a:moveTo>
                  <a:lnTo>
                    <a:pt x="983869" y="45466"/>
                  </a:lnTo>
                  <a:lnTo>
                    <a:pt x="983869" y="61341"/>
                  </a:lnTo>
                  <a:lnTo>
                    <a:pt x="999744" y="61341"/>
                  </a:lnTo>
                  <a:lnTo>
                    <a:pt x="999744" y="45466"/>
                  </a:lnTo>
                  <a:close/>
                </a:path>
                <a:path w="1206500" h="107314">
                  <a:moveTo>
                    <a:pt x="967994" y="45466"/>
                  </a:moveTo>
                  <a:lnTo>
                    <a:pt x="952119" y="45466"/>
                  </a:lnTo>
                  <a:lnTo>
                    <a:pt x="952119" y="61341"/>
                  </a:lnTo>
                  <a:lnTo>
                    <a:pt x="967994" y="61341"/>
                  </a:lnTo>
                  <a:lnTo>
                    <a:pt x="967994" y="45466"/>
                  </a:lnTo>
                  <a:close/>
                </a:path>
                <a:path w="1206500" h="107314">
                  <a:moveTo>
                    <a:pt x="936244" y="45466"/>
                  </a:moveTo>
                  <a:lnTo>
                    <a:pt x="920369" y="45466"/>
                  </a:lnTo>
                  <a:lnTo>
                    <a:pt x="920369" y="61341"/>
                  </a:lnTo>
                  <a:lnTo>
                    <a:pt x="936244" y="61341"/>
                  </a:lnTo>
                  <a:lnTo>
                    <a:pt x="936244" y="45466"/>
                  </a:lnTo>
                  <a:close/>
                </a:path>
                <a:path w="1206500" h="107314">
                  <a:moveTo>
                    <a:pt x="904494" y="45466"/>
                  </a:moveTo>
                  <a:lnTo>
                    <a:pt x="888619" y="45466"/>
                  </a:lnTo>
                  <a:lnTo>
                    <a:pt x="888619" y="61341"/>
                  </a:lnTo>
                  <a:lnTo>
                    <a:pt x="904494" y="61341"/>
                  </a:lnTo>
                  <a:lnTo>
                    <a:pt x="904494" y="45466"/>
                  </a:lnTo>
                  <a:close/>
                </a:path>
                <a:path w="1206500" h="107314">
                  <a:moveTo>
                    <a:pt x="872744" y="45466"/>
                  </a:moveTo>
                  <a:lnTo>
                    <a:pt x="856869" y="45466"/>
                  </a:lnTo>
                  <a:lnTo>
                    <a:pt x="856869" y="61341"/>
                  </a:lnTo>
                  <a:lnTo>
                    <a:pt x="872744" y="61341"/>
                  </a:lnTo>
                  <a:lnTo>
                    <a:pt x="872744" y="45466"/>
                  </a:lnTo>
                  <a:close/>
                </a:path>
                <a:path w="1206500" h="107314">
                  <a:moveTo>
                    <a:pt x="840994" y="45466"/>
                  </a:moveTo>
                  <a:lnTo>
                    <a:pt x="825119" y="45466"/>
                  </a:lnTo>
                  <a:lnTo>
                    <a:pt x="825119" y="61341"/>
                  </a:lnTo>
                  <a:lnTo>
                    <a:pt x="840994" y="61341"/>
                  </a:lnTo>
                  <a:lnTo>
                    <a:pt x="840994" y="45466"/>
                  </a:lnTo>
                  <a:close/>
                </a:path>
                <a:path w="1206500" h="107314">
                  <a:moveTo>
                    <a:pt x="809244" y="45466"/>
                  </a:moveTo>
                  <a:lnTo>
                    <a:pt x="793369" y="45466"/>
                  </a:lnTo>
                  <a:lnTo>
                    <a:pt x="793369" y="61341"/>
                  </a:lnTo>
                  <a:lnTo>
                    <a:pt x="809244" y="61341"/>
                  </a:lnTo>
                  <a:lnTo>
                    <a:pt x="809244" y="45466"/>
                  </a:lnTo>
                  <a:close/>
                </a:path>
                <a:path w="1206500" h="107314">
                  <a:moveTo>
                    <a:pt x="777494" y="45466"/>
                  </a:moveTo>
                  <a:lnTo>
                    <a:pt x="761619" y="45466"/>
                  </a:lnTo>
                  <a:lnTo>
                    <a:pt x="761619" y="61341"/>
                  </a:lnTo>
                  <a:lnTo>
                    <a:pt x="777494" y="61341"/>
                  </a:lnTo>
                  <a:lnTo>
                    <a:pt x="777494" y="45466"/>
                  </a:lnTo>
                  <a:close/>
                </a:path>
                <a:path w="1206500" h="107314">
                  <a:moveTo>
                    <a:pt x="745744" y="45466"/>
                  </a:moveTo>
                  <a:lnTo>
                    <a:pt x="729869" y="45466"/>
                  </a:lnTo>
                  <a:lnTo>
                    <a:pt x="729869" y="61341"/>
                  </a:lnTo>
                  <a:lnTo>
                    <a:pt x="745744" y="61341"/>
                  </a:lnTo>
                  <a:lnTo>
                    <a:pt x="745744" y="45466"/>
                  </a:lnTo>
                  <a:close/>
                </a:path>
                <a:path w="1206500" h="107314">
                  <a:moveTo>
                    <a:pt x="713994" y="45466"/>
                  </a:moveTo>
                  <a:lnTo>
                    <a:pt x="698119" y="45466"/>
                  </a:lnTo>
                  <a:lnTo>
                    <a:pt x="698119" y="61341"/>
                  </a:lnTo>
                  <a:lnTo>
                    <a:pt x="713994" y="61341"/>
                  </a:lnTo>
                  <a:lnTo>
                    <a:pt x="713994" y="45466"/>
                  </a:lnTo>
                  <a:close/>
                </a:path>
                <a:path w="1206500" h="107314">
                  <a:moveTo>
                    <a:pt x="682244" y="45466"/>
                  </a:moveTo>
                  <a:lnTo>
                    <a:pt x="666369" y="45466"/>
                  </a:lnTo>
                  <a:lnTo>
                    <a:pt x="666369" y="61341"/>
                  </a:lnTo>
                  <a:lnTo>
                    <a:pt x="682244" y="61341"/>
                  </a:lnTo>
                  <a:lnTo>
                    <a:pt x="682244" y="45466"/>
                  </a:lnTo>
                  <a:close/>
                </a:path>
                <a:path w="1206500" h="107314">
                  <a:moveTo>
                    <a:pt x="650494" y="45466"/>
                  </a:moveTo>
                  <a:lnTo>
                    <a:pt x="634619" y="45466"/>
                  </a:lnTo>
                  <a:lnTo>
                    <a:pt x="634619" y="61341"/>
                  </a:lnTo>
                  <a:lnTo>
                    <a:pt x="650494" y="61341"/>
                  </a:lnTo>
                  <a:lnTo>
                    <a:pt x="650494" y="45466"/>
                  </a:lnTo>
                  <a:close/>
                </a:path>
                <a:path w="1206500" h="107314">
                  <a:moveTo>
                    <a:pt x="618744" y="45466"/>
                  </a:moveTo>
                  <a:lnTo>
                    <a:pt x="602869" y="45466"/>
                  </a:lnTo>
                  <a:lnTo>
                    <a:pt x="602869" y="61341"/>
                  </a:lnTo>
                  <a:lnTo>
                    <a:pt x="618744" y="61341"/>
                  </a:lnTo>
                  <a:lnTo>
                    <a:pt x="618744" y="45466"/>
                  </a:lnTo>
                  <a:close/>
                </a:path>
                <a:path w="1206500" h="107314">
                  <a:moveTo>
                    <a:pt x="586994" y="45466"/>
                  </a:moveTo>
                  <a:lnTo>
                    <a:pt x="571119" y="45466"/>
                  </a:lnTo>
                  <a:lnTo>
                    <a:pt x="571119" y="61341"/>
                  </a:lnTo>
                  <a:lnTo>
                    <a:pt x="586994" y="61341"/>
                  </a:lnTo>
                  <a:lnTo>
                    <a:pt x="586994" y="45466"/>
                  </a:lnTo>
                  <a:close/>
                </a:path>
                <a:path w="1206500" h="107314">
                  <a:moveTo>
                    <a:pt x="555244" y="45466"/>
                  </a:moveTo>
                  <a:lnTo>
                    <a:pt x="539369" y="45466"/>
                  </a:lnTo>
                  <a:lnTo>
                    <a:pt x="539369" y="61341"/>
                  </a:lnTo>
                  <a:lnTo>
                    <a:pt x="555244" y="61341"/>
                  </a:lnTo>
                  <a:lnTo>
                    <a:pt x="555244" y="45466"/>
                  </a:lnTo>
                  <a:close/>
                </a:path>
                <a:path w="1206500" h="107314">
                  <a:moveTo>
                    <a:pt x="523494" y="45466"/>
                  </a:moveTo>
                  <a:lnTo>
                    <a:pt x="507619" y="45466"/>
                  </a:lnTo>
                  <a:lnTo>
                    <a:pt x="507619" y="61341"/>
                  </a:lnTo>
                  <a:lnTo>
                    <a:pt x="523494" y="61341"/>
                  </a:lnTo>
                  <a:lnTo>
                    <a:pt x="523494" y="45466"/>
                  </a:lnTo>
                  <a:close/>
                </a:path>
                <a:path w="1206500" h="107314">
                  <a:moveTo>
                    <a:pt x="491744" y="45466"/>
                  </a:moveTo>
                  <a:lnTo>
                    <a:pt x="475869" y="45466"/>
                  </a:lnTo>
                  <a:lnTo>
                    <a:pt x="475869" y="61341"/>
                  </a:lnTo>
                  <a:lnTo>
                    <a:pt x="491744" y="61341"/>
                  </a:lnTo>
                  <a:lnTo>
                    <a:pt x="491744" y="45466"/>
                  </a:lnTo>
                  <a:close/>
                </a:path>
                <a:path w="1206500" h="107314">
                  <a:moveTo>
                    <a:pt x="459994" y="45466"/>
                  </a:moveTo>
                  <a:lnTo>
                    <a:pt x="444119" y="45466"/>
                  </a:lnTo>
                  <a:lnTo>
                    <a:pt x="444119" y="61341"/>
                  </a:lnTo>
                  <a:lnTo>
                    <a:pt x="459994" y="61341"/>
                  </a:lnTo>
                  <a:lnTo>
                    <a:pt x="459994" y="45466"/>
                  </a:lnTo>
                  <a:close/>
                </a:path>
                <a:path w="1206500" h="107314">
                  <a:moveTo>
                    <a:pt x="428244" y="45466"/>
                  </a:moveTo>
                  <a:lnTo>
                    <a:pt x="412369" y="45466"/>
                  </a:lnTo>
                  <a:lnTo>
                    <a:pt x="412369" y="61341"/>
                  </a:lnTo>
                  <a:lnTo>
                    <a:pt x="428244" y="61341"/>
                  </a:lnTo>
                  <a:lnTo>
                    <a:pt x="428244" y="45466"/>
                  </a:lnTo>
                  <a:close/>
                </a:path>
                <a:path w="1206500" h="107314">
                  <a:moveTo>
                    <a:pt x="396494" y="45466"/>
                  </a:moveTo>
                  <a:lnTo>
                    <a:pt x="380619" y="45466"/>
                  </a:lnTo>
                  <a:lnTo>
                    <a:pt x="380619" y="61341"/>
                  </a:lnTo>
                  <a:lnTo>
                    <a:pt x="396494" y="61341"/>
                  </a:lnTo>
                  <a:lnTo>
                    <a:pt x="396494" y="45466"/>
                  </a:lnTo>
                  <a:close/>
                </a:path>
                <a:path w="1206500" h="107314">
                  <a:moveTo>
                    <a:pt x="364744" y="45466"/>
                  </a:moveTo>
                  <a:lnTo>
                    <a:pt x="348869" y="45466"/>
                  </a:lnTo>
                  <a:lnTo>
                    <a:pt x="348869" y="61341"/>
                  </a:lnTo>
                  <a:lnTo>
                    <a:pt x="364744" y="61341"/>
                  </a:lnTo>
                  <a:lnTo>
                    <a:pt x="364744" y="45466"/>
                  </a:lnTo>
                  <a:close/>
                </a:path>
                <a:path w="1206500" h="107314">
                  <a:moveTo>
                    <a:pt x="332994" y="45466"/>
                  </a:moveTo>
                  <a:lnTo>
                    <a:pt x="317119" y="45466"/>
                  </a:lnTo>
                  <a:lnTo>
                    <a:pt x="317119" y="61341"/>
                  </a:lnTo>
                  <a:lnTo>
                    <a:pt x="332994" y="61341"/>
                  </a:lnTo>
                  <a:lnTo>
                    <a:pt x="332994" y="45466"/>
                  </a:lnTo>
                  <a:close/>
                </a:path>
                <a:path w="1206500" h="107314">
                  <a:moveTo>
                    <a:pt x="301244" y="45466"/>
                  </a:moveTo>
                  <a:lnTo>
                    <a:pt x="285369" y="45466"/>
                  </a:lnTo>
                  <a:lnTo>
                    <a:pt x="285369" y="61341"/>
                  </a:lnTo>
                  <a:lnTo>
                    <a:pt x="301244" y="61341"/>
                  </a:lnTo>
                  <a:lnTo>
                    <a:pt x="301244" y="45466"/>
                  </a:lnTo>
                  <a:close/>
                </a:path>
                <a:path w="1206500" h="107314">
                  <a:moveTo>
                    <a:pt x="269494" y="45466"/>
                  </a:moveTo>
                  <a:lnTo>
                    <a:pt x="253619" y="45466"/>
                  </a:lnTo>
                  <a:lnTo>
                    <a:pt x="253619" y="61341"/>
                  </a:lnTo>
                  <a:lnTo>
                    <a:pt x="269494" y="61341"/>
                  </a:lnTo>
                  <a:lnTo>
                    <a:pt x="269494" y="45466"/>
                  </a:lnTo>
                  <a:close/>
                </a:path>
                <a:path w="1206500" h="107314">
                  <a:moveTo>
                    <a:pt x="237744" y="45466"/>
                  </a:moveTo>
                  <a:lnTo>
                    <a:pt x="221869" y="45466"/>
                  </a:lnTo>
                  <a:lnTo>
                    <a:pt x="221869" y="61341"/>
                  </a:lnTo>
                  <a:lnTo>
                    <a:pt x="237744" y="61341"/>
                  </a:lnTo>
                  <a:lnTo>
                    <a:pt x="237744" y="45466"/>
                  </a:lnTo>
                  <a:close/>
                </a:path>
                <a:path w="1206500" h="107314">
                  <a:moveTo>
                    <a:pt x="205994" y="45466"/>
                  </a:moveTo>
                  <a:lnTo>
                    <a:pt x="190119" y="45466"/>
                  </a:lnTo>
                  <a:lnTo>
                    <a:pt x="190119" y="61341"/>
                  </a:lnTo>
                  <a:lnTo>
                    <a:pt x="205994" y="61341"/>
                  </a:lnTo>
                  <a:lnTo>
                    <a:pt x="205994" y="45466"/>
                  </a:lnTo>
                  <a:close/>
                </a:path>
                <a:path w="1206500" h="107314">
                  <a:moveTo>
                    <a:pt x="174244" y="45466"/>
                  </a:moveTo>
                  <a:lnTo>
                    <a:pt x="158369" y="45466"/>
                  </a:lnTo>
                  <a:lnTo>
                    <a:pt x="158369" y="61341"/>
                  </a:lnTo>
                  <a:lnTo>
                    <a:pt x="174244" y="61341"/>
                  </a:lnTo>
                  <a:lnTo>
                    <a:pt x="174244" y="45466"/>
                  </a:lnTo>
                  <a:close/>
                </a:path>
                <a:path w="1206500" h="107314">
                  <a:moveTo>
                    <a:pt x="142494" y="45466"/>
                  </a:moveTo>
                  <a:lnTo>
                    <a:pt x="126619" y="45466"/>
                  </a:lnTo>
                  <a:lnTo>
                    <a:pt x="126619" y="61341"/>
                  </a:lnTo>
                  <a:lnTo>
                    <a:pt x="142494" y="61341"/>
                  </a:lnTo>
                  <a:lnTo>
                    <a:pt x="142494" y="45466"/>
                  </a:lnTo>
                  <a:close/>
                </a:path>
                <a:path w="1206500" h="107314">
                  <a:moveTo>
                    <a:pt x="110744" y="45466"/>
                  </a:moveTo>
                  <a:lnTo>
                    <a:pt x="94869" y="45466"/>
                  </a:lnTo>
                  <a:lnTo>
                    <a:pt x="94869" y="61341"/>
                  </a:lnTo>
                  <a:lnTo>
                    <a:pt x="110744" y="61341"/>
                  </a:lnTo>
                  <a:lnTo>
                    <a:pt x="110744" y="45466"/>
                  </a:lnTo>
                  <a:close/>
                </a:path>
                <a:path w="1206500" h="107314">
                  <a:moveTo>
                    <a:pt x="78994" y="45466"/>
                  </a:moveTo>
                  <a:lnTo>
                    <a:pt x="63119" y="45466"/>
                  </a:lnTo>
                  <a:lnTo>
                    <a:pt x="63119" y="61341"/>
                  </a:lnTo>
                  <a:lnTo>
                    <a:pt x="78994" y="61341"/>
                  </a:lnTo>
                  <a:lnTo>
                    <a:pt x="78994" y="45466"/>
                  </a:lnTo>
                  <a:close/>
                </a:path>
                <a:path w="1206500" h="107314">
                  <a:moveTo>
                    <a:pt x="47244" y="45466"/>
                  </a:moveTo>
                  <a:lnTo>
                    <a:pt x="31369" y="45466"/>
                  </a:lnTo>
                  <a:lnTo>
                    <a:pt x="31369" y="61341"/>
                  </a:lnTo>
                  <a:lnTo>
                    <a:pt x="47244" y="61341"/>
                  </a:lnTo>
                  <a:lnTo>
                    <a:pt x="47244" y="45466"/>
                  </a:lnTo>
                  <a:close/>
                </a:path>
                <a:path w="1206500" h="107314">
                  <a:moveTo>
                    <a:pt x="15493" y="45466"/>
                  </a:moveTo>
                  <a:lnTo>
                    <a:pt x="0" y="45466"/>
                  </a:lnTo>
                  <a:lnTo>
                    <a:pt x="0" y="61341"/>
                  </a:lnTo>
                  <a:lnTo>
                    <a:pt x="15493" y="61341"/>
                  </a:lnTo>
                  <a:lnTo>
                    <a:pt x="15493" y="45466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1167" y="1326007"/>
            <a:ext cx="2299335" cy="577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COPY</a:t>
            </a:r>
            <a:r>
              <a:rPr sz="1400" b="1" spc="-6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EXISTING</a:t>
            </a:r>
            <a:r>
              <a:rPr sz="1400" b="1" spc="-6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MODULE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Copy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Paste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existing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into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sandbox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working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folder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53333" y="1311656"/>
            <a:ext cx="3994785" cy="577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MAKE</a:t>
            </a:r>
            <a:r>
              <a:rPr sz="1400" b="1" spc="-2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Calibri"/>
                <a:cs typeface="Calibri"/>
              </a:rPr>
              <a:t>UPDATES</a:t>
            </a:r>
            <a:r>
              <a:rPr sz="1400" b="1" spc="-2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&amp;</a:t>
            </a:r>
            <a:r>
              <a:rPr sz="1400" b="1" spc="-1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SUBMIT</a:t>
            </a:r>
            <a:r>
              <a:rPr sz="1400" b="1" spc="-1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FOR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APPROVAL</a:t>
            </a:r>
            <a:endParaRPr sz="14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Once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made/tested,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for </a:t>
            </a:r>
            <a:r>
              <a:rPr sz="1100" dirty="0">
                <a:latin typeface="Calibri"/>
                <a:cs typeface="Calibri"/>
              </a:rPr>
              <a:t>approval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ready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review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folder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26310" y="3512311"/>
            <a:ext cx="237299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ADD</a:t>
            </a:r>
            <a:r>
              <a:rPr sz="1400" b="1" spc="-4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VERSION</a:t>
            </a:r>
            <a:r>
              <a:rPr sz="1400" b="1" spc="-4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4F70"/>
                </a:solidFill>
                <a:latin typeface="Calibri"/>
                <a:cs typeface="Calibri"/>
              </a:rPr>
              <a:t>NUMBER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Add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version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number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name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Module,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V2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v1.2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17209" y="3498341"/>
            <a:ext cx="2914015" cy="74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4F70"/>
                </a:solidFill>
                <a:latin typeface="Calibri"/>
                <a:cs typeface="Calibri"/>
              </a:rPr>
              <a:t>APPROVE </a:t>
            </a: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/</a:t>
            </a:r>
            <a:r>
              <a:rPr sz="1400" b="1" spc="-1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REJECT</a:t>
            </a:r>
            <a:r>
              <a:rPr sz="1400" b="1" spc="-4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4F70"/>
                </a:solidFill>
                <a:latin typeface="Calibri"/>
                <a:cs typeface="Calibri"/>
              </a:rPr>
              <a:t>MODULES</a:t>
            </a:r>
            <a:endParaRPr sz="14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Approver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merges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original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approved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marks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folder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10" dirty="0">
                <a:latin typeface="Calibri"/>
                <a:cs typeface="Calibri"/>
              </a:rPr>
              <a:t> rejected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rejected.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39770" y="2974340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380988" y="2720339"/>
            <a:ext cx="767080" cy="769620"/>
            <a:chOff x="6380988" y="2720339"/>
            <a:chExt cx="767080" cy="769620"/>
          </a:xfrm>
        </p:grpSpPr>
        <p:sp>
          <p:nvSpPr>
            <p:cNvPr id="27" name="object 27"/>
            <p:cNvSpPr/>
            <p:nvPr/>
          </p:nvSpPr>
          <p:spPr>
            <a:xfrm>
              <a:off x="6419088" y="2758439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20">
                  <a:moveTo>
                    <a:pt x="345186" y="0"/>
                  </a:moveTo>
                  <a:lnTo>
                    <a:pt x="298349" y="3164"/>
                  </a:lnTo>
                  <a:lnTo>
                    <a:pt x="253426" y="12382"/>
                  </a:lnTo>
                  <a:lnTo>
                    <a:pt x="210829" y="27241"/>
                  </a:lnTo>
                  <a:lnTo>
                    <a:pt x="170970" y="47328"/>
                  </a:lnTo>
                  <a:lnTo>
                    <a:pt x="134259" y="72231"/>
                  </a:lnTo>
                  <a:lnTo>
                    <a:pt x="101107" y="101536"/>
                  </a:lnTo>
                  <a:lnTo>
                    <a:pt x="71928" y="134831"/>
                  </a:lnTo>
                  <a:lnTo>
                    <a:pt x="47131" y="171703"/>
                  </a:lnTo>
                  <a:lnTo>
                    <a:pt x="27128" y="211740"/>
                  </a:lnTo>
                  <a:lnTo>
                    <a:pt x="12331" y="254529"/>
                  </a:lnTo>
                  <a:lnTo>
                    <a:pt x="3151" y="299656"/>
                  </a:lnTo>
                  <a:lnTo>
                    <a:pt x="0" y="346710"/>
                  </a:lnTo>
                  <a:lnTo>
                    <a:pt x="3151" y="393763"/>
                  </a:lnTo>
                  <a:lnTo>
                    <a:pt x="12331" y="438890"/>
                  </a:lnTo>
                  <a:lnTo>
                    <a:pt x="27128" y="481679"/>
                  </a:lnTo>
                  <a:lnTo>
                    <a:pt x="47131" y="521716"/>
                  </a:lnTo>
                  <a:lnTo>
                    <a:pt x="71928" y="558588"/>
                  </a:lnTo>
                  <a:lnTo>
                    <a:pt x="101107" y="591883"/>
                  </a:lnTo>
                  <a:lnTo>
                    <a:pt x="134259" y="621188"/>
                  </a:lnTo>
                  <a:lnTo>
                    <a:pt x="170970" y="646091"/>
                  </a:lnTo>
                  <a:lnTo>
                    <a:pt x="210829" y="666178"/>
                  </a:lnTo>
                  <a:lnTo>
                    <a:pt x="253426" y="681037"/>
                  </a:lnTo>
                  <a:lnTo>
                    <a:pt x="298349" y="690255"/>
                  </a:lnTo>
                  <a:lnTo>
                    <a:pt x="345186" y="693420"/>
                  </a:lnTo>
                  <a:lnTo>
                    <a:pt x="392022" y="690255"/>
                  </a:lnTo>
                  <a:lnTo>
                    <a:pt x="436945" y="681037"/>
                  </a:lnTo>
                  <a:lnTo>
                    <a:pt x="479542" y="666178"/>
                  </a:lnTo>
                  <a:lnTo>
                    <a:pt x="519401" y="646091"/>
                  </a:lnTo>
                  <a:lnTo>
                    <a:pt x="556112" y="621188"/>
                  </a:lnTo>
                  <a:lnTo>
                    <a:pt x="589264" y="591883"/>
                  </a:lnTo>
                  <a:lnTo>
                    <a:pt x="618443" y="558588"/>
                  </a:lnTo>
                  <a:lnTo>
                    <a:pt x="643240" y="521716"/>
                  </a:lnTo>
                  <a:lnTo>
                    <a:pt x="663243" y="481679"/>
                  </a:lnTo>
                  <a:lnTo>
                    <a:pt x="678040" y="438890"/>
                  </a:lnTo>
                  <a:lnTo>
                    <a:pt x="687220" y="393763"/>
                  </a:lnTo>
                  <a:lnTo>
                    <a:pt x="690371" y="346710"/>
                  </a:lnTo>
                  <a:lnTo>
                    <a:pt x="687220" y="299656"/>
                  </a:lnTo>
                  <a:lnTo>
                    <a:pt x="678040" y="254529"/>
                  </a:lnTo>
                  <a:lnTo>
                    <a:pt x="663243" y="211740"/>
                  </a:lnTo>
                  <a:lnTo>
                    <a:pt x="643240" y="171704"/>
                  </a:lnTo>
                  <a:lnTo>
                    <a:pt x="618443" y="134831"/>
                  </a:lnTo>
                  <a:lnTo>
                    <a:pt x="589264" y="101536"/>
                  </a:lnTo>
                  <a:lnTo>
                    <a:pt x="556112" y="72231"/>
                  </a:lnTo>
                  <a:lnTo>
                    <a:pt x="519401" y="47328"/>
                  </a:lnTo>
                  <a:lnTo>
                    <a:pt x="479542" y="27241"/>
                  </a:lnTo>
                  <a:lnTo>
                    <a:pt x="436945" y="12382"/>
                  </a:lnTo>
                  <a:lnTo>
                    <a:pt x="392022" y="3164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710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19088" y="2758439"/>
              <a:ext cx="690880" cy="693420"/>
            </a:xfrm>
            <a:custGeom>
              <a:avLst/>
              <a:gdLst/>
              <a:ahLst/>
              <a:cxnLst/>
              <a:rect l="l" t="t" r="r" b="b"/>
              <a:pathLst>
                <a:path w="690879" h="693420">
                  <a:moveTo>
                    <a:pt x="0" y="346710"/>
                  </a:moveTo>
                  <a:lnTo>
                    <a:pt x="3151" y="299656"/>
                  </a:lnTo>
                  <a:lnTo>
                    <a:pt x="12331" y="254529"/>
                  </a:lnTo>
                  <a:lnTo>
                    <a:pt x="27128" y="211740"/>
                  </a:lnTo>
                  <a:lnTo>
                    <a:pt x="47131" y="171703"/>
                  </a:lnTo>
                  <a:lnTo>
                    <a:pt x="71928" y="134831"/>
                  </a:lnTo>
                  <a:lnTo>
                    <a:pt x="101107" y="101536"/>
                  </a:lnTo>
                  <a:lnTo>
                    <a:pt x="134259" y="72231"/>
                  </a:lnTo>
                  <a:lnTo>
                    <a:pt x="170970" y="47328"/>
                  </a:lnTo>
                  <a:lnTo>
                    <a:pt x="210829" y="27241"/>
                  </a:lnTo>
                  <a:lnTo>
                    <a:pt x="253426" y="12382"/>
                  </a:lnTo>
                  <a:lnTo>
                    <a:pt x="298349" y="3164"/>
                  </a:lnTo>
                  <a:lnTo>
                    <a:pt x="345186" y="0"/>
                  </a:lnTo>
                  <a:lnTo>
                    <a:pt x="392022" y="3164"/>
                  </a:lnTo>
                  <a:lnTo>
                    <a:pt x="436945" y="12382"/>
                  </a:lnTo>
                  <a:lnTo>
                    <a:pt x="479542" y="27241"/>
                  </a:lnTo>
                  <a:lnTo>
                    <a:pt x="519401" y="47328"/>
                  </a:lnTo>
                  <a:lnTo>
                    <a:pt x="556112" y="72231"/>
                  </a:lnTo>
                  <a:lnTo>
                    <a:pt x="589264" y="101536"/>
                  </a:lnTo>
                  <a:lnTo>
                    <a:pt x="618443" y="134831"/>
                  </a:lnTo>
                  <a:lnTo>
                    <a:pt x="643240" y="171704"/>
                  </a:lnTo>
                  <a:lnTo>
                    <a:pt x="663243" y="211740"/>
                  </a:lnTo>
                  <a:lnTo>
                    <a:pt x="678040" y="254529"/>
                  </a:lnTo>
                  <a:lnTo>
                    <a:pt x="687220" y="299656"/>
                  </a:lnTo>
                  <a:lnTo>
                    <a:pt x="690371" y="346710"/>
                  </a:lnTo>
                  <a:lnTo>
                    <a:pt x="687220" y="393763"/>
                  </a:lnTo>
                  <a:lnTo>
                    <a:pt x="678040" y="438890"/>
                  </a:lnTo>
                  <a:lnTo>
                    <a:pt x="663243" y="481679"/>
                  </a:lnTo>
                  <a:lnTo>
                    <a:pt x="643240" y="521716"/>
                  </a:lnTo>
                  <a:lnTo>
                    <a:pt x="618443" y="558588"/>
                  </a:lnTo>
                  <a:lnTo>
                    <a:pt x="589264" y="591883"/>
                  </a:lnTo>
                  <a:lnTo>
                    <a:pt x="556112" y="621188"/>
                  </a:lnTo>
                  <a:lnTo>
                    <a:pt x="519401" y="646091"/>
                  </a:lnTo>
                  <a:lnTo>
                    <a:pt x="479542" y="666178"/>
                  </a:lnTo>
                  <a:lnTo>
                    <a:pt x="436945" y="681037"/>
                  </a:lnTo>
                  <a:lnTo>
                    <a:pt x="392022" y="690255"/>
                  </a:lnTo>
                  <a:lnTo>
                    <a:pt x="345186" y="693420"/>
                  </a:lnTo>
                  <a:lnTo>
                    <a:pt x="298349" y="690255"/>
                  </a:lnTo>
                  <a:lnTo>
                    <a:pt x="253426" y="681037"/>
                  </a:lnTo>
                  <a:lnTo>
                    <a:pt x="210829" y="666178"/>
                  </a:lnTo>
                  <a:lnTo>
                    <a:pt x="170970" y="646091"/>
                  </a:lnTo>
                  <a:lnTo>
                    <a:pt x="134259" y="621188"/>
                  </a:lnTo>
                  <a:lnTo>
                    <a:pt x="101107" y="591883"/>
                  </a:lnTo>
                  <a:lnTo>
                    <a:pt x="71928" y="558588"/>
                  </a:lnTo>
                  <a:lnTo>
                    <a:pt x="47131" y="521716"/>
                  </a:lnTo>
                  <a:lnTo>
                    <a:pt x="27128" y="481679"/>
                  </a:lnTo>
                  <a:lnTo>
                    <a:pt x="12331" y="438890"/>
                  </a:lnTo>
                  <a:lnTo>
                    <a:pt x="3151" y="393763"/>
                  </a:lnTo>
                  <a:lnTo>
                    <a:pt x="0" y="34671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662673" y="2974340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850574" y="2685288"/>
            <a:ext cx="1214120" cy="500380"/>
            <a:chOff x="4850574" y="2685288"/>
            <a:chExt cx="1214120" cy="500380"/>
          </a:xfrm>
        </p:grpSpPr>
        <p:sp>
          <p:nvSpPr>
            <p:cNvPr id="31" name="object 31"/>
            <p:cNvSpPr/>
            <p:nvPr/>
          </p:nvSpPr>
          <p:spPr>
            <a:xfrm>
              <a:off x="4858511" y="2685288"/>
              <a:ext cx="0" cy="446405"/>
            </a:xfrm>
            <a:custGeom>
              <a:avLst/>
              <a:gdLst/>
              <a:ahLst/>
              <a:cxnLst/>
              <a:rect l="l" t="t" r="r" b="b"/>
              <a:pathLst>
                <a:path h="446405">
                  <a:moveTo>
                    <a:pt x="0" y="0"/>
                  </a:moveTo>
                  <a:lnTo>
                    <a:pt x="0" y="446278"/>
                  </a:lnTo>
                </a:path>
              </a:pathLst>
            </a:custGeom>
            <a:ln w="15875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58511" y="3078353"/>
              <a:ext cx="1206500" cy="107314"/>
            </a:xfrm>
            <a:custGeom>
              <a:avLst/>
              <a:gdLst/>
              <a:ahLst/>
              <a:cxnLst/>
              <a:rect l="l" t="t" r="r" b="b"/>
              <a:pathLst>
                <a:path w="1206500" h="107314">
                  <a:moveTo>
                    <a:pt x="1174368" y="53572"/>
                  </a:moveTo>
                  <a:lnTo>
                    <a:pt x="1110107" y="91059"/>
                  </a:lnTo>
                  <a:lnTo>
                    <a:pt x="1106297" y="93218"/>
                  </a:lnTo>
                  <a:lnTo>
                    <a:pt x="1105027" y="98171"/>
                  </a:lnTo>
                  <a:lnTo>
                    <a:pt x="1107186" y="101854"/>
                  </a:lnTo>
                  <a:lnTo>
                    <a:pt x="1109472" y="105664"/>
                  </a:lnTo>
                  <a:lnTo>
                    <a:pt x="1114298" y="106934"/>
                  </a:lnTo>
                  <a:lnTo>
                    <a:pt x="1118108" y="104775"/>
                  </a:lnTo>
                  <a:lnTo>
                    <a:pt x="1192504" y="61341"/>
                  </a:lnTo>
                  <a:lnTo>
                    <a:pt x="1174368" y="61341"/>
                  </a:lnTo>
                  <a:lnTo>
                    <a:pt x="1174368" y="53572"/>
                  </a:lnTo>
                  <a:close/>
                </a:path>
                <a:path w="1206500" h="107314">
                  <a:moveTo>
                    <a:pt x="1126743" y="45466"/>
                  </a:moveTo>
                  <a:lnTo>
                    <a:pt x="1110868" y="45466"/>
                  </a:lnTo>
                  <a:lnTo>
                    <a:pt x="1110868" y="61341"/>
                  </a:lnTo>
                  <a:lnTo>
                    <a:pt x="1126743" y="61341"/>
                  </a:lnTo>
                  <a:lnTo>
                    <a:pt x="1126743" y="45466"/>
                  </a:lnTo>
                  <a:close/>
                </a:path>
                <a:path w="1206500" h="107314">
                  <a:moveTo>
                    <a:pt x="1158493" y="45466"/>
                  </a:moveTo>
                  <a:lnTo>
                    <a:pt x="1142618" y="45466"/>
                  </a:lnTo>
                  <a:lnTo>
                    <a:pt x="1142618" y="61341"/>
                  </a:lnTo>
                  <a:lnTo>
                    <a:pt x="1158493" y="61341"/>
                  </a:lnTo>
                  <a:lnTo>
                    <a:pt x="1158493" y="45466"/>
                  </a:lnTo>
                  <a:close/>
                </a:path>
                <a:path w="1206500" h="107314">
                  <a:moveTo>
                    <a:pt x="1186307" y="46609"/>
                  </a:moveTo>
                  <a:lnTo>
                    <a:pt x="1174368" y="53572"/>
                  </a:lnTo>
                  <a:lnTo>
                    <a:pt x="1174368" y="61341"/>
                  </a:lnTo>
                  <a:lnTo>
                    <a:pt x="1190243" y="61341"/>
                  </a:lnTo>
                  <a:lnTo>
                    <a:pt x="1190243" y="60325"/>
                  </a:lnTo>
                  <a:lnTo>
                    <a:pt x="1186307" y="60325"/>
                  </a:lnTo>
                  <a:lnTo>
                    <a:pt x="1174731" y="53572"/>
                  </a:lnTo>
                  <a:lnTo>
                    <a:pt x="1186307" y="53572"/>
                  </a:lnTo>
                  <a:lnTo>
                    <a:pt x="1186307" y="46609"/>
                  </a:lnTo>
                  <a:close/>
                </a:path>
                <a:path w="1206500" h="107314">
                  <a:moveTo>
                    <a:pt x="1192287" y="45466"/>
                  </a:moveTo>
                  <a:lnTo>
                    <a:pt x="1190243" y="45466"/>
                  </a:lnTo>
                  <a:lnTo>
                    <a:pt x="1190243" y="61341"/>
                  </a:lnTo>
                  <a:lnTo>
                    <a:pt x="1192504" y="61341"/>
                  </a:lnTo>
                  <a:lnTo>
                    <a:pt x="1205810" y="53572"/>
                  </a:lnTo>
                  <a:lnTo>
                    <a:pt x="1206173" y="53572"/>
                  </a:lnTo>
                  <a:lnTo>
                    <a:pt x="1192287" y="45466"/>
                  </a:lnTo>
                  <a:close/>
                </a:path>
                <a:path w="1206500" h="107314">
                  <a:moveTo>
                    <a:pt x="1114298" y="0"/>
                  </a:moveTo>
                  <a:lnTo>
                    <a:pt x="1109472" y="1270"/>
                  </a:lnTo>
                  <a:lnTo>
                    <a:pt x="1107186" y="5080"/>
                  </a:lnTo>
                  <a:lnTo>
                    <a:pt x="1105027" y="8763"/>
                  </a:lnTo>
                  <a:lnTo>
                    <a:pt x="1106297" y="13716"/>
                  </a:lnTo>
                  <a:lnTo>
                    <a:pt x="1110107" y="15875"/>
                  </a:lnTo>
                  <a:lnTo>
                    <a:pt x="1186307" y="60325"/>
                  </a:lnTo>
                  <a:lnTo>
                    <a:pt x="1186307" y="53572"/>
                  </a:lnTo>
                  <a:lnTo>
                    <a:pt x="1174368" y="53572"/>
                  </a:lnTo>
                  <a:lnTo>
                    <a:pt x="1174368" y="45466"/>
                  </a:lnTo>
                  <a:lnTo>
                    <a:pt x="1192287" y="45466"/>
                  </a:lnTo>
                  <a:lnTo>
                    <a:pt x="1118108" y="2159"/>
                  </a:lnTo>
                  <a:lnTo>
                    <a:pt x="1114298" y="0"/>
                  </a:lnTo>
                  <a:close/>
                </a:path>
                <a:path w="1206500" h="107314">
                  <a:moveTo>
                    <a:pt x="1190243" y="46609"/>
                  </a:moveTo>
                  <a:lnTo>
                    <a:pt x="1186307" y="46609"/>
                  </a:lnTo>
                  <a:lnTo>
                    <a:pt x="1186307" y="60325"/>
                  </a:lnTo>
                  <a:lnTo>
                    <a:pt x="1190243" y="60325"/>
                  </a:lnTo>
                  <a:lnTo>
                    <a:pt x="1190243" y="46609"/>
                  </a:lnTo>
                  <a:close/>
                </a:path>
                <a:path w="1206500" h="107314">
                  <a:moveTo>
                    <a:pt x="1190243" y="45466"/>
                  </a:moveTo>
                  <a:lnTo>
                    <a:pt x="1174368" y="45466"/>
                  </a:lnTo>
                  <a:lnTo>
                    <a:pt x="1174368" y="53572"/>
                  </a:lnTo>
                  <a:lnTo>
                    <a:pt x="1186307" y="46609"/>
                  </a:lnTo>
                  <a:lnTo>
                    <a:pt x="1190243" y="46609"/>
                  </a:lnTo>
                  <a:lnTo>
                    <a:pt x="1190243" y="45466"/>
                  </a:lnTo>
                  <a:close/>
                </a:path>
                <a:path w="1206500" h="107314">
                  <a:moveTo>
                    <a:pt x="1094993" y="45466"/>
                  </a:moveTo>
                  <a:lnTo>
                    <a:pt x="1079118" y="45466"/>
                  </a:lnTo>
                  <a:lnTo>
                    <a:pt x="1079118" y="61341"/>
                  </a:lnTo>
                  <a:lnTo>
                    <a:pt x="1094993" y="61341"/>
                  </a:lnTo>
                  <a:lnTo>
                    <a:pt x="1094993" y="45466"/>
                  </a:lnTo>
                  <a:close/>
                </a:path>
                <a:path w="1206500" h="107314">
                  <a:moveTo>
                    <a:pt x="1063243" y="45466"/>
                  </a:moveTo>
                  <a:lnTo>
                    <a:pt x="1047368" y="45466"/>
                  </a:lnTo>
                  <a:lnTo>
                    <a:pt x="1047368" y="61341"/>
                  </a:lnTo>
                  <a:lnTo>
                    <a:pt x="1063243" y="61341"/>
                  </a:lnTo>
                  <a:lnTo>
                    <a:pt x="1063243" y="45466"/>
                  </a:lnTo>
                  <a:close/>
                </a:path>
                <a:path w="1206500" h="107314">
                  <a:moveTo>
                    <a:pt x="1031493" y="45466"/>
                  </a:moveTo>
                  <a:lnTo>
                    <a:pt x="1015618" y="45466"/>
                  </a:lnTo>
                  <a:lnTo>
                    <a:pt x="1015618" y="61341"/>
                  </a:lnTo>
                  <a:lnTo>
                    <a:pt x="1031493" y="61341"/>
                  </a:lnTo>
                  <a:lnTo>
                    <a:pt x="1031493" y="45466"/>
                  </a:lnTo>
                  <a:close/>
                </a:path>
                <a:path w="1206500" h="107314">
                  <a:moveTo>
                    <a:pt x="999743" y="45466"/>
                  </a:moveTo>
                  <a:lnTo>
                    <a:pt x="983868" y="45466"/>
                  </a:lnTo>
                  <a:lnTo>
                    <a:pt x="983868" y="61341"/>
                  </a:lnTo>
                  <a:lnTo>
                    <a:pt x="999743" y="61341"/>
                  </a:lnTo>
                  <a:lnTo>
                    <a:pt x="999743" y="45466"/>
                  </a:lnTo>
                  <a:close/>
                </a:path>
                <a:path w="1206500" h="107314">
                  <a:moveTo>
                    <a:pt x="967993" y="45466"/>
                  </a:moveTo>
                  <a:lnTo>
                    <a:pt x="952118" y="45466"/>
                  </a:lnTo>
                  <a:lnTo>
                    <a:pt x="952118" y="61341"/>
                  </a:lnTo>
                  <a:lnTo>
                    <a:pt x="967993" y="61341"/>
                  </a:lnTo>
                  <a:lnTo>
                    <a:pt x="967993" y="45466"/>
                  </a:lnTo>
                  <a:close/>
                </a:path>
                <a:path w="1206500" h="107314">
                  <a:moveTo>
                    <a:pt x="936243" y="45466"/>
                  </a:moveTo>
                  <a:lnTo>
                    <a:pt x="920368" y="45466"/>
                  </a:lnTo>
                  <a:lnTo>
                    <a:pt x="920368" y="61341"/>
                  </a:lnTo>
                  <a:lnTo>
                    <a:pt x="936243" y="61341"/>
                  </a:lnTo>
                  <a:lnTo>
                    <a:pt x="936243" y="45466"/>
                  </a:lnTo>
                  <a:close/>
                </a:path>
                <a:path w="1206500" h="107314">
                  <a:moveTo>
                    <a:pt x="904493" y="45466"/>
                  </a:moveTo>
                  <a:lnTo>
                    <a:pt x="888618" y="45466"/>
                  </a:lnTo>
                  <a:lnTo>
                    <a:pt x="888618" y="61341"/>
                  </a:lnTo>
                  <a:lnTo>
                    <a:pt x="904493" y="61341"/>
                  </a:lnTo>
                  <a:lnTo>
                    <a:pt x="904493" y="45466"/>
                  </a:lnTo>
                  <a:close/>
                </a:path>
                <a:path w="1206500" h="107314">
                  <a:moveTo>
                    <a:pt x="872743" y="45466"/>
                  </a:moveTo>
                  <a:lnTo>
                    <a:pt x="856868" y="45466"/>
                  </a:lnTo>
                  <a:lnTo>
                    <a:pt x="856868" y="61341"/>
                  </a:lnTo>
                  <a:lnTo>
                    <a:pt x="872743" y="61341"/>
                  </a:lnTo>
                  <a:lnTo>
                    <a:pt x="872743" y="45466"/>
                  </a:lnTo>
                  <a:close/>
                </a:path>
                <a:path w="1206500" h="107314">
                  <a:moveTo>
                    <a:pt x="840993" y="45466"/>
                  </a:moveTo>
                  <a:lnTo>
                    <a:pt x="825118" y="45466"/>
                  </a:lnTo>
                  <a:lnTo>
                    <a:pt x="825118" y="61341"/>
                  </a:lnTo>
                  <a:lnTo>
                    <a:pt x="840993" y="61341"/>
                  </a:lnTo>
                  <a:lnTo>
                    <a:pt x="840993" y="45466"/>
                  </a:lnTo>
                  <a:close/>
                </a:path>
                <a:path w="1206500" h="107314">
                  <a:moveTo>
                    <a:pt x="809243" y="45466"/>
                  </a:moveTo>
                  <a:lnTo>
                    <a:pt x="793368" y="45466"/>
                  </a:lnTo>
                  <a:lnTo>
                    <a:pt x="793368" y="61341"/>
                  </a:lnTo>
                  <a:lnTo>
                    <a:pt x="809243" y="61341"/>
                  </a:lnTo>
                  <a:lnTo>
                    <a:pt x="809243" y="45466"/>
                  </a:lnTo>
                  <a:close/>
                </a:path>
                <a:path w="1206500" h="107314">
                  <a:moveTo>
                    <a:pt x="777493" y="45466"/>
                  </a:moveTo>
                  <a:lnTo>
                    <a:pt x="761618" y="45466"/>
                  </a:lnTo>
                  <a:lnTo>
                    <a:pt x="761618" y="61341"/>
                  </a:lnTo>
                  <a:lnTo>
                    <a:pt x="777493" y="61341"/>
                  </a:lnTo>
                  <a:lnTo>
                    <a:pt x="777493" y="45466"/>
                  </a:lnTo>
                  <a:close/>
                </a:path>
                <a:path w="1206500" h="107314">
                  <a:moveTo>
                    <a:pt x="745743" y="45466"/>
                  </a:moveTo>
                  <a:lnTo>
                    <a:pt x="729868" y="45466"/>
                  </a:lnTo>
                  <a:lnTo>
                    <a:pt x="729868" y="61341"/>
                  </a:lnTo>
                  <a:lnTo>
                    <a:pt x="745743" y="61341"/>
                  </a:lnTo>
                  <a:lnTo>
                    <a:pt x="745743" y="45466"/>
                  </a:lnTo>
                  <a:close/>
                </a:path>
                <a:path w="1206500" h="107314">
                  <a:moveTo>
                    <a:pt x="713993" y="45466"/>
                  </a:moveTo>
                  <a:lnTo>
                    <a:pt x="698118" y="45466"/>
                  </a:lnTo>
                  <a:lnTo>
                    <a:pt x="698118" y="61341"/>
                  </a:lnTo>
                  <a:lnTo>
                    <a:pt x="713993" y="61341"/>
                  </a:lnTo>
                  <a:lnTo>
                    <a:pt x="713993" y="45466"/>
                  </a:lnTo>
                  <a:close/>
                </a:path>
                <a:path w="1206500" h="107314">
                  <a:moveTo>
                    <a:pt x="682243" y="45466"/>
                  </a:moveTo>
                  <a:lnTo>
                    <a:pt x="666368" y="45466"/>
                  </a:lnTo>
                  <a:lnTo>
                    <a:pt x="666368" y="61341"/>
                  </a:lnTo>
                  <a:lnTo>
                    <a:pt x="682243" y="61341"/>
                  </a:lnTo>
                  <a:lnTo>
                    <a:pt x="682243" y="45466"/>
                  </a:lnTo>
                  <a:close/>
                </a:path>
                <a:path w="1206500" h="107314">
                  <a:moveTo>
                    <a:pt x="650493" y="45466"/>
                  </a:moveTo>
                  <a:lnTo>
                    <a:pt x="634618" y="45466"/>
                  </a:lnTo>
                  <a:lnTo>
                    <a:pt x="634618" y="61341"/>
                  </a:lnTo>
                  <a:lnTo>
                    <a:pt x="650493" y="61341"/>
                  </a:lnTo>
                  <a:lnTo>
                    <a:pt x="650493" y="45466"/>
                  </a:lnTo>
                  <a:close/>
                </a:path>
                <a:path w="1206500" h="107314">
                  <a:moveTo>
                    <a:pt x="618743" y="45466"/>
                  </a:moveTo>
                  <a:lnTo>
                    <a:pt x="602868" y="45466"/>
                  </a:lnTo>
                  <a:lnTo>
                    <a:pt x="602868" y="61341"/>
                  </a:lnTo>
                  <a:lnTo>
                    <a:pt x="618743" y="61341"/>
                  </a:lnTo>
                  <a:lnTo>
                    <a:pt x="618743" y="45466"/>
                  </a:lnTo>
                  <a:close/>
                </a:path>
                <a:path w="1206500" h="107314">
                  <a:moveTo>
                    <a:pt x="586993" y="45466"/>
                  </a:moveTo>
                  <a:lnTo>
                    <a:pt x="571118" y="45466"/>
                  </a:lnTo>
                  <a:lnTo>
                    <a:pt x="571118" y="61341"/>
                  </a:lnTo>
                  <a:lnTo>
                    <a:pt x="586993" y="61341"/>
                  </a:lnTo>
                  <a:lnTo>
                    <a:pt x="586993" y="45466"/>
                  </a:lnTo>
                  <a:close/>
                </a:path>
                <a:path w="1206500" h="107314">
                  <a:moveTo>
                    <a:pt x="555243" y="45466"/>
                  </a:moveTo>
                  <a:lnTo>
                    <a:pt x="539368" y="45466"/>
                  </a:lnTo>
                  <a:lnTo>
                    <a:pt x="539368" y="61341"/>
                  </a:lnTo>
                  <a:lnTo>
                    <a:pt x="555243" y="61341"/>
                  </a:lnTo>
                  <a:lnTo>
                    <a:pt x="555243" y="45466"/>
                  </a:lnTo>
                  <a:close/>
                </a:path>
                <a:path w="1206500" h="107314">
                  <a:moveTo>
                    <a:pt x="523493" y="45466"/>
                  </a:moveTo>
                  <a:lnTo>
                    <a:pt x="507618" y="45466"/>
                  </a:lnTo>
                  <a:lnTo>
                    <a:pt x="507618" y="61341"/>
                  </a:lnTo>
                  <a:lnTo>
                    <a:pt x="523493" y="61341"/>
                  </a:lnTo>
                  <a:lnTo>
                    <a:pt x="523493" y="45466"/>
                  </a:lnTo>
                  <a:close/>
                </a:path>
                <a:path w="1206500" h="107314">
                  <a:moveTo>
                    <a:pt x="491743" y="45466"/>
                  </a:moveTo>
                  <a:lnTo>
                    <a:pt x="475868" y="45466"/>
                  </a:lnTo>
                  <a:lnTo>
                    <a:pt x="475868" y="61341"/>
                  </a:lnTo>
                  <a:lnTo>
                    <a:pt x="491743" y="61341"/>
                  </a:lnTo>
                  <a:lnTo>
                    <a:pt x="491743" y="45466"/>
                  </a:lnTo>
                  <a:close/>
                </a:path>
                <a:path w="1206500" h="107314">
                  <a:moveTo>
                    <a:pt x="459993" y="45466"/>
                  </a:moveTo>
                  <a:lnTo>
                    <a:pt x="444118" y="45466"/>
                  </a:lnTo>
                  <a:lnTo>
                    <a:pt x="444118" y="61341"/>
                  </a:lnTo>
                  <a:lnTo>
                    <a:pt x="459993" y="61341"/>
                  </a:lnTo>
                  <a:lnTo>
                    <a:pt x="459993" y="45466"/>
                  </a:lnTo>
                  <a:close/>
                </a:path>
                <a:path w="1206500" h="107314">
                  <a:moveTo>
                    <a:pt x="428243" y="45466"/>
                  </a:moveTo>
                  <a:lnTo>
                    <a:pt x="412368" y="45466"/>
                  </a:lnTo>
                  <a:lnTo>
                    <a:pt x="412368" y="61341"/>
                  </a:lnTo>
                  <a:lnTo>
                    <a:pt x="428243" y="61341"/>
                  </a:lnTo>
                  <a:lnTo>
                    <a:pt x="428243" y="45466"/>
                  </a:lnTo>
                  <a:close/>
                </a:path>
                <a:path w="1206500" h="107314">
                  <a:moveTo>
                    <a:pt x="396493" y="45466"/>
                  </a:moveTo>
                  <a:lnTo>
                    <a:pt x="380618" y="45466"/>
                  </a:lnTo>
                  <a:lnTo>
                    <a:pt x="380618" y="61341"/>
                  </a:lnTo>
                  <a:lnTo>
                    <a:pt x="396493" y="61341"/>
                  </a:lnTo>
                  <a:lnTo>
                    <a:pt x="396493" y="45466"/>
                  </a:lnTo>
                  <a:close/>
                </a:path>
                <a:path w="1206500" h="107314">
                  <a:moveTo>
                    <a:pt x="364743" y="45466"/>
                  </a:moveTo>
                  <a:lnTo>
                    <a:pt x="348868" y="45466"/>
                  </a:lnTo>
                  <a:lnTo>
                    <a:pt x="348868" y="61341"/>
                  </a:lnTo>
                  <a:lnTo>
                    <a:pt x="364743" y="61341"/>
                  </a:lnTo>
                  <a:lnTo>
                    <a:pt x="364743" y="45466"/>
                  </a:lnTo>
                  <a:close/>
                </a:path>
                <a:path w="1206500" h="107314">
                  <a:moveTo>
                    <a:pt x="332993" y="45466"/>
                  </a:moveTo>
                  <a:lnTo>
                    <a:pt x="317118" y="45466"/>
                  </a:lnTo>
                  <a:lnTo>
                    <a:pt x="317118" y="61341"/>
                  </a:lnTo>
                  <a:lnTo>
                    <a:pt x="332993" y="61341"/>
                  </a:lnTo>
                  <a:lnTo>
                    <a:pt x="332993" y="45466"/>
                  </a:lnTo>
                  <a:close/>
                </a:path>
                <a:path w="1206500" h="107314">
                  <a:moveTo>
                    <a:pt x="301243" y="45466"/>
                  </a:moveTo>
                  <a:lnTo>
                    <a:pt x="285368" y="45466"/>
                  </a:lnTo>
                  <a:lnTo>
                    <a:pt x="285368" y="61341"/>
                  </a:lnTo>
                  <a:lnTo>
                    <a:pt x="301243" y="61341"/>
                  </a:lnTo>
                  <a:lnTo>
                    <a:pt x="301243" y="45466"/>
                  </a:lnTo>
                  <a:close/>
                </a:path>
                <a:path w="1206500" h="107314">
                  <a:moveTo>
                    <a:pt x="269493" y="45466"/>
                  </a:moveTo>
                  <a:lnTo>
                    <a:pt x="253618" y="45466"/>
                  </a:lnTo>
                  <a:lnTo>
                    <a:pt x="253618" y="61341"/>
                  </a:lnTo>
                  <a:lnTo>
                    <a:pt x="269493" y="61341"/>
                  </a:lnTo>
                  <a:lnTo>
                    <a:pt x="269493" y="45466"/>
                  </a:lnTo>
                  <a:close/>
                </a:path>
                <a:path w="1206500" h="107314">
                  <a:moveTo>
                    <a:pt x="237743" y="45466"/>
                  </a:moveTo>
                  <a:lnTo>
                    <a:pt x="221868" y="45466"/>
                  </a:lnTo>
                  <a:lnTo>
                    <a:pt x="221868" y="61341"/>
                  </a:lnTo>
                  <a:lnTo>
                    <a:pt x="237743" y="61341"/>
                  </a:lnTo>
                  <a:lnTo>
                    <a:pt x="237743" y="45466"/>
                  </a:lnTo>
                  <a:close/>
                </a:path>
                <a:path w="1206500" h="107314">
                  <a:moveTo>
                    <a:pt x="205993" y="45466"/>
                  </a:moveTo>
                  <a:lnTo>
                    <a:pt x="190118" y="45466"/>
                  </a:lnTo>
                  <a:lnTo>
                    <a:pt x="190118" y="61341"/>
                  </a:lnTo>
                  <a:lnTo>
                    <a:pt x="205993" y="61341"/>
                  </a:lnTo>
                  <a:lnTo>
                    <a:pt x="205993" y="45466"/>
                  </a:lnTo>
                  <a:close/>
                </a:path>
                <a:path w="1206500" h="107314">
                  <a:moveTo>
                    <a:pt x="174243" y="45466"/>
                  </a:moveTo>
                  <a:lnTo>
                    <a:pt x="158368" y="45466"/>
                  </a:lnTo>
                  <a:lnTo>
                    <a:pt x="158368" y="61341"/>
                  </a:lnTo>
                  <a:lnTo>
                    <a:pt x="174243" y="61341"/>
                  </a:lnTo>
                  <a:lnTo>
                    <a:pt x="174243" y="45466"/>
                  </a:lnTo>
                  <a:close/>
                </a:path>
                <a:path w="1206500" h="107314">
                  <a:moveTo>
                    <a:pt x="142493" y="45466"/>
                  </a:moveTo>
                  <a:lnTo>
                    <a:pt x="126618" y="45466"/>
                  </a:lnTo>
                  <a:lnTo>
                    <a:pt x="126618" y="61341"/>
                  </a:lnTo>
                  <a:lnTo>
                    <a:pt x="142493" y="61341"/>
                  </a:lnTo>
                  <a:lnTo>
                    <a:pt x="142493" y="45466"/>
                  </a:lnTo>
                  <a:close/>
                </a:path>
                <a:path w="1206500" h="107314">
                  <a:moveTo>
                    <a:pt x="110743" y="45466"/>
                  </a:moveTo>
                  <a:lnTo>
                    <a:pt x="94868" y="45466"/>
                  </a:lnTo>
                  <a:lnTo>
                    <a:pt x="94868" y="61341"/>
                  </a:lnTo>
                  <a:lnTo>
                    <a:pt x="110743" y="61341"/>
                  </a:lnTo>
                  <a:lnTo>
                    <a:pt x="110743" y="45466"/>
                  </a:lnTo>
                  <a:close/>
                </a:path>
                <a:path w="1206500" h="107314">
                  <a:moveTo>
                    <a:pt x="78993" y="45466"/>
                  </a:moveTo>
                  <a:lnTo>
                    <a:pt x="63118" y="45466"/>
                  </a:lnTo>
                  <a:lnTo>
                    <a:pt x="63118" y="61341"/>
                  </a:lnTo>
                  <a:lnTo>
                    <a:pt x="78993" y="61341"/>
                  </a:lnTo>
                  <a:lnTo>
                    <a:pt x="78993" y="45466"/>
                  </a:lnTo>
                  <a:close/>
                </a:path>
                <a:path w="1206500" h="107314">
                  <a:moveTo>
                    <a:pt x="47243" y="45466"/>
                  </a:moveTo>
                  <a:lnTo>
                    <a:pt x="31368" y="45466"/>
                  </a:lnTo>
                  <a:lnTo>
                    <a:pt x="31368" y="61341"/>
                  </a:lnTo>
                  <a:lnTo>
                    <a:pt x="47243" y="61341"/>
                  </a:lnTo>
                  <a:lnTo>
                    <a:pt x="47243" y="45466"/>
                  </a:lnTo>
                  <a:close/>
                </a:path>
                <a:path w="1206500" h="107314">
                  <a:moveTo>
                    <a:pt x="15493" y="45466"/>
                  </a:moveTo>
                  <a:lnTo>
                    <a:pt x="0" y="45466"/>
                  </a:lnTo>
                  <a:lnTo>
                    <a:pt x="0" y="61341"/>
                  </a:lnTo>
                  <a:lnTo>
                    <a:pt x="15493" y="61341"/>
                  </a:lnTo>
                  <a:lnTo>
                    <a:pt x="15493" y="45466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2184" y="4146803"/>
            <a:ext cx="1903211" cy="65276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685291" y="950721"/>
            <a:ext cx="42392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Georgia"/>
                <a:cs typeface="Georgia"/>
              </a:rPr>
              <a:t>Use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following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process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modify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existing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modules: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4212590" cy="3321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98445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General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400">
              <a:latin typeface="Calibri"/>
              <a:cs typeface="Calibri"/>
            </a:endParaRPr>
          </a:p>
          <a:p>
            <a:pPr marL="299085" marR="467359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Use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unique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technical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properties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change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runs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Avoid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dynamic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values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Use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descriptive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conventions</a:t>
            </a:r>
            <a:endParaRPr sz="1800">
              <a:latin typeface="Calibri"/>
              <a:cs typeface="Calibri"/>
            </a:endParaRPr>
          </a:p>
          <a:p>
            <a:pPr marL="299085" marR="65786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Module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consist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application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it’s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used </a:t>
            </a:r>
            <a:r>
              <a:rPr sz="1800" spc="-35" dirty="0">
                <a:latin typeface="Calibri"/>
                <a:cs typeface="Calibri"/>
              </a:rPr>
              <a:t>for,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applicable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section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or </a:t>
            </a:r>
            <a:r>
              <a:rPr sz="1800" dirty="0">
                <a:latin typeface="Calibri"/>
                <a:cs typeface="Calibri"/>
              </a:rPr>
              <a:t>functionality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what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module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drives.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0219" y="506983"/>
            <a:ext cx="32543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Module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16779" y="1972055"/>
            <a:ext cx="3694429" cy="2059305"/>
            <a:chOff x="4716779" y="1972055"/>
            <a:chExt cx="3694429" cy="20593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779" y="1972055"/>
              <a:ext cx="323113" cy="20589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72405" y="2007869"/>
              <a:ext cx="230504" cy="1952625"/>
            </a:xfrm>
            <a:custGeom>
              <a:avLst/>
              <a:gdLst/>
              <a:ahLst/>
              <a:cxnLst/>
              <a:rect l="l" t="t" r="r" b="b"/>
              <a:pathLst>
                <a:path w="230504" h="1952625">
                  <a:moveTo>
                    <a:pt x="230124" y="1952244"/>
                  </a:moveTo>
                  <a:lnTo>
                    <a:pt x="185356" y="1952244"/>
                  </a:lnTo>
                  <a:lnTo>
                    <a:pt x="148780" y="1952244"/>
                  </a:lnTo>
                  <a:lnTo>
                    <a:pt x="124110" y="1952244"/>
                  </a:lnTo>
                  <a:lnTo>
                    <a:pt x="115062" y="1952244"/>
                  </a:lnTo>
                  <a:lnTo>
                    <a:pt x="115062" y="976122"/>
                  </a:lnTo>
                  <a:lnTo>
                    <a:pt x="106013" y="976122"/>
                  </a:lnTo>
                  <a:lnTo>
                    <a:pt x="81343" y="976122"/>
                  </a:lnTo>
                  <a:lnTo>
                    <a:pt x="44767" y="976122"/>
                  </a:lnTo>
                  <a:lnTo>
                    <a:pt x="0" y="976122"/>
                  </a:lnTo>
                  <a:lnTo>
                    <a:pt x="44767" y="976122"/>
                  </a:lnTo>
                  <a:lnTo>
                    <a:pt x="81343" y="976122"/>
                  </a:lnTo>
                  <a:lnTo>
                    <a:pt x="106013" y="976122"/>
                  </a:lnTo>
                  <a:lnTo>
                    <a:pt x="115062" y="976122"/>
                  </a:lnTo>
                  <a:lnTo>
                    <a:pt x="115062" y="0"/>
                  </a:lnTo>
                  <a:lnTo>
                    <a:pt x="124110" y="0"/>
                  </a:lnTo>
                  <a:lnTo>
                    <a:pt x="148780" y="0"/>
                  </a:lnTo>
                  <a:lnTo>
                    <a:pt x="185356" y="0"/>
                  </a:lnTo>
                  <a:lnTo>
                    <a:pt x="230124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2143" y="2183891"/>
              <a:ext cx="3448811" cy="157124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67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7219950" cy="16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1336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General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4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buSzPct val="61111"/>
              <a:buFont typeface="Symbol"/>
              <a:buChar char="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Module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renamed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element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steer.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Should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“Link”,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“Textfield</a:t>
            </a:r>
            <a:r>
              <a:rPr sz="1800" spc="-25" dirty="0">
                <a:latin typeface="Calibri"/>
                <a:cs typeface="Calibri"/>
              </a:rPr>
              <a:t>”,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left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details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instead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should </a:t>
            </a:r>
            <a:r>
              <a:rPr sz="1800" dirty="0">
                <a:latin typeface="Calibri"/>
                <a:cs typeface="Calibri"/>
              </a:rPr>
              <a:t>say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“Workday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Button”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“Search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People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Content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Textfield”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“Submit </a:t>
            </a:r>
            <a:r>
              <a:rPr sz="1800" b="1" dirty="0">
                <a:latin typeface="Calibri"/>
                <a:cs typeface="Calibri"/>
              </a:rPr>
              <a:t>Search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Button”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Below: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0219" y="506983"/>
            <a:ext cx="32543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Module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1436" y="2895600"/>
            <a:ext cx="7482840" cy="1501140"/>
            <a:chOff x="821436" y="2895600"/>
            <a:chExt cx="7482840" cy="15011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1436" y="2996184"/>
              <a:ext cx="3465576" cy="14005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6195" y="2895600"/>
              <a:ext cx="3688079" cy="15011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68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7339" y="2232659"/>
            <a:ext cx="5324856" cy="23408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1324" y="998964"/>
            <a:ext cx="6745605" cy="86550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70815" algn="ctr">
              <a:lnSpc>
                <a:spcPct val="100000"/>
              </a:lnSpc>
              <a:spcBef>
                <a:spcPts val="370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General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340"/>
              </a:spcBef>
              <a:buSzPct val="61111"/>
              <a:buFont typeface="Symbol"/>
              <a:buChar char="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Module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uniquely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identified.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hierarchy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properties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below.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lower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properties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prioritized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69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0219" y="506983"/>
            <a:ext cx="32543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Module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6589" y="970195"/>
            <a:ext cx="7263765" cy="374586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R="169545" algn="ctr">
              <a:lnSpc>
                <a:spcPct val="100000"/>
              </a:lnSpc>
              <a:spcBef>
                <a:spcPts val="59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General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  <a:p>
            <a:pPr marL="355600" marR="302260" indent="-342900">
              <a:lnSpc>
                <a:spcPct val="100000"/>
              </a:lnSpc>
              <a:spcBef>
                <a:spcPts val="710"/>
              </a:spcBef>
              <a:buSzPct val="55000"/>
              <a:buFont typeface="Symbol"/>
              <a:buChar char="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Importing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subsets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into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repository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should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avoided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the </a:t>
            </a:r>
            <a:r>
              <a:rPr sz="2000" b="1" dirty="0">
                <a:latin typeface="Calibri"/>
                <a:cs typeface="Calibri"/>
              </a:rPr>
              <a:t>process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creates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several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duplicate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standard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modules.</a:t>
            </a:r>
            <a:endParaRPr sz="2000">
              <a:latin typeface="Calibri"/>
              <a:cs typeface="Calibri"/>
            </a:endParaRPr>
          </a:p>
          <a:p>
            <a:pPr marL="355600" marR="86360" indent="-342900">
              <a:lnSpc>
                <a:spcPct val="100000"/>
              </a:lnSpc>
              <a:spcBef>
                <a:spcPts val="2400"/>
              </a:spcBef>
              <a:buSzPct val="55000"/>
              <a:buFont typeface="Symbol"/>
              <a:buChar char="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importing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subsets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avoided,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click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Merge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button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prompted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eliminate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duplicate </a:t>
            </a:r>
            <a:r>
              <a:rPr sz="2000" dirty="0">
                <a:latin typeface="Calibri"/>
                <a:cs typeface="Calibri"/>
              </a:rPr>
              <a:t>standard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modules.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2405"/>
              </a:spcBef>
              <a:buSzPct val="55000"/>
              <a:buFont typeface="Symbol"/>
              <a:buChar char=""/>
              <a:tabLst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Duplicate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exist,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likewise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modules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repository.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Duplicate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 </a:t>
            </a:r>
            <a:r>
              <a:rPr sz="2000" dirty="0">
                <a:latin typeface="Calibri"/>
                <a:cs typeface="Calibri"/>
              </a:rPr>
              <a:t>merged,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delete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duplicate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needs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deleted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needed.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70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0219" y="506983"/>
            <a:ext cx="32543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Module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67509"/>
            <a:ext cx="77012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Test</a:t>
            </a:r>
            <a:r>
              <a:rPr sz="44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Case</a:t>
            </a:r>
            <a:r>
              <a:rPr sz="44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Design</a:t>
            </a:r>
            <a:r>
              <a:rPr sz="4400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best</a:t>
            </a:r>
            <a:r>
              <a:rPr sz="44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practices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71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9" y="1424939"/>
            <a:ext cx="7993380" cy="3268979"/>
          </a:xfrm>
          <a:custGeom>
            <a:avLst/>
            <a:gdLst/>
            <a:ahLst/>
            <a:cxnLst/>
            <a:rect l="l" t="t" r="r" b="b"/>
            <a:pathLst>
              <a:path w="7993380" h="3268979">
                <a:moveTo>
                  <a:pt x="7993380" y="0"/>
                </a:moveTo>
                <a:lnTo>
                  <a:pt x="0" y="0"/>
                </a:lnTo>
                <a:lnTo>
                  <a:pt x="0" y="3268979"/>
                </a:lnTo>
                <a:lnTo>
                  <a:pt x="7993380" y="3268979"/>
                </a:lnTo>
                <a:lnTo>
                  <a:pt x="79933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82136" y="1022731"/>
            <a:ext cx="19894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TCD</a:t>
            </a: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General</a:t>
            </a:r>
            <a:r>
              <a:rPr sz="1400" b="1" spc="-5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Best</a:t>
            </a:r>
            <a:r>
              <a:rPr sz="1400" b="1" spc="-4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Practices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Design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1832" y="2298192"/>
            <a:ext cx="4200525" cy="1818639"/>
            <a:chOff x="941832" y="2298192"/>
            <a:chExt cx="4200525" cy="181863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832" y="2298192"/>
              <a:ext cx="4181855" cy="914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1832" y="3669792"/>
              <a:ext cx="4200144" cy="44653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20572" y="1718310"/>
            <a:ext cx="3206115" cy="410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Process</a:t>
            </a:r>
            <a:endParaRPr sz="1400">
              <a:latin typeface="Calibri"/>
              <a:cs typeface="Calibri"/>
            </a:endParaRPr>
          </a:p>
          <a:p>
            <a:pPr marL="114300" indent="-101600">
              <a:lnSpc>
                <a:spcPct val="100000"/>
              </a:lnSpc>
              <a:spcBef>
                <a:spcPts val="25"/>
              </a:spcBef>
              <a:buChar char="•"/>
              <a:tabLst>
                <a:tab pos="114300" algn="l"/>
              </a:tabLst>
            </a:pPr>
            <a:r>
              <a:rPr sz="1100" dirty="0">
                <a:latin typeface="Calibri"/>
                <a:cs typeface="Calibri"/>
              </a:rPr>
              <a:t>Each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Sheet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should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only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template.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72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1020572" y="3116326"/>
            <a:ext cx="48120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indent="-101600">
              <a:lnSpc>
                <a:spcPct val="100000"/>
              </a:lnSpc>
              <a:spcBef>
                <a:spcPts val="100"/>
              </a:spcBef>
              <a:buChar char="•"/>
              <a:tabLst>
                <a:tab pos="114300" algn="l"/>
              </a:tabLst>
            </a:pPr>
            <a:r>
              <a:rPr sz="1100" dirty="0">
                <a:latin typeface="Calibri"/>
                <a:cs typeface="Calibri"/>
              </a:rPr>
              <a:t>Make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number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Sheet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Instances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more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what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necessary.</a:t>
            </a:r>
            <a:endParaRPr sz="1100">
              <a:latin typeface="Calibri"/>
              <a:cs typeface="Calibri"/>
            </a:endParaRPr>
          </a:p>
          <a:p>
            <a:pPr marL="114300" indent="-101600">
              <a:lnSpc>
                <a:spcPct val="100000"/>
              </a:lnSpc>
              <a:buChar char="•"/>
              <a:tabLst>
                <a:tab pos="114300" algn="l"/>
              </a:tabLst>
            </a:pPr>
            <a:r>
              <a:rPr sz="1100" dirty="0">
                <a:latin typeface="Calibri"/>
                <a:cs typeface="Calibri"/>
              </a:rPr>
              <a:t>If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applicable,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needed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Custom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Sheets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create: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9" y="1424939"/>
            <a:ext cx="7993380" cy="3268979"/>
          </a:xfrm>
          <a:custGeom>
            <a:avLst/>
            <a:gdLst/>
            <a:ahLst/>
            <a:cxnLst/>
            <a:rect l="l" t="t" r="r" b="b"/>
            <a:pathLst>
              <a:path w="7993380" h="3268979">
                <a:moveTo>
                  <a:pt x="7993380" y="0"/>
                </a:moveTo>
                <a:lnTo>
                  <a:pt x="0" y="0"/>
                </a:lnTo>
                <a:lnTo>
                  <a:pt x="0" y="3268979"/>
                </a:lnTo>
                <a:lnTo>
                  <a:pt x="7993380" y="3268979"/>
                </a:lnTo>
                <a:lnTo>
                  <a:pt x="79933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73017" y="993775"/>
            <a:ext cx="19894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TCD</a:t>
            </a: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General</a:t>
            </a:r>
            <a:r>
              <a:rPr sz="1400" b="1" spc="-5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Best</a:t>
            </a:r>
            <a:r>
              <a:rPr sz="1400" b="1" spc="-4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Practices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10" dirty="0"/>
              <a:t>TOSCA</a:t>
            </a:r>
            <a:r>
              <a:rPr spc="270" dirty="0"/>
              <a:t> </a:t>
            </a:r>
            <a:r>
              <a:rPr spc="114" dirty="0"/>
              <a:t>PROJECT</a:t>
            </a:r>
            <a:r>
              <a:rPr spc="290" dirty="0"/>
              <a:t> </a:t>
            </a:r>
            <a:r>
              <a:rPr spc="114" dirty="0"/>
              <a:t>SETUP</a:t>
            </a:r>
            <a:r>
              <a:rPr spc="275" dirty="0"/>
              <a:t> </a:t>
            </a:r>
            <a:r>
              <a:rPr spc="114" dirty="0"/>
              <a:t>PROJECT</a:t>
            </a:r>
            <a:r>
              <a:rPr spc="280" dirty="0"/>
              <a:t> </a:t>
            </a:r>
            <a:r>
              <a:rPr spc="114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Design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552" y="1758442"/>
            <a:ext cx="481393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0" indent="-127000">
              <a:lnSpc>
                <a:spcPct val="100000"/>
              </a:lnSpc>
              <a:spcBef>
                <a:spcPts val="105"/>
              </a:spcBef>
              <a:buChar char="•"/>
              <a:tabLst>
                <a:tab pos="139700" algn="l"/>
              </a:tabLst>
            </a:pPr>
            <a:r>
              <a:rPr sz="1400" dirty="0">
                <a:latin typeface="Calibri"/>
                <a:cs typeface="Calibri"/>
              </a:rPr>
              <a:t>Use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high-</a:t>
            </a:r>
            <a:r>
              <a:rPr sz="1400" dirty="0">
                <a:latin typeface="Calibri"/>
                <a:cs typeface="Calibri"/>
              </a:rPr>
              <a:t>level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attributes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organize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attributes.</a:t>
            </a:r>
            <a:endParaRPr sz="1400">
              <a:latin typeface="Calibri"/>
              <a:cs typeface="Calibri"/>
            </a:endParaRPr>
          </a:p>
          <a:p>
            <a:pPr marL="139700" indent="-127000">
              <a:lnSpc>
                <a:spcPct val="100000"/>
              </a:lnSpc>
              <a:buChar char="•"/>
              <a:tabLst>
                <a:tab pos="139700" algn="l"/>
              </a:tabLst>
            </a:pPr>
            <a:r>
              <a:rPr sz="1400" dirty="0">
                <a:latin typeface="Calibri"/>
                <a:cs typeface="Calibri"/>
              </a:rPr>
              <a:t>Do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keep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attributes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structural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level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55035" y="1496567"/>
            <a:ext cx="4718685" cy="2760345"/>
            <a:chOff x="2955035" y="1496567"/>
            <a:chExt cx="4718685" cy="27603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0" y="1496567"/>
              <a:ext cx="1577340" cy="27462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5035" y="2869691"/>
              <a:ext cx="2790443" cy="138684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60552" y="2950540"/>
            <a:ext cx="1888489" cy="1095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2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dirty="0">
                <a:latin typeface="Calibri"/>
                <a:cs typeface="Calibri"/>
              </a:rPr>
              <a:t>Do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leave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Test </a:t>
            </a:r>
            <a:r>
              <a:rPr sz="1400" spc="-10" dirty="0">
                <a:latin typeface="Calibri"/>
                <a:cs typeface="Calibri"/>
              </a:rPr>
              <a:t>Instances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default </a:t>
            </a:r>
            <a:r>
              <a:rPr sz="1400" dirty="0">
                <a:latin typeface="Calibri"/>
                <a:cs typeface="Calibri"/>
              </a:rPr>
              <a:t>name,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provide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them</a:t>
            </a:r>
            <a:r>
              <a:rPr sz="1400" spc="-20" dirty="0">
                <a:latin typeface="Calibri"/>
                <a:cs typeface="Calibri"/>
              </a:rPr>
              <a:t> with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meaningful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name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based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scenario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b="0" dirty="0">
                <a:latin typeface="Calibri"/>
                <a:cs typeface="Calibri"/>
              </a:rPr>
              <a:t>|</a:t>
            </a:r>
            <a:r>
              <a:rPr b="0" spc="225" dirty="0">
                <a:latin typeface="Calibri"/>
                <a:cs typeface="Calibri"/>
              </a:rPr>
              <a:t>  </a:t>
            </a:r>
            <a:r>
              <a:rPr b="0" spc="-25" dirty="0">
                <a:latin typeface="Calibri"/>
                <a:cs typeface="Calibri"/>
              </a:rPr>
              <a:t>73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67509"/>
            <a:ext cx="46729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TDS</a:t>
            </a:r>
            <a:r>
              <a:rPr sz="4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Best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Practices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>
                <a:solidFill>
                  <a:srgbClr val="FFFFFF"/>
                </a:solidFill>
              </a:rPr>
              <a:t>74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2744" y="1032763"/>
            <a:ext cx="7469505" cy="263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0767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General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400">
              <a:latin typeface="Calibri"/>
              <a:cs typeface="Calibri"/>
            </a:endParaRPr>
          </a:p>
          <a:p>
            <a:pPr marL="296545" marR="5080" indent="-284480" algn="just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latin typeface="Calibri"/>
                <a:cs typeface="Calibri"/>
              </a:rPr>
              <a:t>Tricentis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30" dirty="0">
                <a:latin typeface="Calibri"/>
                <a:cs typeface="Calibri"/>
              </a:rPr>
              <a:t>Tosca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Test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Data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Service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(TDS)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web-</a:t>
            </a: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enables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your 	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distributed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environments.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TDS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tables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similar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database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store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persistent 	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between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runs.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latin typeface="Calibri"/>
                <a:cs typeface="Calibri"/>
              </a:rPr>
              <a:t>Typically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for: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latin typeface="Calibri"/>
                <a:cs typeface="Calibri"/>
              </a:rPr>
              <a:t>Data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needs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shared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between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cases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latin typeface="Calibri"/>
                <a:cs typeface="Calibri"/>
              </a:rPr>
              <a:t>Data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needs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preloaded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spc="-10" dirty="0">
                <a:latin typeface="Calibri"/>
                <a:cs typeface="Calibri"/>
              </a:rPr>
              <a:t>System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data/Master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varies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between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environments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latin typeface="Calibri"/>
                <a:cs typeface="Calibri"/>
              </a:rPr>
              <a:t>Consumable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spc="-10" dirty="0">
                <a:latin typeface="Calibri"/>
                <a:cs typeface="Calibri"/>
              </a:rPr>
              <a:t>Alternative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Excel,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faster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runtime.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Excel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loaded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TDS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faster.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>
                <a:solidFill>
                  <a:srgbClr val="FFFFFF"/>
                </a:solidFill>
              </a:rPr>
              <a:t>75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TDS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0475" y="2101595"/>
            <a:ext cx="3777996" cy="24719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72744" y="1032763"/>
            <a:ext cx="6798945" cy="1838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336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TDS</a:t>
            </a:r>
            <a:r>
              <a:rPr sz="1400" b="1" spc="-2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Repositories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0" dirty="0">
                <a:latin typeface="Calibri"/>
                <a:cs typeface="Calibri"/>
              </a:rPr>
              <a:t>To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TDS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repository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needs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created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Tosca</a:t>
            </a:r>
            <a:r>
              <a:rPr sz="1300" spc="-20" dirty="0">
                <a:latin typeface="Calibri"/>
                <a:cs typeface="Calibri"/>
              </a:rPr>
              <a:t> Server.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There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repository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created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an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latin typeface="Calibri"/>
                <a:cs typeface="Calibri"/>
              </a:rPr>
              <a:t>application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level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business unit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level</a:t>
            </a:r>
            <a:r>
              <a:rPr sz="1300" spc="2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depending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size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application: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300">
              <a:latin typeface="Calibri"/>
              <a:cs typeface="Calibri"/>
            </a:endParaRPr>
          </a:p>
          <a:p>
            <a:pPr marL="12700" marR="3624579">
              <a:lnSpc>
                <a:spcPct val="100000"/>
              </a:lnSpc>
            </a:pPr>
            <a:r>
              <a:rPr sz="1300" dirty="0">
                <a:latin typeface="Calibri"/>
                <a:cs typeface="Calibri"/>
              </a:rPr>
              <a:t>Each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repository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contain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multiple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“</a:t>
            </a:r>
            <a:r>
              <a:rPr sz="1300" b="1" spc="-10" dirty="0">
                <a:latin typeface="Calibri"/>
                <a:cs typeface="Calibri"/>
              </a:rPr>
              <a:t>Types</a:t>
            </a:r>
            <a:r>
              <a:rPr sz="1300" spc="-10" dirty="0">
                <a:latin typeface="Calibri"/>
                <a:cs typeface="Calibri"/>
              </a:rPr>
              <a:t>” </a:t>
            </a:r>
            <a:r>
              <a:rPr sz="1300" dirty="0">
                <a:latin typeface="Calibri"/>
                <a:cs typeface="Calibri"/>
              </a:rPr>
              <a:t>which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are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equivalent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tables.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These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store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data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your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cases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TDS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004" y="2921507"/>
            <a:ext cx="3332988" cy="165201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>
                <a:solidFill>
                  <a:srgbClr val="FFFFFF"/>
                </a:solidFill>
              </a:rPr>
              <a:t>76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2744" y="1032763"/>
            <a:ext cx="7301230" cy="9251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3812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9CDE"/>
                </a:solidFill>
                <a:latin typeface="Calibri"/>
                <a:cs typeface="Calibri"/>
              </a:rPr>
              <a:t>TDS</a:t>
            </a:r>
            <a:r>
              <a:rPr sz="1400" spc="-2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9CDE"/>
                </a:solidFill>
                <a:latin typeface="Calibri"/>
                <a:cs typeface="Calibri"/>
              </a:rPr>
              <a:t>Repositories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Always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Label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TDS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Types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between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Input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items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Output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items.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type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both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input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output,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Input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labels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required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TDS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2095500"/>
            <a:ext cx="5448300" cy="25709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>
                <a:solidFill>
                  <a:srgbClr val="FFFFFF"/>
                </a:solidFill>
              </a:rPr>
              <a:t>77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6683" y="1032763"/>
            <a:ext cx="14262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General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>
                <a:solidFill>
                  <a:srgbClr val="FFFFFF"/>
                </a:solidFill>
              </a:rPr>
              <a:t>78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2744" y="1506169"/>
            <a:ext cx="7475220" cy="3195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Calibri"/>
                <a:cs typeface="Calibri"/>
              </a:rPr>
              <a:t>Standard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Modules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in</a:t>
            </a:r>
            <a:r>
              <a:rPr sz="1300" b="1" spc="-50" dirty="0">
                <a:latin typeface="Calibri"/>
                <a:cs typeface="Calibri"/>
              </a:rPr>
              <a:t> </a:t>
            </a:r>
            <a:r>
              <a:rPr sz="1300" b="1" spc="-20" dirty="0">
                <a:latin typeface="Calibri"/>
                <a:cs typeface="Calibri"/>
              </a:rPr>
              <a:t>TDS:</a:t>
            </a:r>
            <a:endParaRPr sz="1300">
              <a:latin typeface="Calibri"/>
              <a:cs typeface="Calibri"/>
            </a:endParaRPr>
          </a:p>
          <a:p>
            <a:pPr marL="299085" marR="50419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300" b="1" spc="-20" dirty="0">
                <a:latin typeface="Calibri"/>
                <a:cs typeface="Calibri"/>
              </a:rPr>
              <a:t>TestData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-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Find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&amp;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provide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record:</a:t>
            </a:r>
            <a:r>
              <a:rPr sz="1300" b="1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This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module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particular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record/s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based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spc="-10" dirty="0">
                <a:latin typeface="Calibri"/>
                <a:cs typeface="Calibri"/>
              </a:rPr>
              <a:t>requirement</a:t>
            </a:r>
            <a:r>
              <a:rPr sz="130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criteria</a:t>
            </a:r>
            <a:endParaRPr sz="1300">
              <a:latin typeface="Calibri"/>
              <a:cs typeface="Calibri"/>
            </a:endParaRPr>
          </a:p>
          <a:p>
            <a:pPr marL="299085" marR="26479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300" b="1" spc="-20" dirty="0">
                <a:latin typeface="Calibri"/>
                <a:cs typeface="Calibri"/>
              </a:rPr>
              <a:t>TestData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-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Create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&amp;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provide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new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record:</a:t>
            </a:r>
            <a:r>
              <a:rPr sz="1300" b="1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This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module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create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New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TDS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Type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insert record/s</a:t>
            </a:r>
            <a:endParaRPr sz="13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300" b="1" spc="-20" dirty="0">
                <a:latin typeface="Calibri"/>
                <a:cs typeface="Calibri"/>
              </a:rPr>
              <a:t>TestData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-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Update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Record: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This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module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update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existing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record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TDS</a:t>
            </a:r>
            <a:endParaRPr sz="1300">
              <a:latin typeface="Calibri"/>
              <a:cs typeface="Calibri"/>
            </a:endParaRPr>
          </a:p>
          <a:p>
            <a:pPr marL="299085" marR="38671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300" b="1" spc="-20" dirty="0">
                <a:latin typeface="Calibri"/>
                <a:cs typeface="Calibri"/>
              </a:rPr>
              <a:t>TestData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-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Move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record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to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TDS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type: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This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module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have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similar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TDS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type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serve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spc="-10" dirty="0">
                <a:latin typeface="Calibri"/>
                <a:cs typeface="Calibri"/>
              </a:rPr>
              <a:t>different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purpose</a:t>
            </a:r>
            <a:endParaRPr sz="1300">
              <a:latin typeface="Calibri"/>
              <a:cs typeface="Calibri"/>
            </a:endParaRPr>
          </a:p>
          <a:p>
            <a:pPr marL="299085" marR="16192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300" b="1" spc="-20" dirty="0">
                <a:latin typeface="Calibri"/>
                <a:cs typeface="Calibri"/>
              </a:rPr>
              <a:t>TestData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-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Delete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Record:</a:t>
            </a:r>
            <a:r>
              <a:rPr sz="1300" b="1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This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module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used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delete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specific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record/s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based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requirement criteria</a:t>
            </a:r>
            <a:endParaRPr sz="13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300" b="1" spc="-20" dirty="0">
                <a:latin typeface="Calibri"/>
                <a:cs typeface="Calibri"/>
              </a:rPr>
              <a:t>TestData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-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Expert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Module: </a:t>
            </a:r>
            <a:r>
              <a:rPr sz="1300" dirty="0">
                <a:latin typeface="Calibri"/>
                <a:cs typeface="Calibri"/>
              </a:rPr>
              <a:t>DO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NOT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THIS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METHOD.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This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module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perform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above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listed</a:t>
            </a:r>
            <a:r>
              <a:rPr sz="1300" spc="5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all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activities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with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help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single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module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property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which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'Test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Data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Task*'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'DeleteAll' </a:t>
            </a:r>
            <a:r>
              <a:rPr sz="1300" dirty="0">
                <a:latin typeface="Calibri"/>
                <a:cs typeface="Calibri"/>
              </a:rPr>
              <a:t>module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prohibited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Production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environment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this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will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delete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entire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TDS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content</a:t>
            </a:r>
            <a:endParaRPr sz="1300">
              <a:latin typeface="Calibri"/>
              <a:cs typeface="Calibri"/>
            </a:endParaRPr>
          </a:p>
          <a:p>
            <a:pPr marL="299085" marR="4445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300" b="1" spc="-20" dirty="0">
                <a:latin typeface="Calibri"/>
                <a:cs typeface="Calibri"/>
              </a:rPr>
              <a:t>TestData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-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Import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items: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whenever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you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want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import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any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csv/excel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input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data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file</a:t>
            </a:r>
            <a:r>
              <a:rPr sz="1300" spc="-20" dirty="0">
                <a:latin typeface="Calibri"/>
                <a:cs typeface="Calibri"/>
              </a:rPr>
              <a:t> TestData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-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Export </a:t>
            </a:r>
            <a:r>
              <a:rPr sz="1300" dirty="0">
                <a:latin typeface="Calibri"/>
                <a:cs typeface="Calibri"/>
              </a:rPr>
              <a:t>items: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whenever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you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want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export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TDS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Result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into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any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csv/excel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file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TestData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-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Update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Type: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Use </a:t>
            </a:r>
            <a:r>
              <a:rPr sz="1300" dirty="0">
                <a:latin typeface="Calibri"/>
                <a:cs typeface="Calibri"/>
              </a:rPr>
              <a:t>whenever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you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want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update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already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existing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TDS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Type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TDS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2744" y="1032763"/>
            <a:ext cx="7394575" cy="263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32105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Repositories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Naming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Convention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Types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Naming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convention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TDS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Type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followed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below: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&lt;Shortname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 the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Project&gt;&lt;Input/Output&gt;&lt;Functionality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TDS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Type)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b="1" dirty="0">
                <a:latin typeface="Calibri"/>
                <a:cs typeface="Calibri"/>
              </a:rPr>
              <a:t>Required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columns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(e.g.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State_Status)</a:t>
            </a:r>
            <a:endParaRPr sz="14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buFont typeface="Arial MT"/>
              <a:buChar char="•"/>
              <a:tabLst>
                <a:tab pos="338455" algn="l"/>
              </a:tabLst>
            </a:pPr>
            <a:r>
              <a:rPr sz="1400" dirty="0">
                <a:latin typeface="Calibri"/>
                <a:cs typeface="Calibri"/>
              </a:rPr>
              <a:t>Keep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column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'State/Status'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traverse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TDS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Input/Source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along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columns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  <a:tab pos="338455" algn="l"/>
              </a:tabLst>
            </a:pPr>
            <a:r>
              <a:rPr sz="1400" dirty="0">
                <a:latin typeface="Arial MT"/>
                <a:cs typeface="Arial MT"/>
              </a:rPr>
              <a:t>	</a:t>
            </a:r>
            <a:r>
              <a:rPr sz="1400" dirty="0">
                <a:latin typeface="Calibri"/>
                <a:cs typeface="Calibri"/>
              </a:rPr>
              <a:t>Initial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value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column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'State/Status'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'New'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newly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loaded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TDS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not </a:t>
            </a:r>
            <a:r>
              <a:rPr sz="1400" dirty="0">
                <a:latin typeface="Calibri"/>
                <a:cs typeface="Calibri"/>
              </a:rPr>
              <a:t>yet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processed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Once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after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record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TDS,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status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needs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changed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'Processed'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TDS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075" y="3895344"/>
            <a:ext cx="7162800" cy="7711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>
                <a:solidFill>
                  <a:srgbClr val="FFFFFF"/>
                </a:solidFill>
              </a:rPr>
              <a:t>79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167509"/>
            <a:ext cx="7230109" cy="123317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  <a:tabLst>
                <a:tab pos="1377315" algn="l"/>
              </a:tabLst>
            </a:pPr>
            <a:r>
              <a:rPr sz="4400" spc="-20" dirty="0">
                <a:solidFill>
                  <a:srgbClr val="FFFFFF"/>
                </a:solidFill>
                <a:latin typeface="Georgia"/>
                <a:cs typeface="Georgia"/>
              </a:rPr>
              <a:t>High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	Level</a:t>
            </a:r>
            <a:r>
              <a:rPr sz="4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Test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case</a:t>
            </a:r>
            <a:r>
              <a:rPr sz="4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creation process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8859"/>
            <a:ext cx="7411084" cy="1861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0322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General</a:t>
            </a:r>
            <a:r>
              <a:rPr sz="1400" b="1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guidelines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Plan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well.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Follow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standards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organizing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Cases,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Steps,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Input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Data.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general,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author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smaller,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rather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larger,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reusable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chunks.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Use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ADDON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Tests,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associating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each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corresponding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Tosca</a:t>
            </a:r>
            <a:endParaRPr sz="1400">
              <a:latin typeface="Georgia"/>
              <a:cs typeface="Georgi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item.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(Tosca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Account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required: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Yes)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>
                <a:solidFill>
                  <a:srgbClr val="FFFFFF"/>
                </a:solidFill>
              </a:rPr>
              <a:t>81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7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9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General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guidelines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0219" y="241503"/>
            <a:ext cx="256159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PRACTICES</a:t>
            </a:r>
            <a:r>
              <a:rPr sz="1400" spc="26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0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219" y="1394840"/>
            <a:ext cx="8023225" cy="31965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</a:tabLst>
            </a:pPr>
            <a:r>
              <a:rPr sz="1200" dirty="0">
                <a:latin typeface="Georgia"/>
                <a:cs typeface="Georgia"/>
              </a:rPr>
              <a:t>Scope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out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testing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on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whiteboard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organize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into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workflows</a:t>
            </a:r>
            <a:r>
              <a:rPr sz="1200" spc="-6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functions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that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are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used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your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tests</a:t>
            </a:r>
            <a:endParaRPr sz="1200">
              <a:latin typeface="Georgia"/>
              <a:cs typeface="Georgia"/>
            </a:endParaRPr>
          </a:p>
          <a:p>
            <a:pPr marL="354965" marR="17462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</a:tabLst>
            </a:pPr>
            <a:r>
              <a:rPr sz="1200" dirty="0">
                <a:latin typeface="Georgia"/>
                <a:cs typeface="Georgia"/>
              </a:rPr>
              <a:t>Create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case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create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folders</a:t>
            </a:r>
            <a:r>
              <a:rPr sz="1200" spc="-5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for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various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functions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your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tests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will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perform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them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using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sample </a:t>
            </a:r>
            <a:r>
              <a:rPr sz="1200" spc="-20" dirty="0">
                <a:latin typeface="Georgia"/>
                <a:cs typeface="Georgia"/>
              </a:rPr>
              <a:t>data</a:t>
            </a:r>
            <a:endParaRPr sz="1200">
              <a:latin typeface="Georgia"/>
              <a:cs typeface="Georgia"/>
            </a:endParaRPr>
          </a:p>
          <a:p>
            <a:pPr marL="354965" marR="1066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</a:tabLst>
            </a:pPr>
            <a:r>
              <a:rPr sz="1200" dirty="0">
                <a:latin typeface="Georgia"/>
                <a:cs typeface="Georgia"/>
              </a:rPr>
              <a:t>Remove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data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from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Blocks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replace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them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with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Business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Parameters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by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dropping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Module</a:t>
            </a:r>
            <a:r>
              <a:rPr sz="1200" spc="-5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Attributes </a:t>
            </a:r>
            <a:r>
              <a:rPr sz="1200" dirty="0">
                <a:latin typeface="Georgia"/>
                <a:cs typeface="Georgia"/>
              </a:rPr>
              <a:t>on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Business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Parameter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group</a:t>
            </a:r>
            <a:endParaRPr sz="1200">
              <a:latin typeface="Georgia"/>
              <a:cs typeface="Georgia"/>
            </a:endParaRPr>
          </a:p>
          <a:p>
            <a:pPr marL="354965" marR="54673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</a:tabLst>
            </a:pPr>
            <a:r>
              <a:rPr sz="1200" dirty="0">
                <a:latin typeface="Georgia"/>
                <a:cs typeface="Georgia"/>
              </a:rPr>
              <a:t>Create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Case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Templates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based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on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your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workflows</a:t>
            </a:r>
            <a:r>
              <a:rPr sz="1200" spc="-5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using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Library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Blocks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you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created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represent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spc="-25" dirty="0">
                <a:latin typeface="Georgia"/>
                <a:cs typeface="Georgia"/>
              </a:rPr>
              <a:t>the </a:t>
            </a:r>
            <a:r>
              <a:rPr sz="1200" dirty="0">
                <a:latin typeface="Georgia"/>
                <a:cs typeface="Georgia"/>
              </a:rPr>
              <a:t>functions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of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system</a:t>
            </a:r>
            <a:endParaRPr sz="12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</a:tabLst>
            </a:pPr>
            <a:r>
              <a:rPr sz="1200" dirty="0">
                <a:latin typeface="Georgia"/>
                <a:cs typeface="Georgia"/>
              </a:rPr>
              <a:t>Create</a:t>
            </a:r>
            <a:r>
              <a:rPr sz="1200" spc="-5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Sheets</a:t>
            </a:r>
            <a:r>
              <a:rPr sz="1200" spc="-5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with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one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instance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of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Straight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Through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(“Happy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Path”)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data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using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Business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Parameters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spc="-20" dirty="0">
                <a:latin typeface="Georgia"/>
                <a:cs typeface="Georgia"/>
              </a:rPr>
              <a:t>from</a:t>
            </a:r>
            <a:endParaRPr sz="1200">
              <a:latin typeface="Georgia"/>
              <a:cs typeface="Georgia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Georgia"/>
                <a:cs typeface="Georgia"/>
              </a:rPr>
              <a:t>the</a:t>
            </a:r>
            <a:r>
              <a:rPr sz="1200" spc="-10" dirty="0">
                <a:latin typeface="Georgia"/>
                <a:cs typeface="Georgia"/>
              </a:rPr>
              <a:t> Templates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create the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Attributes</a:t>
            </a:r>
            <a:r>
              <a:rPr sz="1200" spc="-5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for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each</a:t>
            </a:r>
            <a:r>
              <a:rPr sz="1200" spc="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10" dirty="0">
                <a:latin typeface="Georgia"/>
                <a:cs typeface="Georgia"/>
              </a:rPr>
              <a:t> sheet</a:t>
            </a:r>
            <a:endParaRPr sz="1200">
              <a:latin typeface="Georgia"/>
              <a:cs typeface="Georgia"/>
            </a:endParaRPr>
          </a:p>
          <a:p>
            <a:pPr marL="354965" marR="225425" indent="-342900">
              <a:lnSpc>
                <a:spcPct val="100000"/>
              </a:lnSpc>
              <a:spcBef>
                <a:spcPts val="600"/>
              </a:spcBef>
              <a:buAutoNum type="arabicPeriod" startAt="6"/>
              <a:tabLst>
                <a:tab pos="354965" algn="l"/>
              </a:tabLst>
            </a:pPr>
            <a:r>
              <a:rPr sz="1200" dirty="0">
                <a:latin typeface="Georgia"/>
                <a:cs typeface="Georgia"/>
              </a:rPr>
              <a:t>Drop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sheets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on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their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respective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Templates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Attributes</a:t>
            </a:r>
            <a:r>
              <a:rPr sz="1200" spc="-5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from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Sheets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will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automatically </a:t>
            </a:r>
            <a:r>
              <a:rPr sz="1200" dirty="0">
                <a:latin typeface="Georgia"/>
                <a:cs typeface="Georgia"/>
              </a:rPr>
              <a:t>referenced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by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Business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Parameters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Templates</a:t>
            </a:r>
            <a:endParaRPr sz="12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AutoNum type="arabicPeriod" startAt="6"/>
              <a:tabLst>
                <a:tab pos="354965" algn="l"/>
              </a:tabLst>
            </a:pPr>
            <a:r>
              <a:rPr sz="1200" spc="-10" dirty="0">
                <a:latin typeface="Georgia"/>
                <a:cs typeface="Georgia"/>
              </a:rPr>
              <a:t>Instantiate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Templates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create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first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Case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Instance for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each </a:t>
            </a:r>
            <a:r>
              <a:rPr sz="1200" spc="-10" dirty="0">
                <a:latin typeface="Georgia"/>
                <a:cs typeface="Georgia"/>
              </a:rPr>
              <a:t>Template</a:t>
            </a:r>
            <a:endParaRPr sz="12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AutoNum type="arabicPeriod" startAt="6"/>
              <a:tabLst>
                <a:tab pos="354965" algn="l"/>
              </a:tabLst>
            </a:pPr>
            <a:r>
              <a:rPr sz="1200" dirty="0">
                <a:latin typeface="Georgia"/>
                <a:cs typeface="Georgia"/>
              </a:rPr>
              <a:t>Add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additional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Instances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Sheets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using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data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provided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by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business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SMEs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then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re-instantiate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spc="-25" dirty="0">
                <a:latin typeface="Georgia"/>
                <a:cs typeface="Georgia"/>
              </a:rPr>
              <a:t>the</a:t>
            </a:r>
            <a:endParaRPr sz="1200">
              <a:latin typeface="Georgia"/>
              <a:cs typeface="Georgia"/>
            </a:endParaRPr>
          </a:p>
          <a:p>
            <a:pPr marL="354965">
              <a:lnSpc>
                <a:spcPct val="100000"/>
              </a:lnSpc>
            </a:pPr>
            <a:r>
              <a:rPr sz="1200" dirty="0">
                <a:latin typeface="Georgia"/>
                <a:cs typeface="Georgia"/>
              </a:rPr>
              <a:t>Instance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folders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new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Test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Case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Instances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will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automatically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generated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524" y="1069594"/>
            <a:ext cx="3222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9CDE"/>
                </a:solidFill>
                <a:latin typeface="Calibri"/>
                <a:cs typeface="Calibri"/>
              </a:rPr>
              <a:t>TEST</a:t>
            </a:r>
            <a:r>
              <a:rPr sz="1800" b="1" spc="-5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9CDE"/>
                </a:solidFill>
                <a:latin typeface="Calibri"/>
                <a:cs typeface="Calibri"/>
              </a:rPr>
              <a:t>CASE</a:t>
            </a:r>
            <a:r>
              <a:rPr sz="1800" b="1" spc="-3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9CDE"/>
                </a:solidFill>
                <a:latin typeface="Calibri"/>
                <a:cs typeface="Calibri"/>
              </a:rPr>
              <a:t>CREATION</a:t>
            </a:r>
            <a:r>
              <a:rPr sz="1800" b="1" spc="-2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9CDE"/>
                </a:solidFill>
                <a:latin typeface="Calibri"/>
                <a:cs typeface="Calibri"/>
              </a:rPr>
              <a:t>WORKFLOW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5650" y="4809540"/>
            <a:ext cx="40925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77615" algn="l"/>
              </a:tabLst>
            </a:pPr>
            <a:r>
              <a:rPr sz="1000" spc="44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24-</a:t>
            </a:r>
            <a:r>
              <a:rPr sz="1000" spc="-10" dirty="0">
                <a:latin typeface="Calibri"/>
                <a:cs typeface="Calibri"/>
              </a:rPr>
              <a:t>Jun-</a:t>
            </a:r>
            <a:r>
              <a:rPr sz="1000" spc="-25" dirty="0">
                <a:latin typeface="Calibri"/>
                <a:cs typeface="Calibri"/>
              </a:rPr>
              <a:t>24</a:t>
            </a:r>
            <a:r>
              <a:rPr sz="1000" dirty="0">
                <a:latin typeface="Calibri"/>
                <a:cs typeface="Calibri"/>
              </a:rPr>
              <a:t>	|</a:t>
            </a:r>
            <a:r>
              <a:rPr sz="1000" spc="225" dirty="0">
                <a:latin typeface="Calibri"/>
                <a:cs typeface="Calibri"/>
              </a:rPr>
              <a:t>  </a:t>
            </a:r>
            <a:r>
              <a:rPr sz="1000" spc="-25" dirty="0">
                <a:latin typeface="Calibri"/>
                <a:cs typeface="Calibri"/>
              </a:rPr>
              <a:t>82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0219" y="506983"/>
            <a:ext cx="56019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High</a:t>
            </a:r>
            <a:r>
              <a:rPr sz="2600" spc="-7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Level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Process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37786" y="1032763"/>
            <a:ext cx="5232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Design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Scope</a:t>
            </a:r>
            <a:r>
              <a:rPr spc="-35" dirty="0"/>
              <a:t> </a:t>
            </a:r>
            <a:r>
              <a:rPr dirty="0"/>
              <a:t>out</a:t>
            </a:r>
            <a:r>
              <a:rPr spc="-15" dirty="0"/>
              <a:t> </a:t>
            </a:r>
            <a:r>
              <a:rPr spc="-10" dirty="0"/>
              <a:t>testing</a:t>
            </a:r>
            <a:r>
              <a:rPr spc="5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spc="-60" dirty="0"/>
              <a:t>a </a:t>
            </a:r>
            <a:r>
              <a:rPr spc="-10" dirty="0"/>
              <a:t>whiteboard/workflow</a:t>
            </a:r>
            <a:r>
              <a:rPr spc="-30" dirty="0"/>
              <a:t> </a:t>
            </a:r>
            <a:r>
              <a:rPr dirty="0"/>
              <a:t>tool</a:t>
            </a:r>
            <a:r>
              <a:rPr spc="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organize </a:t>
            </a:r>
            <a:r>
              <a:rPr dirty="0"/>
              <a:t>into</a:t>
            </a:r>
            <a:r>
              <a:rPr spc="-55" dirty="0"/>
              <a:t> </a:t>
            </a:r>
            <a:r>
              <a:rPr dirty="0"/>
              <a:t>workflows</a:t>
            </a:r>
            <a:r>
              <a:rPr spc="-6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functions</a:t>
            </a:r>
            <a:r>
              <a:rPr spc="-45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spc="-25" dirty="0"/>
              <a:t>are </a:t>
            </a:r>
            <a:r>
              <a:rPr dirty="0"/>
              <a:t>used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your</a:t>
            </a:r>
            <a:r>
              <a:rPr spc="-45" dirty="0"/>
              <a:t> </a:t>
            </a:r>
            <a:r>
              <a:rPr spc="-20" dirty="0"/>
              <a:t>tests</a:t>
            </a:r>
          </a:p>
          <a:p>
            <a:pPr marL="12700" marR="179705">
              <a:lnSpc>
                <a:spcPct val="100000"/>
              </a:lnSpc>
              <a:spcBef>
                <a:spcPts val="1680"/>
              </a:spcBef>
            </a:pPr>
            <a:r>
              <a:rPr dirty="0"/>
              <a:t>Let's</a:t>
            </a:r>
            <a:r>
              <a:rPr spc="-35" dirty="0"/>
              <a:t> </a:t>
            </a:r>
            <a:r>
              <a:rPr spc="-10" dirty="0"/>
              <a:t>take</a:t>
            </a:r>
            <a:r>
              <a:rPr spc="-40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spc="-10" dirty="0"/>
              <a:t>example</a:t>
            </a:r>
            <a:r>
              <a:rPr spc="-35" dirty="0"/>
              <a:t> </a:t>
            </a:r>
            <a:r>
              <a:rPr dirty="0"/>
              <a:t>test</a:t>
            </a:r>
            <a:r>
              <a:rPr spc="-40" dirty="0"/>
              <a:t> </a:t>
            </a:r>
            <a:r>
              <a:rPr dirty="0"/>
              <a:t>case</a:t>
            </a:r>
            <a:r>
              <a:rPr spc="-35" dirty="0"/>
              <a:t> </a:t>
            </a:r>
            <a:r>
              <a:rPr spc="-20" dirty="0"/>
              <a:t>which </a:t>
            </a:r>
            <a:r>
              <a:rPr dirty="0"/>
              <a:t>seeks</a:t>
            </a:r>
            <a:r>
              <a:rPr spc="-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b="1" dirty="0">
                <a:latin typeface="Calibri"/>
                <a:cs typeface="Calibri"/>
              </a:rPr>
              <a:t>open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application,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add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a </a:t>
            </a:r>
            <a:r>
              <a:rPr b="1" dirty="0">
                <a:latin typeface="Calibri"/>
                <a:cs typeface="Calibri"/>
              </a:rPr>
              <a:t>new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address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then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delete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the </a:t>
            </a:r>
            <a:r>
              <a:rPr b="1" spc="-10" dirty="0">
                <a:latin typeface="Calibri"/>
                <a:cs typeface="Calibri"/>
              </a:rPr>
              <a:t>address</a:t>
            </a:r>
          </a:p>
          <a:p>
            <a:pPr marL="12700" marR="62865">
              <a:lnSpc>
                <a:spcPct val="100000"/>
              </a:lnSpc>
              <a:spcBef>
                <a:spcPts val="1685"/>
              </a:spcBef>
            </a:pPr>
            <a:r>
              <a:rPr dirty="0"/>
              <a:t>First,</a:t>
            </a:r>
            <a:r>
              <a:rPr spc="-55" dirty="0"/>
              <a:t> </a:t>
            </a:r>
            <a:r>
              <a:rPr dirty="0"/>
              <a:t>we</a:t>
            </a:r>
            <a:r>
              <a:rPr spc="-35" dirty="0"/>
              <a:t> </a:t>
            </a:r>
            <a:r>
              <a:rPr dirty="0"/>
              <a:t>need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design</a:t>
            </a:r>
            <a:r>
              <a:rPr spc="-2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flow</a:t>
            </a:r>
            <a:r>
              <a:rPr spc="-50" dirty="0"/>
              <a:t> </a:t>
            </a:r>
            <a:r>
              <a:rPr dirty="0"/>
              <a:t>so</a:t>
            </a:r>
            <a:r>
              <a:rPr spc="-40" dirty="0"/>
              <a:t> </a:t>
            </a:r>
            <a:r>
              <a:rPr spc="-25" dirty="0"/>
              <a:t>we </a:t>
            </a:r>
            <a:r>
              <a:rPr dirty="0"/>
              <a:t>can</a:t>
            </a:r>
            <a:r>
              <a:rPr spc="-30" dirty="0"/>
              <a:t> </a:t>
            </a:r>
            <a:r>
              <a:rPr dirty="0"/>
              <a:t>define</a:t>
            </a:r>
            <a:r>
              <a:rPr spc="-30" dirty="0"/>
              <a:t> </a:t>
            </a:r>
            <a:r>
              <a:rPr dirty="0"/>
              <a:t>our</a:t>
            </a:r>
            <a:r>
              <a:rPr spc="-4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0219" y="506983"/>
            <a:ext cx="54413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8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1.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Design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15128" y="1520952"/>
            <a:ext cx="3014980" cy="327660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38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Browser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15128" y="1973579"/>
            <a:ext cx="3014980" cy="327660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38100" rIns="0" bIns="0" rtlCol="0">
            <a:spAutoFit/>
          </a:bodyPr>
          <a:lstStyle/>
          <a:p>
            <a:pPr marL="566420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Registered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User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5128" y="2441448"/>
            <a:ext cx="3014980" cy="327660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37465" rIns="0" bIns="0" rtlCol="0">
            <a:spAutoFit/>
          </a:bodyPr>
          <a:lstStyle/>
          <a:p>
            <a:pPr marL="584835">
              <a:lnSpc>
                <a:spcPct val="100000"/>
              </a:lnSpc>
              <a:spcBef>
                <a:spcPts val="295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Navigate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My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15128" y="2919983"/>
            <a:ext cx="3014980" cy="329565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38735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305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Click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5128" y="3390900"/>
            <a:ext cx="3014980" cy="327660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38100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Enter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Save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15128" y="3816096"/>
            <a:ext cx="3014980" cy="329565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39369" rIns="0" bIns="0" rtlCol="0">
            <a:spAutoFit/>
          </a:bodyPr>
          <a:lstStyle/>
          <a:p>
            <a:pPr marL="311785">
              <a:lnSpc>
                <a:spcPct val="100000"/>
              </a:lnSpc>
              <a:spcBef>
                <a:spcPts val="309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Verify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15128" y="4236720"/>
            <a:ext cx="3014980" cy="329565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39370" rIns="0" bIns="0" rtlCol="0">
            <a:spAutoFit/>
          </a:bodyPr>
          <a:lstStyle/>
          <a:p>
            <a:pPr marL="505459">
              <a:lnSpc>
                <a:spcPct val="10000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Logout</a:t>
            </a:r>
            <a:r>
              <a:rPr sz="1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Close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Browser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84264" y="1842516"/>
            <a:ext cx="78105" cy="2395855"/>
            <a:chOff x="6684264" y="1842516"/>
            <a:chExt cx="78105" cy="239585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5788" y="1842516"/>
              <a:ext cx="76200" cy="11303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4772" y="2301240"/>
              <a:ext cx="76200" cy="1389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4772" y="2769108"/>
              <a:ext cx="76200" cy="1289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4264" y="3255263"/>
              <a:ext cx="76200" cy="1353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84264" y="3718560"/>
              <a:ext cx="76200" cy="9804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84264" y="4145280"/>
              <a:ext cx="76193" cy="92608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83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9015" y="1032763"/>
            <a:ext cx="4072254" cy="3629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Process</a:t>
            </a:r>
            <a:r>
              <a:rPr sz="1400" b="1" spc="-6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Folders</a:t>
            </a:r>
            <a:endParaRPr sz="1400">
              <a:latin typeface="Calibri"/>
              <a:cs typeface="Calibri"/>
            </a:endParaRPr>
          </a:p>
          <a:p>
            <a:pPr marL="12700" marR="1291590">
              <a:lnSpc>
                <a:spcPct val="100000"/>
              </a:lnSpc>
              <a:spcBef>
                <a:spcPts val="1605"/>
              </a:spcBef>
            </a:pPr>
            <a:r>
              <a:rPr sz="1100" dirty="0">
                <a:latin typeface="Georgia"/>
                <a:cs typeface="Georgia"/>
              </a:rPr>
              <a:t>Create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case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create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folders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 </a:t>
            </a:r>
            <a:r>
              <a:rPr sz="1100" dirty="0">
                <a:latin typeface="Georgia"/>
                <a:cs typeface="Georgia"/>
              </a:rPr>
              <a:t>various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functions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your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will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perform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and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using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sample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data.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Test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should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organized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highest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level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spc="-25" dirty="0">
                <a:latin typeface="Georgia"/>
                <a:cs typeface="Georgia"/>
              </a:rPr>
              <a:t>by: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Georgia"/>
                <a:cs typeface="Georgia"/>
              </a:rPr>
              <a:t>Initialize,</a:t>
            </a:r>
            <a:r>
              <a:rPr sz="1100" b="1" spc="-5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Process</a:t>
            </a:r>
            <a:r>
              <a:rPr sz="1100" b="1" spc="-3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and</a:t>
            </a:r>
            <a:r>
              <a:rPr sz="1100" b="1" spc="-3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Cleanup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Georgia"/>
              <a:cs typeface="Georgia"/>
            </a:endParaRPr>
          </a:p>
          <a:p>
            <a:pPr marL="12700" marR="118046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Georgia"/>
                <a:cs typeface="Georgia"/>
              </a:rPr>
              <a:t>Reusable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blocks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may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used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control</a:t>
            </a:r>
            <a:r>
              <a:rPr sz="1100" spc="-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flow </a:t>
            </a:r>
            <a:r>
              <a:rPr sz="1100" dirty="0">
                <a:latin typeface="Georgia"/>
                <a:cs typeface="Georgia"/>
              </a:rPr>
              <a:t>through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application,</a:t>
            </a:r>
            <a:r>
              <a:rPr sz="1100" dirty="0">
                <a:latin typeface="Georgia"/>
                <a:cs typeface="Georgia"/>
              </a:rPr>
              <a:t> but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verification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steps </a:t>
            </a:r>
            <a:r>
              <a:rPr sz="1100" dirty="0">
                <a:latin typeface="Georgia"/>
                <a:cs typeface="Georgia"/>
              </a:rPr>
              <a:t>may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RTBs.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because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RTBs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cannot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linked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requirements.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Georgia"/>
              <a:cs typeface="Georgia"/>
            </a:endParaRPr>
          </a:p>
          <a:p>
            <a:pPr marL="12700" marR="1208405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Ensure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screenshots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added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validation </a:t>
            </a:r>
            <a:r>
              <a:rPr sz="1100" dirty="0">
                <a:latin typeface="Georgia"/>
                <a:cs typeface="Georgia"/>
              </a:rPr>
              <a:t>steps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described in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best</a:t>
            </a:r>
            <a:r>
              <a:rPr sz="1100" spc="-10" dirty="0">
                <a:latin typeface="Georgia"/>
                <a:cs typeface="Georgia"/>
              </a:rPr>
              <a:t> practices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section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document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Georgia"/>
              <a:cs typeface="Georgia"/>
            </a:endParaRPr>
          </a:p>
          <a:p>
            <a:pPr marL="12700" marR="115824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Verify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case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works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hard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coded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data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running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scratchbook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before</a:t>
            </a:r>
            <a:r>
              <a:rPr sz="1100" spc="-10" dirty="0">
                <a:latin typeface="Georgia"/>
                <a:cs typeface="Georgia"/>
              </a:rPr>
              <a:t> proceeding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7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2.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Folders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24528" y="1520952"/>
            <a:ext cx="4699000" cy="2958465"/>
            <a:chOff x="3724528" y="1520952"/>
            <a:chExt cx="4699000" cy="29584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4299" y="1520952"/>
              <a:ext cx="422186" cy="295808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79925" y="1556766"/>
              <a:ext cx="329565" cy="2851785"/>
            </a:xfrm>
            <a:custGeom>
              <a:avLst/>
              <a:gdLst/>
              <a:ahLst/>
              <a:cxnLst/>
              <a:rect l="l" t="t" r="r" b="b"/>
              <a:pathLst>
                <a:path w="329564" h="2851785">
                  <a:moveTo>
                    <a:pt x="329184" y="2851404"/>
                  </a:moveTo>
                  <a:lnTo>
                    <a:pt x="265104" y="2851404"/>
                  </a:lnTo>
                  <a:lnTo>
                    <a:pt x="212788" y="2851404"/>
                  </a:lnTo>
                  <a:lnTo>
                    <a:pt x="177522" y="2851404"/>
                  </a:lnTo>
                  <a:lnTo>
                    <a:pt x="164591" y="2851404"/>
                  </a:lnTo>
                  <a:lnTo>
                    <a:pt x="164591" y="1425702"/>
                  </a:lnTo>
                  <a:lnTo>
                    <a:pt x="151661" y="1425702"/>
                  </a:lnTo>
                  <a:lnTo>
                    <a:pt x="116395" y="1425702"/>
                  </a:lnTo>
                  <a:lnTo>
                    <a:pt x="64079" y="1425702"/>
                  </a:lnTo>
                  <a:lnTo>
                    <a:pt x="0" y="1425702"/>
                  </a:lnTo>
                  <a:lnTo>
                    <a:pt x="64079" y="1425702"/>
                  </a:lnTo>
                  <a:lnTo>
                    <a:pt x="116395" y="1425702"/>
                  </a:lnTo>
                  <a:lnTo>
                    <a:pt x="151661" y="1425702"/>
                  </a:lnTo>
                  <a:lnTo>
                    <a:pt x="164591" y="1425702"/>
                  </a:lnTo>
                  <a:lnTo>
                    <a:pt x="164591" y="0"/>
                  </a:lnTo>
                  <a:lnTo>
                    <a:pt x="177522" y="0"/>
                  </a:lnTo>
                  <a:lnTo>
                    <a:pt x="212788" y="0"/>
                  </a:lnTo>
                  <a:lnTo>
                    <a:pt x="265104" y="0"/>
                  </a:lnTo>
                  <a:lnTo>
                    <a:pt x="329184" y="0"/>
                  </a:lnTo>
                </a:path>
              </a:pathLst>
            </a:custGeom>
            <a:ln w="25399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1395" y="1734312"/>
              <a:ext cx="4111752" cy="25161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24528" y="3671316"/>
              <a:ext cx="840740" cy="247650"/>
            </a:xfrm>
            <a:custGeom>
              <a:avLst/>
              <a:gdLst/>
              <a:ahLst/>
              <a:cxnLst/>
              <a:rect l="l" t="t" r="r" b="b"/>
              <a:pathLst>
                <a:path w="840739" h="247650">
                  <a:moveTo>
                    <a:pt x="765322" y="216827"/>
                  </a:moveTo>
                  <a:lnTo>
                    <a:pt x="757174" y="247510"/>
                  </a:lnTo>
                  <a:lnTo>
                    <a:pt x="840613" y="230378"/>
                  </a:lnTo>
                  <a:lnTo>
                    <a:pt x="829013" y="220116"/>
                  </a:lnTo>
                  <a:lnTo>
                    <a:pt x="777621" y="220116"/>
                  </a:lnTo>
                  <a:lnTo>
                    <a:pt x="765322" y="216827"/>
                  </a:lnTo>
                  <a:close/>
                </a:path>
                <a:path w="840739" h="247650">
                  <a:moveTo>
                    <a:pt x="768582" y="204549"/>
                  </a:moveTo>
                  <a:lnTo>
                    <a:pt x="765322" y="216827"/>
                  </a:lnTo>
                  <a:lnTo>
                    <a:pt x="777621" y="220116"/>
                  </a:lnTo>
                  <a:lnTo>
                    <a:pt x="780923" y="207848"/>
                  </a:lnTo>
                  <a:lnTo>
                    <a:pt x="768582" y="204549"/>
                  </a:lnTo>
                  <a:close/>
                </a:path>
                <a:path w="840739" h="247650">
                  <a:moveTo>
                    <a:pt x="776732" y="173863"/>
                  </a:moveTo>
                  <a:lnTo>
                    <a:pt x="768582" y="204549"/>
                  </a:lnTo>
                  <a:lnTo>
                    <a:pt x="780923" y="207848"/>
                  </a:lnTo>
                  <a:lnTo>
                    <a:pt x="777621" y="220116"/>
                  </a:lnTo>
                  <a:lnTo>
                    <a:pt x="829013" y="220116"/>
                  </a:lnTo>
                  <a:lnTo>
                    <a:pt x="776732" y="173863"/>
                  </a:lnTo>
                  <a:close/>
                </a:path>
                <a:path w="840739" h="247650">
                  <a:moveTo>
                    <a:pt x="3301" y="0"/>
                  </a:moveTo>
                  <a:lnTo>
                    <a:pt x="0" y="12192"/>
                  </a:lnTo>
                  <a:lnTo>
                    <a:pt x="765322" y="216827"/>
                  </a:lnTo>
                  <a:lnTo>
                    <a:pt x="768582" y="204549"/>
                  </a:lnTo>
                  <a:lnTo>
                    <a:pt x="3301" y="0"/>
                  </a:lnTo>
                  <a:close/>
                </a:path>
              </a:pathLst>
            </a:custGeom>
            <a:solidFill>
              <a:srgbClr val="00B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84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4271645" cy="1648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748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Business</a:t>
            </a:r>
            <a:r>
              <a:rPr sz="1400" b="1" spc="-5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Parameters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400">
              <a:latin typeface="Calibri"/>
              <a:cs typeface="Calibri"/>
            </a:endParaRPr>
          </a:p>
          <a:p>
            <a:pPr marL="12700" marR="140652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For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reusable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blocks, remove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Blocks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replace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Business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Parameters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dropping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Module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Attributes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on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Business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Parameter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group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7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3.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Business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Parameters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75759" y="1764792"/>
            <a:ext cx="4147185" cy="1670685"/>
            <a:chOff x="4175759" y="1764792"/>
            <a:chExt cx="4147185" cy="16706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6947" y="1958340"/>
              <a:ext cx="3785615" cy="12466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75759" y="1764792"/>
              <a:ext cx="274396" cy="16703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31385" y="1800606"/>
              <a:ext cx="181610" cy="1564005"/>
            </a:xfrm>
            <a:custGeom>
              <a:avLst/>
              <a:gdLst/>
              <a:ahLst/>
              <a:cxnLst/>
              <a:rect l="l" t="t" r="r" b="b"/>
              <a:pathLst>
                <a:path w="181610" h="1564004">
                  <a:moveTo>
                    <a:pt x="181355" y="1563624"/>
                  </a:moveTo>
                  <a:lnTo>
                    <a:pt x="146077" y="1563624"/>
                  </a:lnTo>
                  <a:lnTo>
                    <a:pt x="117252" y="1563624"/>
                  </a:lnTo>
                  <a:lnTo>
                    <a:pt x="97809" y="1563624"/>
                  </a:lnTo>
                  <a:lnTo>
                    <a:pt x="90677" y="1563624"/>
                  </a:lnTo>
                  <a:lnTo>
                    <a:pt x="90677" y="781812"/>
                  </a:lnTo>
                  <a:lnTo>
                    <a:pt x="83546" y="781812"/>
                  </a:lnTo>
                  <a:lnTo>
                    <a:pt x="64103" y="781812"/>
                  </a:lnTo>
                  <a:lnTo>
                    <a:pt x="35278" y="781812"/>
                  </a:lnTo>
                  <a:lnTo>
                    <a:pt x="0" y="781812"/>
                  </a:lnTo>
                  <a:lnTo>
                    <a:pt x="35278" y="781812"/>
                  </a:lnTo>
                  <a:lnTo>
                    <a:pt x="64103" y="781812"/>
                  </a:lnTo>
                  <a:lnTo>
                    <a:pt x="83546" y="781812"/>
                  </a:lnTo>
                  <a:lnTo>
                    <a:pt x="90677" y="781812"/>
                  </a:lnTo>
                  <a:lnTo>
                    <a:pt x="90677" y="0"/>
                  </a:lnTo>
                  <a:lnTo>
                    <a:pt x="97809" y="0"/>
                  </a:lnTo>
                  <a:lnTo>
                    <a:pt x="117252" y="0"/>
                  </a:lnTo>
                  <a:lnTo>
                    <a:pt x="146077" y="0"/>
                  </a:lnTo>
                  <a:lnTo>
                    <a:pt x="181355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85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4246245" cy="1221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479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Test</a:t>
            </a:r>
            <a:r>
              <a:rPr sz="1400" b="1" spc="-3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Case</a:t>
            </a:r>
            <a:r>
              <a:rPr sz="1400" b="1" spc="-3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Templates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400">
              <a:latin typeface="Calibri"/>
              <a:cs typeface="Calibri"/>
            </a:endParaRPr>
          </a:p>
          <a:p>
            <a:pPr marL="12700" marR="1493520" algn="just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Convert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case </a:t>
            </a:r>
            <a:r>
              <a:rPr sz="1400" dirty="0">
                <a:latin typeface="Calibri"/>
                <a:cs typeface="Calibri"/>
              </a:rPr>
              <a:t>template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driven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Test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Design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sheets.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7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4.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Templates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52544" y="1456956"/>
            <a:ext cx="3474720" cy="2962910"/>
            <a:chOff x="4352544" y="1456956"/>
            <a:chExt cx="3474720" cy="2962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3604" y="1618488"/>
              <a:ext cx="2613659" cy="26456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2544" y="1456956"/>
              <a:ext cx="422186" cy="29626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08170" y="1492758"/>
              <a:ext cx="329565" cy="2856230"/>
            </a:xfrm>
            <a:custGeom>
              <a:avLst/>
              <a:gdLst/>
              <a:ahLst/>
              <a:cxnLst/>
              <a:rect l="l" t="t" r="r" b="b"/>
              <a:pathLst>
                <a:path w="329564" h="2856229">
                  <a:moveTo>
                    <a:pt x="329183" y="2855976"/>
                  </a:moveTo>
                  <a:lnTo>
                    <a:pt x="265104" y="2855976"/>
                  </a:lnTo>
                  <a:lnTo>
                    <a:pt x="212788" y="2855976"/>
                  </a:lnTo>
                  <a:lnTo>
                    <a:pt x="177522" y="2855976"/>
                  </a:lnTo>
                  <a:lnTo>
                    <a:pt x="164591" y="2855976"/>
                  </a:lnTo>
                  <a:lnTo>
                    <a:pt x="164591" y="1427987"/>
                  </a:lnTo>
                  <a:lnTo>
                    <a:pt x="151661" y="1427987"/>
                  </a:lnTo>
                  <a:lnTo>
                    <a:pt x="116395" y="1427987"/>
                  </a:lnTo>
                  <a:lnTo>
                    <a:pt x="64079" y="1427987"/>
                  </a:lnTo>
                  <a:lnTo>
                    <a:pt x="0" y="1427987"/>
                  </a:lnTo>
                  <a:lnTo>
                    <a:pt x="64079" y="1427987"/>
                  </a:lnTo>
                  <a:lnTo>
                    <a:pt x="116395" y="1427987"/>
                  </a:lnTo>
                  <a:lnTo>
                    <a:pt x="151661" y="1427987"/>
                  </a:lnTo>
                  <a:lnTo>
                    <a:pt x="164591" y="1427987"/>
                  </a:lnTo>
                  <a:lnTo>
                    <a:pt x="164591" y="0"/>
                  </a:lnTo>
                  <a:lnTo>
                    <a:pt x="177522" y="0"/>
                  </a:lnTo>
                  <a:lnTo>
                    <a:pt x="212788" y="0"/>
                  </a:lnTo>
                  <a:lnTo>
                    <a:pt x="265104" y="0"/>
                  </a:lnTo>
                  <a:lnTo>
                    <a:pt x="329183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86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3937635" cy="1648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Happy</a:t>
            </a:r>
            <a:r>
              <a:rPr sz="1400" b="1" spc="-3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0075A6"/>
                </a:solidFill>
                <a:latin typeface="Calibri"/>
                <a:cs typeface="Calibri"/>
              </a:rPr>
              <a:t>Path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400">
              <a:latin typeface="Calibri"/>
              <a:cs typeface="Calibri"/>
            </a:endParaRPr>
          </a:p>
          <a:p>
            <a:pPr marL="12700" marR="105537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Create </a:t>
            </a:r>
            <a:r>
              <a:rPr sz="1400" spc="-40" dirty="0">
                <a:latin typeface="Calibri"/>
                <a:cs typeface="Calibri"/>
              </a:rPr>
              <a:t>Test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Sheets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instance</a:t>
            </a:r>
            <a:r>
              <a:rPr sz="1400" spc="-25" dirty="0">
                <a:latin typeface="Calibri"/>
                <a:cs typeface="Calibri"/>
              </a:rPr>
              <a:t> of </a:t>
            </a:r>
            <a:r>
              <a:rPr sz="1400" spc="-10" dirty="0">
                <a:latin typeface="Calibri"/>
                <a:cs typeface="Calibri"/>
              </a:rPr>
              <a:t>Straight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(“Happy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Path”)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data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Business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Parameters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20" dirty="0">
                <a:latin typeface="Calibri"/>
                <a:cs typeface="Calibri"/>
              </a:rPr>
              <a:t>Templates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Attributes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for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sheet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5.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Happy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Path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15740" y="1694700"/>
            <a:ext cx="4357370" cy="2350135"/>
            <a:chOff x="4015740" y="1694700"/>
            <a:chExt cx="4357370" cy="23501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0644" y="1973579"/>
              <a:ext cx="3982211" cy="18013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5740" y="1694700"/>
              <a:ext cx="352043" cy="23500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71493" y="1730501"/>
              <a:ext cx="259079" cy="2243455"/>
            </a:xfrm>
            <a:custGeom>
              <a:avLst/>
              <a:gdLst/>
              <a:ahLst/>
              <a:cxnLst/>
              <a:rect l="l" t="t" r="r" b="b"/>
              <a:pathLst>
                <a:path w="259079" h="2243454">
                  <a:moveTo>
                    <a:pt x="258953" y="2243328"/>
                  </a:moveTo>
                  <a:lnTo>
                    <a:pt x="208547" y="2243328"/>
                  </a:lnTo>
                  <a:lnTo>
                    <a:pt x="167370" y="2243328"/>
                  </a:lnTo>
                  <a:lnTo>
                    <a:pt x="139598" y="2243328"/>
                  </a:lnTo>
                  <a:lnTo>
                    <a:pt x="129412" y="2243328"/>
                  </a:lnTo>
                  <a:lnTo>
                    <a:pt x="129412" y="1121664"/>
                  </a:lnTo>
                  <a:lnTo>
                    <a:pt x="119247" y="1121664"/>
                  </a:lnTo>
                  <a:lnTo>
                    <a:pt x="91519" y="1121664"/>
                  </a:lnTo>
                  <a:lnTo>
                    <a:pt x="50385" y="1121664"/>
                  </a:lnTo>
                  <a:lnTo>
                    <a:pt x="0" y="1121664"/>
                  </a:lnTo>
                  <a:lnTo>
                    <a:pt x="50385" y="1121664"/>
                  </a:lnTo>
                  <a:lnTo>
                    <a:pt x="91519" y="1121664"/>
                  </a:lnTo>
                  <a:lnTo>
                    <a:pt x="119247" y="1121664"/>
                  </a:lnTo>
                  <a:lnTo>
                    <a:pt x="129412" y="1121664"/>
                  </a:lnTo>
                  <a:lnTo>
                    <a:pt x="129412" y="0"/>
                  </a:lnTo>
                  <a:lnTo>
                    <a:pt x="139598" y="0"/>
                  </a:lnTo>
                  <a:lnTo>
                    <a:pt x="167370" y="0"/>
                  </a:lnTo>
                  <a:lnTo>
                    <a:pt x="208547" y="0"/>
                  </a:lnTo>
                  <a:lnTo>
                    <a:pt x="258953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87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4288"/>
            <a:ext cx="6833234" cy="1006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19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9CDE"/>
                </a:solidFill>
                <a:latin typeface="Georgia"/>
                <a:cs typeface="Georgia"/>
              </a:rPr>
              <a:t>Link</a:t>
            </a:r>
            <a:r>
              <a:rPr sz="1400" spc="-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009CDE"/>
                </a:solidFill>
                <a:latin typeface="Georgia"/>
                <a:cs typeface="Georgia"/>
              </a:rPr>
              <a:t>Data</a:t>
            </a:r>
            <a:r>
              <a:rPr sz="1400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009CDE"/>
                </a:solidFill>
                <a:latin typeface="Georgia"/>
                <a:cs typeface="Georgia"/>
              </a:rPr>
              <a:t>Sheets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Drop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sheets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respective</a:t>
            </a:r>
            <a:r>
              <a:rPr sz="1400" spc="-20" dirty="0">
                <a:latin typeface="Calibri"/>
                <a:cs typeface="Calibri"/>
              </a:rPr>
              <a:t> Templates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Attributes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Test </a:t>
            </a:r>
            <a:r>
              <a:rPr sz="1400" dirty="0">
                <a:latin typeface="Calibri"/>
                <a:cs typeface="Calibri"/>
              </a:rPr>
              <a:t>Sheets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will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automatically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referenced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Business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Parameters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Templates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6.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Link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Data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Sheets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652" y="2336292"/>
            <a:ext cx="5925312" cy="20833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88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4288"/>
            <a:ext cx="5838825" cy="793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4287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9CDE"/>
                </a:solidFill>
                <a:latin typeface="Georgia"/>
                <a:cs typeface="Georgia"/>
              </a:rPr>
              <a:t>Link</a:t>
            </a:r>
            <a:r>
              <a:rPr sz="1400" spc="-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009CDE"/>
                </a:solidFill>
                <a:latin typeface="Georgia"/>
                <a:cs typeface="Georgia"/>
              </a:rPr>
              <a:t>Data</a:t>
            </a:r>
            <a:r>
              <a:rPr sz="1400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009CDE"/>
                </a:solidFill>
                <a:latin typeface="Georgia"/>
                <a:cs typeface="Georgia"/>
              </a:rPr>
              <a:t>Sheets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Instantiate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Templates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first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Instance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Template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9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7.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Instantiate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Templates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4647" y="2572511"/>
            <a:ext cx="6202680" cy="20619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89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4288"/>
            <a:ext cx="6938009" cy="1006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690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9CDE"/>
                </a:solidFill>
                <a:latin typeface="Georgia"/>
                <a:cs typeface="Georgia"/>
              </a:rPr>
              <a:t>Add</a:t>
            </a:r>
            <a:r>
              <a:rPr sz="1400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009CDE"/>
                </a:solidFill>
                <a:latin typeface="Georgia"/>
                <a:cs typeface="Georgia"/>
              </a:rPr>
              <a:t>Data</a:t>
            </a:r>
            <a:r>
              <a:rPr sz="14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009CDE"/>
                </a:solidFill>
                <a:latin typeface="Georgia"/>
                <a:cs typeface="Georgia"/>
              </a:rPr>
              <a:t>Variations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400">
              <a:latin typeface="Georgia"/>
              <a:cs typeface="Georgia"/>
            </a:endParaRPr>
          </a:p>
          <a:p>
            <a:pPr marL="12700" marR="5080" indent="-10668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Add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additional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Instances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Test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Sheets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provided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business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SMEs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re- </a:t>
            </a:r>
            <a:r>
              <a:rPr sz="1400" spc="-10" dirty="0">
                <a:latin typeface="Calibri"/>
                <a:cs typeface="Calibri"/>
              </a:rPr>
              <a:t>instantiate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Instance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folders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Test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Instances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automatically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generated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Case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Creation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Process:</a:t>
            </a:r>
            <a:r>
              <a:rPr sz="2600" spc="-7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8.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Add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Data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Variations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8532" y="2269235"/>
            <a:ext cx="6726935" cy="23180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90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67509"/>
            <a:ext cx="60026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Execution</a:t>
            </a:r>
            <a:r>
              <a:rPr sz="4400" spc="-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best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practices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91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2763"/>
            <a:ext cx="4399915" cy="2928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985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Execution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Best</a:t>
            </a:r>
            <a:r>
              <a:rPr sz="1400" b="1" spc="-2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Practices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400">
              <a:latin typeface="Calibri"/>
              <a:cs typeface="Calibri"/>
            </a:endParaRPr>
          </a:p>
          <a:p>
            <a:pPr marL="299085" marR="852169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Directory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Structure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be </a:t>
            </a:r>
            <a:r>
              <a:rPr sz="1400" spc="-10" dirty="0">
                <a:latin typeface="Calibri"/>
                <a:cs typeface="Calibri"/>
              </a:rPr>
              <a:t>created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Ops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Admin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Tosca </a:t>
            </a:r>
            <a:r>
              <a:rPr sz="1400" dirty="0">
                <a:latin typeface="Calibri"/>
                <a:cs typeface="Calibri"/>
              </a:rPr>
              <a:t>Project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created.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Directory </a:t>
            </a:r>
            <a:r>
              <a:rPr sz="1400" dirty="0">
                <a:latin typeface="Calibri"/>
                <a:cs typeface="Calibri"/>
              </a:rPr>
              <a:t>Structure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recreated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Lead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subsequent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Release.</a:t>
            </a:r>
            <a:endParaRPr sz="1400">
              <a:latin typeface="Calibri"/>
              <a:cs typeface="Calibri"/>
            </a:endParaRPr>
          </a:p>
          <a:p>
            <a:pPr marL="299085" marR="78994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Folders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Lists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organized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functionality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meaningful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name.</a:t>
            </a:r>
            <a:endParaRPr sz="1400">
              <a:latin typeface="Calibri"/>
              <a:cs typeface="Calibri"/>
            </a:endParaRPr>
          </a:p>
          <a:p>
            <a:pPr marL="299085" marR="84963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Only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Testcases/Instances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“COMPLETED” Work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Execution </a:t>
            </a:r>
            <a:r>
              <a:rPr sz="1400" dirty="0">
                <a:latin typeface="Calibri"/>
                <a:cs typeface="Calibri"/>
              </a:rPr>
              <a:t>Lists,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every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Test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Case/TestCase-</a:t>
            </a:r>
            <a:r>
              <a:rPr sz="1400" spc="-10" dirty="0">
                <a:latin typeface="Calibri"/>
                <a:cs typeface="Calibri"/>
              </a:rPr>
              <a:t>Instance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put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Execution</a:t>
            </a:r>
            <a:r>
              <a:rPr sz="1400" spc="-20" dirty="0">
                <a:latin typeface="Calibri"/>
                <a:cs typeface="Calibri"/>
              </a:rPr>
              <a:t> List.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8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6779" y="1516380"/>
            <a:ext cx="3733800" cy="3322320"/>
            <a:chOff x="4716779" y="1516380"/>
            <a:chExt cx="3733800" cy="3322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779" y="1516380"/>
              <a:ext cx="411530" cy="33223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72405" y="1552194"/>
              <a:ext cx="318770" cy="3215640"/>
            </a:xfrm>
            <a:custGeom>
              <a:avLst/>
              <a:gdLst/>
              <a:ahLst/>
              <a:cxnLst/>
              <a:rect l="l" t="t" r="r" b="b"/>
              <a:pathLst>
                <a:path w="318770" h="3215640">
                  <a:moveTo>
                    <a:pt x="318516" y="3215640"/>
                  </a:moveTo>
                  <a:lnTo>
                    <a:pt x="256502" y="3215640"/>
                  </a:lnTo>
                  <a:lnTo>
                    <a:pt x="205882" y="3215640"/>
                  </a:lnTo>
                  <a:lnTo>
                    <a:pt x="171765" y="3215640"/>
                  </a:lnTo>
                  <a:lnTo>
                    <a:pt x="159258" y="3215640"/>
                  </a:lnTo>
                  <a:lnTo>
                    <a:pt x="159258" y="1607819"/>
                  </a:lnTo>
                  <a:lnTo>
                    <a:pt x="146750" y="1607819"/>
                  </a:lnTo>
                  <a:lnTo>
                    <a:pt x="112633" y="1607819"/>
                  </a:lnTo>
                  <a:lnTo>
                    <a:pt x="62013" y="1607819"/>
                  </a:lnTo>
                  <a:lnTo>
                    <a:pt x="0" y="1607819"/>
                  </a:lnTo>
                  <a:lnTo>
                    <a:pt x="62013" y="1607819"/>
                  </a:lnTo>
                  <a:lnTo>
                    <a:pt x="112633" y="1607819"/>
                  </a:lnTo>
                  <a:lnTo>
                    <a:pt x="146750" y="1607819"/>
                  </a:lnTo>
                  <a:lnTo>
                    <a:pt x="159258" y="1607819"/>
                  </a:lnTo>
                  <a:lnTo>
                    <a:pt x="159258" y="0"/>
                  </a:lnTo>
                  <a:lnTo>
                    <a:pt x="171765" y="0"/>
                  </a:lnTo>
                  <a:lnTo>
                    <a:pt x="205882" y="0"/>
                  </a:lnTo>
                  <a:lnTo>
                    <a:pt x="256502" y="0"/>
                  </a:lnTo>
                  <a:lnTo>
                    <a:pt x="318516" y="0"/>
                  </a:lnTo>
                </a:path>
              </a:pathLst>
            </a:custGeom>
            <a:ln w="25400">
              <a:solidFill>
                <a:srgbClr val="009C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1891" y="1551432"/>
              <a:ext cx="3218688" cy="298094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92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167509"/>
            <a:ext cx="7812405" cy="123317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Tosca</a:t>
            </a:r>
            <a:r>
              <a:rPr sz="44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Execution</a:t>
            </a:r>
            <a:r>
              <a:rPr sz="44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dirty="0">
                <a:solidFill>
                  <a:srgbClr val="FFFFFF"/>
                </a:solidFill>
                <a:latin typeface="Georgia"/>
                <a:cs typeface="Georgia"/>
              </a:rPr>
              <a:t>List/ALM</a:t>
            </a:r>
            <a:r>
              <a:rPr sz="4400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400" spc="-20" dirty="0">
                <a:solidFill>
                  <a:srgbClr val="FFFFFF"/>
                </a:solidFill>
                <a:latin typeface="Georgia"/>
                <a:cs typeface="Georgia"/>
              </a:rPr>
              <a:t>Test </a:t>
            </a:r>
            <a:r>
              <a:rPr sz="4400" spc="-25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endParaRPr sz="44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93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02891"/>
            <a:ext cx="8143875" cy="6737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110" dirty="0"/>
              <a:t>TOSCA</a:t>
            </a:r>
            <a:r>
              <a:rPr spc="250" dirty="0"/>
              <a:t> </a:t>
            </a:r>
            <a:r>
              <a:rPr spc="105" dirty="0"/>
              <a:t>SETUP</a:t>
            </a: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High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Level</a:t>
            </a:r>
            <a:r>
              <a:rPr sz="22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Overview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of</a:t>
            </a:r>
            <a:r>
              <a:rPr sz="22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Initial</a:t>
            </a:r>
            <a:r>
              <a:rPr sz="22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2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Project</a:t>
            </a:r>
            <a:r>
              <a:rPr sz="22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Setup:</a:t>
            </a:r>
            <a:r>
              <a:rPr sz="22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Phase</a:t>
            </a:r>
            <a:r>
              <a:rPr sz="2200" spc="-8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9CDE"/>
                </a:solidFill>
                <a:latin typeface="Georgia"/>
                <a:cs typeface="Georgia"/>
              </a:rPr>
              <a:t>2</a:t>
            </a:r>
            <a:r>
              <a:rPr sz="22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9CDE"/>
                </a:solidFill>
                <a:latin typeface="Georgia"/>
                <a:cs typeface="Georgia"/>
              </a:rPr>
              <a:t>(WIP)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65650" y="4809540"/>
            <a:ext cx="40925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77615" algn="l"/>
              </a:tabLst>
            </a:pP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6/24/2024</a:t>
            </a:r>
            <a:r>
              <a:rPr sz="1000" dirty="0">
                <a:latin typeface="Calibri"/>
                <a:cs typeface="Calibri"/>
              </a:rPr>
              <a:t>	|</a:t>
            </a:r>
            <a:r>
              <a:rPr sz="1000" spc="225" dirty="0">
                <a:latin typeface="Calibri"/>
                <a:cs typeface="Calibri"/>
              </a:rPr>
              <a:t>  </a:t>
            </a:r>
            <a:r>
              <a:rPr sz="1000" spc="-25" dirty="0">
                <a:latin typeface="Calibri"/>
                <a:cs typeface="Calibri"/>
              </a:rPr>
              <a:t>94</a:t>
            </a:r>
            <a:endParaRPr sz="10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7776" y="2097023"/>
            <a:ext cx="5852159" cy="155752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98954" y="235165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6066" y="235165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4119" y="1470151"/>
            <a:ext cx="2840355" cy="582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SYNC</a:t>
            </a:r>
            <a:r>
              <a:rPr sz="1400" b="1" spc="-5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TEST</a:t>
            </a:r>
            <a:r>
              <a:rPr sz="1400" b="1" spc="-5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CASES</a:t>
            </a:r>
            <a:r>
              <a:rPr sz="1400" b="1" spc="-4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TO</a:t>
            </a:r>
            <a:r>
              <a:rPr sz="1400" b="1" spc="-5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ALM/VERA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100" dirty="0">
                <a:latin typeface="Georgia"/>
                <a:cs typeface="Georgia"/>
              </a:rPr>
              <a:t>Ensure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cases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synced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Vera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and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are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up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follow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Vera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approval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workflow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05427" y="1265046"/>
            <a:ext cx="3471545" cy="791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VALIDATE</a:t>
            </a:r>
            <a:r>
              <a:rPr sz="1400" b="1" spc="-4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TEST</a:t>
            </a:r>
            <a:r>
              <a:rPr sz="1400" b="1" spc="-3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CASES</a:t>
            </a: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ON</a:t>
            </a:r>
            <a:r>
              <a:rPr sz="1400" b="1" spc="-2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UNATTENDED</a:t>
            </a:r>
            <a:endParaRPr sz="1400">
              <a:latin typeface="Calibri"/>
              <a:cs typeface="Calibri"/>
            </a:endParaRPr>
          </a:p>
          <a:p>
            <a:pPr marL="3175" algn="ctr">
              <a:lnSpc>
                <a:spcPct val="100000"/>
              </a:lnSpc>
            </a:pP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EXECUTION</a:t>
            </a:r>
            <a:r>
              <a:rPr sz="1400" b="1" spc="-5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9CDE"/>
                </a:solidFill>
                <a:latin typeface="Calibri"/>
                <a:cs typeface="Calibri"/>
              </a:rPr>
              <a:t>VIA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Calibri"/>
                <a:cs typeface="Calibri"/>
              </a:rPr>
              <a:t>ALM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ts val="1280"/>
              </a:lnSpc>
              <a:spcBef>
                <a:spcPts val="135"/>
              </a:spcBef>
            </a:pPr>
            <a:r>
              <a:rPr sz="1100" dirty="0">
                <a:latin typeface="Georgia"/>
                <a:cs typeface="Georgia"/>
              </a:rPr>
              <a:t>Sync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Execution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Lists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ALM,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Review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execution</a:t>
            </a:r>
            <a:r>
              <a:rPr sz="1100" spc="-20" dirty="0">
                <a:latin typeface="Georgia"/>
                <a:cs typeface="Georgia"/>
              </a:rPr>
              <a:t> flow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execute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ALM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VERA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Tosca.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8567" y="3682695"/>
            <a:ext cx="2805430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30" dirty="0">
                <a:solidFill>
                  <a:srgbClr val="004F70"/>
                </a:solidFill>
                <a:latin typeface="Calibri"/>
                <a:cs typeface="Calibri"/>
              </a:rPr>
              <a:t>VALIDATE</a:t>
            </a:r>
            <a:r>
              <a:rPr sz="1400" b="1" spc="-4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4F70"/>
                </a:solidFill>
                <a:latin typeface="Calibri"/>
                <a:cs typeface="Calibri"/>
              </a:rPr>
              <a:t>AUDIT</a:t>
            </a:r>
            <a:r>
              <a:rPr sz="1400" b="1" spc="-25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4F70"/>
                </a:solidFill>
                <a:latin typeface="Calibri"/>
                <a:cs typeface="Calibri"/>
              </a:rPr>
              <a:t>REQUIREMENTS</a:t>
            </a:r>
            <a:endParaRPr sz="14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65"/>
              </a:spcBef>
            </a:pPr>
            <a:r>
              <a:rPr sz="1100" dirty="0">
                <a:latin typeface="Georgia"/>
                <a:cs typeface="Georgia"/>
              </a:rPr>
              <a:t>Validate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required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audit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requirements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such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as </a:t>
            </a:r>
            <a:r>
              <a:rPr sz="1100" dirty="0">
                <a:latin typeface="Georgia"/>
                <a:cs typeface="Georgia"/>
              </a:rPr>
              <a:t>screenshots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attached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tests</a:t>
            </a:r>
            <a:r>
              <a:rPr sz="1100" spc="-25" dirty="0">
                <a:latin typeface="Georgia"/>
                <a:cs typeface="Georgia"/>
              </a:rPr>
              <a:t> and </a:t>
            </a:r>
            <a:r>
              <a:rPr sz="1100" dirty="0">
                <a:latin typeface="Georgia"/>
                <a:cs typeface="Georgia"/>
              </a:rPr>
              <a:t>approve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tests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VERA.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39915" y="3664077"/>
            <a:ext cx="2096770" cy="58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384" algn="ctr">
              <a:lnSpc>
                <a:spcPct val="100000"/>
              </a:lnSpc>
              <a:spcBef>
                <a:spcPts val="100"/>
              </a:spcBef>
            </a:pPr>
            <a:r>
              <a:rPr sz="1400" b="1" spc="-30" dirty="0">
                <a:solidFill>
                  <a:srgbClr val="009CDE"/>
                </a:solidFill>
                <a:latin typeface="Calibri"/>
                <a:cs typeface="Calibri"/>
              </a:rPr>
              <a:t>VALIDATE </a:t>
            </a:r>
            <a:r>
              <a:rPr sz="1400" b="1" spc="-10" dirty="0">
                <a:solidFill>
                  <a:srgbClr val="009CDE"/>
                </a:solidFill>
                <a:latin typeface="Calibri"/>
                <a:cs typeface="Calibri"/>
              </a:rPr>
              <a:t>EXECUTION</a:t>
            </a:r>
            <a:endParaRPr sz="1400">
              <a:latin typeface="Calibri"/>
              <a:cs typeface="Calibri"/>
            </a:endParaRPr>
          </a:p>
          <a:p>
            <a:pPr marL="12700" marR="5080" indent="635" algn="ctr">
              <a:lnSpc>
                <a:spcPct val="100000"/>
              </a:lnSpc>
              <a:spcBef>
                <a:spcPts val="65"/>
              </a:spcBef>
            </a:pPr>
            <a:r>
              <a:rPr sz="1100" dirty="0">
                <a:latin typeface="Georgia"/>
                <a:cs typeface="Georgia"/>
              </a:rPr>
              <a:t>Review</a:t>
            </a:r>
            <a:r>
              <a:rPr sz="1100" spc="-10" dirty="0">
                <a:latin typeface="Georgia"/>
                <a:cs typeface="Georgia"/>
              </a:rPr>
              <a:t> executed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tests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ensure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linked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requirements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met.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63161" y="3139821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86066" y="3139821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Create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and</a:t>
            </a:r>
            <a:r>
              <a:rPr sz="2600" spc="-6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Execute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6663" y="1038859"/>
            <a:ext cx="174561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Sequence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Diagram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088" y="1293875"/>
            <a:ext cx="5230368" cy="3429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95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06983"/>
            <a:ext cx="454850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Approve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6663" y="1038859"/>
            <a:ext cx="174561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Sequence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Diagram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796" y="1365503"/>
            <a:ext cx="6728459" cy="33177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96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Event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97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00480" y="1038859"/>
            <a:ext cx="7466965" cy="2928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014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Create</a:t>
            </a:r>
            <a:r>
              <a:rPr sz="1400" b="1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3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Event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299085" marR="30353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To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DEX,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event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Event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under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same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parent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where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resides.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400">
              <a:latin typeface="Georgia"/>
              <a:cs typeface="Georgia"/>
            </a:endParaRPr>
          </a:p>
          <a:p>
            <a:pPr marL="756285" lvl="1" indent="-286385">
              <a:lnSpc>
                <a:spcPct val="100000"/>
              </a:lnSpc>
              <a:buFont typeface="Courier New"/>
              <a:buChar char="o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From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Commander,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your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local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desktop,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Event,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drag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List</a:t>
            </a:r>
            <a:endParaRPr sz="1400">
              <a:latin typeface="Georgia"/>
              <a:cs typeface="Georgia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into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it, along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Configuration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project,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verify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remotely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executes.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>
              <a:latin typeface="Georgia"/>
              <a:cs typeface="Georgia"/>
            </a:endParaRPr>
          </a:p>
          <a:p>
            <a:pPr marL="299085" marR="7683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Integration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requires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Event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same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ExecutionList.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Test </a:t>
            </a:r>
            <a:r>
              <a:rPr sz="1400" dirty="0">
                <a:latin typeface="Georgia"/>
                <a:cs typeface="Georgia"/>
              </a:rPr>
              <a:t>Event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required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include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ExecutionList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Verify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ALMProject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HostName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configurations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populated.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6116320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Tosca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Agent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(DEX)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98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00480" y="1038859"/>
            <a:ext cx="7528559" cy="3355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5615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Prepare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DEX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for</a:t>
            </a:r>
            <a:r>
              <a:rPr sz="1400" b="1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Make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sure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target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machines.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299085" marR="17399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If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just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setting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target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project,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log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each.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Answer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first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time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Windows </a:t>
            </a:r>
            <a:r>
              <a:rPr sz="1400" dirty="0">
                <a:latin typeface="Georgia"/>
                <a:cs typeface="Georgia"/>
              </a:rPr>
              <a:t>prompts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such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asking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about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security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choices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Internet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Explorer.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Commander,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representative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target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project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machine.</a:t>
            </a:r>
            <a:endParaRPr sz="1400">
              <a:latin typeface="Georgia"/>
              <a:cs typeface="Georgia"/>
            </a:endParaRPr>
          </a:p>
          <a:p>
            <a:pPr marL="299085" marR="8128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latin typeface="Georgia"/>
                <a:cs typeface="Georgia"/>
              </a:rPr>
              <a:t>ToscaRemoteAgent.exe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does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service.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 standard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Windows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executable </a:t>
            </a:r>
            <a:r>
              <a:rPr sz="1400" dirty="0">
                <a:latin typeface="Georgia"/>
                <a:cs typeface="Georgia"/>
              </a:rPr>
              <a:t>and,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therefore,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requires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active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Windows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session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Events</a:t>
            </a:r>
            <a:r>
              <a:rPr sz="1400" b="1" spc="-10" dirty="0">
                <a:latin typeface="Georgia"/>
                <a:cs typeface="Georgia"/>
              </a:rPr>
              <a:t>.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Make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sure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has:</a:t>
            </a:r>
            <a:endParaRPr sz="1400">
              <a:latin typeface="Georgia"/>
              <a:cs typeface="Georgia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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All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required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software,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files,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access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data,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etc.</a:t>
            </a:r>
            <a:endParaRPr sz="1400">
              <a:latin typeface="Georgia"/>
              <a:cs typeface="Georgia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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Workspace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configured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target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project</a:t>
            </a:r>
            <a:endParaRPr sz="1400">
              <a:latin typeface="Georgia"/>
              <a:cs typeface="Georgia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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Parameter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configured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identifying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able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project</a:t>
            </a:r>
            <a:endParaRPr sz="1400">
              <a:latin typeface="Georgia"/>
              <a:cs typeface="Georgia"/>
            </a:endParaRPr>
          </a:p>
          <a:p>
            <a:pPr marL="756285" marR="5080" lvl="1" indent="-287020">
              <a:lnSpc>
                <a:spcPct val="100000"/>
              </a:lnSpc>
              <a:buFont typeface="Wingdings"/>
              <a:buChar char="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indicator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System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Tray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showing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green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–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any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other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color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indicates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50" dirty="0">
                <a:latin typeface="Georgia"/>
                <a:cs typeface="Georgia"/>
              </a:rPr>
              <a:t>a </a:t>
            </a:r>
            <a:r>
              <a:rPr sz="1400" dirty="0">
                <a:latin typeface="Georgia"/>
                <a:cs typeface="Georgia"/>
              </a:rPr>
              <a:t>script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remotely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machine.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946403"/>
            <a:ext cx="8141208" cy="37947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0940" y="949299"/>
            <a:ext cx="4499610" cy="191325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769870">
              <a:lnSpc>
                <a:spcPct val="100000"/>
              </a:lnSpc>
              <a:spcBef>
                <a:spcPts val="810"/>
              </a:spcBef>
            </a:pP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COMPLETED</a:t>
            </a:r>
            <a:r>
              <a:rPr sz="1400" b="1" spc="-1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state</a:t>
            </a:r>
            <a:endParaRPr sz="1400">
              <a:latin typeface="Georgia"/>
              <a:cs typeface="Georgia"/>
            </a:endParaRPr>
          </a:p>
          <a:p>
            <a:pPr marL="12700" marR="960755">
              <a:lnSpc>
                <a:spcPct val="100000"/>
              </a:lnSpc>
              <a:spcBef>
                <a:spcPts val="710"/>
              </a:spcBef>
            </a:pP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List.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contains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number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Tosca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cases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achieve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objective.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66738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Work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field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needs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be </a:t>
            </a:r>
            <a:r>
              <a:rPr sz="1400" dirty="0">
                <a:latin typeface="Georgia"/>
                <a:cs typeface="Georgia"/>
              </a:rPr>
              <a:t>utilized.</a:t>
            </a:r>
            <a:r>
              <a:rPr sz="1400" spc="29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While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worked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“IN_WORK”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is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used.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ExecListWorkstate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940" y="3482085"/>
            <a:ext cx="3789679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Georgia"/>
                <a:cs typeface="Georgia"/>
              </a:rPr>
              <a:t>When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work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done,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marked </a:t>
            </a:r>
            <a:r>
              <a:rPr sz="1400" dirty="0">
                <a:latin typeface="Georgia"/>
                <a:cs typeface="Georgia"/>
              </a:rPr>
              <a:t>“COMPLETED”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Automation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Lead/Reviewer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ExecutionLists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marked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completed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be </a:t>
            </a:r>
            <a:r>
              <a:rPr sz="1400" dirty="0">
                <a:latin typeface="Georgia"/>
                <a:cs typeface="Georgia"/>
              </a:rPr>
              <a:t>synchronized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ALM</a:t>
            </a:r>
            <a:endParaRPr sz="1400">
              <a:latin typeface="Georgia"/>
              <a:cs typeface="Georg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41391" y="1440180"/>
            <a:ext cx="3289300" cy="2833370"/>
            <a:chOff x="5041391" y="1440180"/>
            <a:chExt cx="3289300" cy="283337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1391" y="1440180"/>
              <a:ext cx="3285744" cy="11308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11495" y="3208019"/>
              <a:ext cx="3218688" cy="106527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99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504761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Preparation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100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00480" y="1038859"/>
            <a:ext cx="7453630" cy="3568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981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Best</a:t>
            </a:r>
            <a:r>
              <a:rPr sz="1400" b="1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Practices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–</a:t>
            </a:r>
            <a:r>
              <a:rPr sz="1400" b="1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400">
              <a:latin typeface="Georgia"/>
              <a:cs typeface="Georgia"/>
            </a:endParaRPr>
          </a:p>
          <a:p>
            <a:pPr marL="299085" marR="5080" indent="-287020">
              <a:lnSpc>
                <a:spcPct val="989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Before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VERA-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associating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fully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verifying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successfully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target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machines.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Then,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ExecListWorkstate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field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1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"COMPLETED".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To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prepare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controlling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from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so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collect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results</a:t>
            </a:r>
            <a:endParaRPr sz="1400">
              <a:latin typeface="Georgia"/>
              <a:cs typeface="Georgi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for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formal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review/approval,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perform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following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steps:</a:t>
            </a:r>
            <a:endParaRPr sz="1400">
              <a:latin typeface="Georgia"/>
              <a:cs typeface="Georgia"/>
            </a:endParaRPr>
          </a:p>
          <a:p>
            <a:pPr marL="756285" lvl="1" indent="-286385">
              <a:lnSpc>
                <a:spcPct val="100000"/>
              </a:lnSpc>
              <a:buFont typeface="Courier New"/>
              <a:buChar char="o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Make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sure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included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abide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by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Practices</a:t>
            </a:r>
            <a:endParaRPr sz="1400">
              <a:latin typeface="Georgia"/>
              <a:cs typeface="Georgia"/>
            </a:endParaRPr>
          </a:p>
          <a:p>
            <a:pPr marL="756285" marR="53975" lvl="1" indent="-287020">
              <a:lnSpc>
                <a:spcPct val="100000"/>
              </a:lnSpc>
              <a:buFont typeface="Courier New"/>
              <a:buChar char="o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Develop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make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sure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your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local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desktop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before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sync'd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ALM.</a:t>
            </a:r>
            <a:endParaRPr sz="1400">
              <a:latin typeface="Georgia"/>
              <a:cs typeface="Georgia"/>
            </a:endParaRPr>
          </a:p>
          <a:p>
            <a:pPr marL="756285" lvl="1" indent="-286385">
              <a:lnSpc>
                <a:spcPct val="100000"/>
              </a:lnSpc>
              <a:buFont typeface="Courier New"/>
              <a:buChar char="o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Make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sure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 runs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repeatedly,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over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time 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machines</a:t>
            </a:r>
            <a:r>
              <a:rPr sz="1400" spc="3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(i.e.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 runs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repeatedly</a:t>
            </a:r>
            <a:endParaRPr sz="1400">
              <a:latin typeface="Georgia"/>
              <a:cs typeface="Georgia"/>
            </a:endParaRPr>
          </a:p>
          <a:p>
            <a:pPr marL="75628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today,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tomorrow,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next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day).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299085" marR="15240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Make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sure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business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process.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Avoid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50" dirty="0">
                <a:latin typeface="Georgia"/>
                <a:cs typeface="Georgia"/>
              </a:rPr>
              <a:t>1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complete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regression,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sprint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release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suite.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736" y="1038859"/>
            <a:ext cx="7416165" cy="294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2796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Create</a:t>
            </a:r>
            <a:r>
              <a:rPr sz="1400" b="1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Set</a:t>
            </a:r>
            <a:endParaRPr sz="1400">
              <a:latin typeface="Georgia"/>
              <a:cs typeface="Georgia"/>
            </a:endParaRPr>
          </a:p>
          <a:p>
            <a:pPr marL="12700" marR="255904" algn="just">
              <a:lnSpc>
                <a:spcPct val="100000"/>
              </a:lnSpc>
              <a:spcBef>
                <a:spcPts val="1160"/>
              </a:spcBef>
            </a:pP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0" dirty="0">
                <a:latin typeface="Georgia"/>
                <a:cs typeface="Georgia"/>
              </a:rPr>
              <a:t> VERA-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Sets,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drag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tests,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from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Plan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module,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to </a:t>
            </a:r>
            <a:r>
              <a:rPr sz="1400" dirty="0">
                <a:latin typeface="Georgia"/>
                <a:cs typeface="Georgia"/>
              </a:rPr>
              <a:t>build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Instances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–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the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Test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Sets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are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built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and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synchronized</a:t>
            </a:r>
            <a:r>
              <a:rPr sz="1400" b="1" spc="-5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from</a:t>
            </a:r>
            <a:r>
              <a:rPr sz="1400" b="1" spc="-35" dirty="0">
                <a:latin typeface="Georgia"/>
                <a:cs typeface="Georgia"/>
              </a:rPr>
              <a:t> </a:t>
            </a:r>
            <a:r>
              <a:rPr sz="1400" b="1" spc="-10" dirty="0">
                <a:latin typeface="Georgia"/>
                <a:cs typeface="Georgia"/>
              </a:rPr>
              <a:t>Tosca Execution</a:t>
            </a:r>
            <a:r>
              <a:rPr sz="1400" b="1" dirty="0">
                <a:latin typeface="Georgia"/>
                <a:cs typeface="Georgia"/>
              </a:rPr>
              <a:t> </a:t>
            </a:r>
            <a:r>
              <a:rPr sz="1400" b="1" spc="-10" dirty="0">
                <a:latin typeface="Georgia"/>
                <a:cs typeface="Georgia"/>
              </a:rPr>
              <a:t>Lists.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4826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The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uploaded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linked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both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systems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VERASyncID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50" dirty="0">
                <a:latin typeface="Georgia"/>
                <a:cs typeface="Georgia"/>
              </a:rPr>
              <a:t>&amp; </a:t>
            </a:r>
            <a:r>
              <a:rPr sz="1400" dirty="0">
                <a:latin typeface="Georgia"/>
                <a:cs typeface="Georgia"/>
              </a:rPr>
              <a:t>ALMTestSetID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populated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within 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VERASyncID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&amp;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populated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ALM.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Do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edit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VERASyncID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ALMTestSetID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properties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from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Tosca.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IMPORTANT: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must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ALM's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Plan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module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before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Test</a:t>
            </a:r>
            <a:endParaRPr sz="1400">
              <a:latin typeface="Georgia"/>
              <a:cs typeface="Georgia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Set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containing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reference.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101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569785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43916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Lists: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Upload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</a:t>
            </a:r>
            <a:r>
              <a:rPr sz="2600" spc="-1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295" y="983716"/>
            <a:ext cx="4927600" cy="376555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53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Interface</a:t>
            </a:r>
            <a:r>
              <a:rPr sz="1400" b="1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in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Lab</a:t>
            </a:r>
            <a:endParaRPr sz="1400">
              <a:latin typeface="Georgia"/>
              <a:cs typeface="Georgia"/>
            </a:endParaRPr>
          </a:p>
          <a:p>
            <a:pPr marL="12700" marR="161290">
              <a:lnSpc>
                <a:spcPct val="100000"/>
              </a:lnSpc>
              <a:spcBef>
                <a:spcPts val="440"/>
              </a:spcBef>
            </a:pPr>
            <a:r>
              <a:rPr sz="1400" dirty="0">
                <a:latin typeface="Georgia"/>
                <a:cs typeface="Georgia"/>
              </a:rPr>
              <a:t>Once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verified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successfully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in </a:t>
            </a:r>
            <a:r>
              <a:rPr sz="1400" dirty="0">
                <a:latin typeface="Georgia"/>
                <a:cs typeface="Georgia"/>
              </a:rPr>
              <a:t>Tosca,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its</a:t>
            </a:r>
            <a:r>
              <a:rPr sz="1400" spc="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ExecListWorkstate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field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to </a:t>
            </a:r>
            <a:r>
              <a:rPr sz="1400" dirty="0">
                <a:latin typeface="Georgia"/>
                <a:cs typeface="Georgia"/>
              </a:rPr>
              <a:t>"COMPLETED",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log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by </a:t>
            </a:r>
            <a:r>
              <a:rPr sz="1400" dirty="0">
                <a:latin typeface="Georgia"/>
                <a:cs typeface="Georgia"/>
              </a:rPr>
              <a:t>performing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these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steps:</a:t>
            </a:r>
            <a:endParaRPr sz="1400">
              <a:latin typeface="Georgia"/>
              <a:cs typeface="Georgia"/>
            </a:endParaRPr>
          </a:p>
          <a:p>
            <a:pPr marL="756285" marR="14732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Select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target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Lab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Tosca </a:t>
            </a:r>
            <a:r>
              <a:rPr sz="1400" dirty="0">
                <a:latin typeface="Georgia"/>
                <a:cs typeface="Georgia"/>
              </a:rPr>
              <a:t>tool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bar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Action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Menu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displays.</a:t>
            </a:r>
            <a:endParaRPr sz="1400">
              <a:latin typeface="Georgia"/>
              <a:cs typeface="Georgia"/>
            </a:endParaRPr>
          </a:p>
          <a:p>
            <a:pPr marL="756285" marR="429259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'Create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Set'.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If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disabled, </a:t>
            </a:r>
            <a:r>
              <a:rPr sz="1400" dirty="0">
                <a:latin typeface="Georgia"/>
                <a:cs typeface="Georgia"/>
              </a:rPr>
              <a:t>hover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move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over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why.</a:t>
            </a:r>
            <a:endParaRPr sz="1400">
              <a:latin typeface="Georgia"/>
              <a:cs typeface="Georgia"/>
            </a:endParaRPr>
          </a:p>
          <a:p>
            <a:pPr marL="756285" marR="5080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Enter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credentials,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if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prompted.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selection </a:t>
            </a:r>
            <a:r>
              <a:rPr sz="1400" dirty="0">
                <a:latin typeface="Georgia"/>
                <a:cs typeface="Georgia"/>
              </a:rPr>
              <a:t>dialog,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select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associate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Set.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along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with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Instances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each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List.</a:t>
            </a:r>
            <a:endParaRPr sz="1400">
              <a:latin typeface="Georgia"/>
              <a:cs typeface="Georgia"/>
            </a:endParaRPr>
          </a:p>
          <a:p>
            <a:pPr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'Refresh'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view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set.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14922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screen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refresh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required,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updates.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'Refresh'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to </a:t>
            </a:r>
            <a:r>
              <a:rPr sz="1400" dirty="0">
                <a:latin typeface="Georgia"/>
                <a:cs typeface="Georgia"/>
              </a:rPr>
              <a:t>update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screen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5698490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43916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Lists: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Upload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</a:t>
            </a:r>
            <a:r>
              <a:rPr sz="2600" spc="-1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0696" y="1514855"/>
            <a:ext cx="1836420" cy="21229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102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295" y="1038859"/>
            <a:ext cx="4880610" cy="3568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9555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Set</a:t>
            </a:r>
            <a:r>
              <a:rPr sz="1400" b="1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Fields/Properties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 marR="117411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'Draft'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 is</a:t>
            </a:r>
            <a:r>
              <a:rPr sz="1400" spc="-25" dirty="0">
                <a:latin typeface="Georgia"/>
                <a:cs typeface="Georgia"/>
              </a:rPr>
              <a:t> now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7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 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Tosca.</a:t>
            </a:r>
            <a:endParaRPr sz="1400">
              <a:latin typeface="Georgia"/>
              <a:cs typeface="Georgia"/>
            </a:endParaRPr>
          </a:p>
          <a:p>
            <a:pPr marL="12700" marR="61785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Additionally,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Description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field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values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are </a:t>
            </a:r>
            <a:r>
              <a:rPr sz="1400" dirty="0">
                <a:latin typeface="Georgia"/>
                <a:cs typeface="Georgia"/>
              </a:rPr>
              <a:t>copied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from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List's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and </a:t>
            </a:r>
            <a:r>
              <a:rPr sz="1400" dirty="0">
                <a:latin typeface="Georgia"/>
                <a:cs typeface="Georgia"/>
              </a:rPr>
              <a:t>Description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field.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Georgia"/>
              <a:cs typeface="Georgia"/>
            </a:endParaRPr>
          </a:p>
          <a:p>
            <a:pPr marL="12700" marR="66929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Before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from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make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sure </a:t>
            </a:r>
            <a:r>
              <a:rPr sz="1400" dirty="0">
                <a:latin typeface="Georgia"/>
                <a:cs typeface="Georgia"/>
              </a:rPr>
              <a:t>that,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there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Event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same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name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closest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Events"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root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folder.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To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execute/run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must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set</a:t>
            </a:r>
            <a:endParaRPr sz="1400">
              <a:latin typeface="Georgia"/>
              <a:cs typeface="Georgia"/>
            </a:endParaRPr>
          </a:p>
          <a:p>
            <a:pPr marL="12700" marR="700405" algn="just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"Ready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Execution".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"Go"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toolbar </a:t>
            </a:r>
            <a:r>
              <a:rPr sz="1400" dirty="0">
                <a:latin typeface="Georgia"/>
                <a:cs typeface="Georgia"/>
              </a:rPr>
              <a:t>button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change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allow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Set </a:t>
            </a:r>
            <a:r>
              <a:rPr sz="1400" spc="-10" dirty="0">
                <a:latin typeface="Georgia"/>
                <a:cs typeface="Georgia"/>
              </a:rPr>
              <a:t>execution.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5698490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43916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Lists: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Upload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</a:t>
            </a:r>
            <a:r>
              <a:rPr sz="2600" spc="-1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2164" y="1562100"/>
            <a:ext cx="3331464" cy="13609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103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961644"/>
            <a:ext cx="8130540" cy="39136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6537959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Update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 Set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392" y="1388745"/>
            <a:ext cx="4342765" cy="2373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6195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Georgia"/>
                <a:cs typeface="Georgia"/>
              </a:rPr>
              <a:t>To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update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change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spc="-10" dirty="0">
                <a:latin typeface="Georgia"/>
                <a:cs typeface="Georgia"/>
              </a:rPr>
              <a:t>ExecListWorkState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'IN_WORK'.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Once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automation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engineer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completes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change,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update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state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"COMPLETED"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To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reflect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changes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select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Set</a:t>
            </a:r>
            <a:r>
              <a:rPr sz="1400" spc="50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toolbar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Action </a:t>
            </a:r>
            <a:r>
              <a:rPr sz="1400" dirty="0">
                <a:latin typeface="Georgia"/>
                <a:cs typeface="Georgia"/>
              </a:rPr>
              <a:t>Menu,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"Update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Set".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Enter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credentials, </a:t>
            </a:r>
            <a:r>
              <a:rPr sz="1400" dirty="0">
                <a:latin typeface="Georgia"/>
                <a:cs typeface="Georgia"/>
              </a:rPr>
              <a:t>if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prompted.</a:t>
            </a:r>
            <a:endParaRPr sz="1400">
              <a:latin typeface="Georgia"/>
              <a:cs typeface="Georgia"/>
            </a:endParaRPr>
          </a:p>
          <a:p>
            <a:pPr marL="12700" marR="20129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If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"Update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Set"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disabled,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hover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mouse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over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why.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9303" y="2400300"/>
            <a:ext cx="3552444" cy="151333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104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6268720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Ready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for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0480" y="1038859"/>
            <a:ext cx="7298055" cy="2501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9400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Start</a:t>
            </a:r>
            <a:r>
              <a:rPr sz="1400" b="1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Set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 marR="18859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Login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permissions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create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able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access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associated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Set.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(i.e.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account,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prompted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credentials.)</a:t>
            </a:r>
            <a:endParaRPr sz="1400">
              <a:latin typeface="Georgia"/>
              <a:cs typeface="Georgia"/>
            </a:endParaRPr>
          </a:p>
          <a:p>
            <a:pPr marL="12700" marR="455930">
              <a:lnSpc>
                <a:spcPts val="3360"/>
              </a:lnSpc>
              <a:spcBef>
                <a:spcPts val="395"/>
              </a:spcBef>
            </a:pP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Lab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module,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navigate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appropriate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folder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select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Set. </a:t>
            </a:r>
            <a:r>
              <a:rPr sz="1400" dirty="0">
                <a:latin typeface="Georgia"/>
                <a:cs typeface="Georgia"/>
              </a:rPr>
              <a:t>View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Instances,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fields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review.</a:t>
            </a: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1290"/>
              </a:spcBef>
            </a:pPr>
            <a:r>
              <a:rPr sz="1400" dirty="0">
                <a:latin typeface="Georgia"/>
                <a:cs typeface="Georgia"/>
              </a:rPr>
              <a:t>Change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Ready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clicking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VERA's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"Go"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"Start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Set(s)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button"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6272" y="3697223"/>
            <a:ext cx="2549652" cy="7680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105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Prepare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for</a:t>
            </a:r>
            <a:r>
              <a:rPr sz="2600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106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89812" y="1038859"/>
            <a:ext cx="7503795" cy="3407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7625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Configurations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1400" dirty="0">
                <a:latin typeface="Georgia"/>
                <a:cs typeface="Georgia"/>
              </a:rPr>
              <a:t>Verify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executes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expected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more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target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machines.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>
              <a:latin typeface="Georgia"/>
              <a:cs typeface="Georgia"/>
            </a:endParaRPr>
          </a:p>
          <a:p>
            <a:pPr marL="12700" marR="1524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Instruct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ExecutionLists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specific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by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"Configurations".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If </a:t>
            </a:r>
            <a:r>
              <a:rPr sz="1400" dirty="0">
                <a:latin typeface="Georgia"/>
                <a:cs typeface="Georgia"/>
              </a:rPr>
              <a:t>you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do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include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Configuration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target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Event,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sends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ExecutionList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to </a:t>
            </a:r>
            <a:r>
              <a:rPr sz="1400" dirty="0">
                <a:latin typeface="Georgia"/>
                <a:cs typeface="Georgia"/>
              </a:rPr>
              <a:t>ANY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available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remote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execution.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9334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attempts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match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parameters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your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Event's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Configuration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parameter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settings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Remote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machine.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Make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sure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"ALMProject"</a:t>
            </a:r>
            <a:r>
              <a:rPr sz="1400" spc="-25" dirty="0">
                <a:latin typeface="Georgia"/>
                <a:cs typeface="Georgia"/>
              </a:rPr>
              <a:t> and </a:t>
            </a:r>
            <a:r>
              <a:rPr sz="1400" dirty="0">
                <a:latin typeface="Georgia"/>
                <a:cs typeface="Georgia"/>
              </a:rPr>
              <a:t>"HostName"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configurations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correctly.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Verify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target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remote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running.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Typically,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done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Commander, </a:t>
            </a:r>
            <a:r>
              <a:rPr sz="1400" dirty="0">
                <a:latin typeface="Georgia"/>
                <a:cs typeface="Georgia"/>
              </a:rPr>
              <a:t>navigating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correct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"Configurations"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object,</a:t>
            </a:r>
            <a:r>
              <a:rPr sz="1400" spc="-10" dirty="0">
                <a:latin typeface="Georgia"/>
                <a:cs typeface="Georgia"/>
              </a:rPr>
              <a:t> right-</a:t>
            </a:r>
            <a:r>
              <a:rPr sz="1400" dirty="0">
                <a:latin typeface="Georgia"/>
                <a:cs typeface="Georgia"/>
              </a:rPr>
              <a:t>clicking,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selecting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"Refresh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Agents". </a:t>
            </a:r>
            <a:r>
              <a:rPr sz="1400" dirty="0">
                <a:latin typeface="Georgia"/>
                <a:cs typeface="Georgia"/>
              </a:rPr>
              <a:t>If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your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target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shows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Green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(Idle)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Orange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(Executing),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your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ready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to </a:t>
            </a:r>
            <a:r>
              <a:rPr sz="1400" dirty="0">
                <a:latin typeface="Georgia"/>
                <a:cs typeface="Georgia"/>
              </a:rPr>
              <a:t>accept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your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Set.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477964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107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00480" y="1038859"/>
            <a:ext cx="7510780" cy="3141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482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Execute</a:t>
            </a:r>
            <a:r>
              <a:rPr sz="1400" b="1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from</a:t>
            </a:r>
            <a:r>
              <a:rPr sz="1400" b="1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VERA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user,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 permission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Sets,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remote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integration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updates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attaches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generated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results </a:t>
            </a:r>
            <a:r>
              <a:rPr sz="1400" dirty="0">
                <a:latin typeface="Georgia"/>
                <a:cs typeface="Georgia"/>
              </a:rPr>
              <a:t>report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Approvers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Set/Test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after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inspecting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results report.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Neither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these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roles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requires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account.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Georgia"/>
              <a:cs typeface="Georgia"/>
            </a:endParaRPr>
          </a:p>
          <a:p>
            <a:pPr marL="12700" marR="123189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VERA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verifies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Event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before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executing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DEX </a:t>
            </a:r>
            <a:r>
              <a:rPr sz="1400" dirty="0">
                <a:latin typeface="Georgia"/>
                <a:cs typeface="Georgia"/>
              </a:rPr>
              <a:t>machine.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If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Event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matches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name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VERA,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you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Event</a:t>
            </a:r>
            <a:r>
              <a:rPr sz="1400" spc="-20" dirty="0">
                <a:latin typeface="Georgia"/>
                <a:cs typeface="Georgia"/>
              </a:rPr>
              <a:t> from </a:t>
            </a:r>
            <a:r>
              <a:rPr sz="1400" spc="-10" dirty="0">
                <a:latin typeface="Georgia"/>
                <a:cs typeface="Georgia"/>
              </a:rPr>
              <a:t>VERA.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4826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Additionally,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post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have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instances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Execution </a:t>
            </a:r>
            <a:r>
              <a:rPr sz="1400" dirty="0">
                <a:latin typeface="Georgia"/>
                <a:cs typeface="Georgia"/>
              </a:rPr>
              <a:t>Status,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have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results.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All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results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contained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attached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report.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625919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Execution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(Contd...)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46836" y="1038859"/>
            <a:ext cx="7448550" cy="2361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3655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Execute</a:t>
            </a:r>
            <a:r>
              <a:rPr sz="1400" b="1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from</a:t>
            </a:r>
            <a:r>
              <a:rPr sz="1400" b="1" spc="-5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ALM/VERA, </a:t>
            </a:r>
            <a:r>
              <a:rPr sz="1400" dirty="0">
                <a:latin typeface="Georgia"/>
                <a:cs typeface="Georgia"/>
              </a:rPr>
              <a:t>execute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by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selecting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it,</a:t>
            </a:r>
            <a:r>
              <a:rPr sz="1400" spc="-10" dirty="0">
                <a:latin typeface="Georgia"/>
                <a:cs typeface="Georgia"/>
              </a:rPr>
              <a:t> then: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toolbar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Action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Menu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displays.</a:t>
            </a:r>
            <a:endParaRPr sz="1400">
              <a:latin typeface="Georgia"/>
              <a:cs typeface="Georgia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'Run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Set'.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dialog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displays.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If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disabled, </a:t>
            </a:r>
            <a:r>
              <a:rPr sz="1400" dirty="0">
                <a:latin typeface="Georgia"/>
                <a:cs typeface="Georgia"/>
              </a:rPr>
              <a:t>hover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mouse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over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why.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Make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sure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correct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'Run'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button.</a:t>
            </a:r>
            <a:endParaRPr sz="1400">
              <a:latin typeface="Georgia"/>
              <a:cs typeface="Georgia"/>
            </a:endParaRPr>
          </a:p>
          <a:p>
            <a:pPr marL="299085" marR="304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Status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window,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messages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logged,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progresses.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see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detailed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progress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remote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Tosca's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Monitor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screen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from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browser.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When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completed,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dismiss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dialog.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Click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Refresh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button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inspect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attached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report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'Attachments'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tab.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593153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Execution</a:t>
            </a:r>
            <a:r>
              <a:rPr sz="2600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Results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6836" y="1038859"/>
            <a:ext cx="7462520" cy="2574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5115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-6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1400" b="1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Report</a:t>
            </a: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1585"/>
              </a:spcBef>
            </a:pPr>
            <a:r>
              <a:rPr sz="1400" dirty="0">
                <a:latin typeface="Georgia"/>
                <a:cs typeface="Georgia"/>
              </a:rPr>
              <a:t>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report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attached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PDF.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Report </a:t>
            </a:r>
            <a:r>
              <a:rPr sz="1400" dirty="0">
                <a:latin typeface="Georgia"/>
                <a:cs typeface="Georgia"/>
              </a:rPr>
              <a:t>name</a:t>
            </a:r>
            <a:r>
              <a:rPr sz="1400" spc="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format:</a:t>
            </a:r>
            <a:r>
              <a:rPr sz="1400" spc="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Run_MM-DD_HH-MM-SS_UserID.pdf,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where: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latin typeface="Georgia"/>
                <a:cs typeface="Georgia"/>
              </a:rPr>
              <a:t>MM-</a:t>
            </a:r>
            <a:r>
              <a:rPr sz="1400" dirty="0">
                <a:latin typeface="Georgia"/>
                <a:cs typeface="Georgia"/>
              </a:rPr>
              <a:t>DD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numeric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month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day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values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spc="-10" dirty="0">
                <a:latin typeface="Georgia"/>
                <a:cs typeface="Georgia"/>
              </a:rPr>
              <a:t>HH-MM-</a:t>
            </a:r>
            <a:r>
              <a:rPr sz="1400" dirty="0">
                <a:latin typeface="Georgia"/>
                <a:cs typeface="Georgia"/>
              </a:rPr>
              <a:t>SS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numeric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hour,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minute,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second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Agent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machine</a:t>
            </a:r>
            <a:endParaRPr sz="1400">
              <a:latin typeface="Georgia"/>
              <a:cs typeface="Georgi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Georgia"/>
                <a:cs typeface="Georgia"/>
              </a:rPr>
              <a:t>UserID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user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Run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1270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There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must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only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one </a:t>
            </a:r>
            <a:r>
              <a:rPr sz="1400" spc="-10" dirty="0">
                <a:latin typeface="Georgia"/>
                <a:cs typeface="Georgia"/>
              </a:rPr>
              <a:t>ToscaIntegrationReport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installed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Repository.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Otherwise, </a:t>
            </a:r>
            <a:r>
              <a:rPr sz="1400" dirty="0">
                <a:latin typeface="Georgia"/>
                <a:cs typeface="Georgia"/>
              </a:rPr>
              <a:t>error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occur,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producing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results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Avoid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copying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this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report.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Since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Integration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Report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generated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PDF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file,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print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spooler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service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must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be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active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client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machine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requesting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execution.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0007" y="3884676"/>
            <a:ext cx="4335780" cy="8031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109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552005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Review</a:t>
            </a:r>
            <a:r>
              <a:rPr sz="2600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Results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46836" y="1038859"/>
            <a:ext cx="7458709" cy="2788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4734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Approve</a:t>
            </a:r>
            <a:r>
              <a:rPr sz="1400" b="1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Set/Test</a:t>
            </a:r>
            <a:r>
              <a:rPr sz="1400" b="1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Run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1400" dirty="0">
                <a:latin typeface="Georgia"/>
                <a:cs typeface="Georgia"/>
              </a:rPr>
              <a:t>Once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executed,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route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run(s)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approval.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>
              <a:latin typeface="Georgia"/>
              <a:cs typeface="Georgia"/>
            </a:endParaRPr>
          </a:p>
          <a:p>
            <a:pPr marL="12700" marR="5905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Approver(s)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business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process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results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attached </a:t>
            </a:r>
            <a:r>
              <a:rPr sz="1400" dirty="0">
                <a:latin typeface="Georgia"/>
                <a:cs typeface="Georgia"/>
              </a:rPr>
              <a:t>report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set/test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level.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Note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–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attached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report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consists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all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instances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list.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reviewer </a:t>
            </a:r>
            <a:r>
              <a:rPr sz="1400" dirty="0">
                <a:latin typeface="Georgia"/>
                <a:cs typeface="Georgia"/>
              </a:rPr>
              <a:t>can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search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specific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report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results.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most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scenarios,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Business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Process </a:t>
            </a:r>
            <a:r>
              <a:rPr sz="1400" dirty="0">
                <a:latin typeface="Georgia"/>
                <a:cs typeface="Georgia"/>
              </a:rPr>
              <a:t>flows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same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order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instances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were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reviewed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accordingly.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Once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review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complete,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Approver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bulk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approve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all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test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set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can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marked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Complete.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8859"/>
            <a:ext cx="7458709" cy="2501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5212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Copy</a:t>
            </a:r>
            <a:r>
              <a:rPr sz="1400" b="1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a</a:t>
            </a:r>
            <a:r>
              <a:rPr sz="1400" b="1" spc="-1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-2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set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 marR="15875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In the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VERA-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Integration,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there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 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one-</a:t>
            </a:r>
            <a:r>
              <a:rPr sz="1400" spc="-10" dirty="0">
                <a:latin typeface="Georgia"/>
                <a:cs typeface="Georgia"/>
              </a:rPr>
              <a:t>to-</a:t>
            </a:r>
            <a:r>
              <a:rPr sz="1400" dirty="0">
                <a:latin typeface="Georgia"/>
                <a:cs typeface="Georgia"/>
              </a:rPr>
              <a:t>one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correspondence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between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 </a:t>
            </a:r>
            <a:r>
              <a:rPr sz="1400" spc="-10" dirty="0">
                <a:latin typeface="Georgia"/>
                <a:cs typeface="Georgia"/>
              </a:rPr>
              <a:t>entities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entities.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6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one,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only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one,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Tosca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List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 marR="197485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Automation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engineers</a:t>
            </a:r>
            <a:r>
              <a:rPr sz="1400" spc="-7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should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avoid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copying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object.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Instead,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create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a</a:t>
            </a:r>
            <a:r>
              <a:rPr sz="1400" b="1" spc="-30" dirty="0">
                <a:latin typeface="Georgia"/>
                <a:cs typeface="Georgia"/>
              </a:rPr>
              <a:t> </a:t>
            </a:r>
            <a:r>
              <a:rPr sz="1400" b="1" spc="-25" dirty="0">
                <a:latin typeface="Georgia"/>
                <a:cs typeface="Georgia"/>
              </a:rPr>
              <a:t>new </a:t>
            </a:r>
            <a:r>
              <a:rPr sz="1400" b="1" dirty="0">
                <a:latin typeface="Georgia"/>
                <a:cs typeface="Georgia"/>
              </a:rPr>
              <a:t>Execution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List</a:t>
            </a:r>
            <a:r>
              <a:rPr sz="1400" b="1" spc="-2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object</a:t>
            </a:r>
            <a:r>
              <a:rPr sz="1400" dirty="0">
                <a:latin typeface="Georgia"/>
                <a:cs typeface="Georgia"/>
              </a:rPr>
              <a:t>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copy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the</a:t>
            </a:r>
            <a:r>
              <a:rPr sz="1400" b="1" spc="-40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Test</a:t>
            </a:r>
            <a:r>
              <a:rPr sz="1400" b="1" spc="-25" dirty="0">
                <a:latin typeface="Georgia"/>
                <a:cs typeface="Georgia"/>
              </a:rPr>
              <a:t> </a:t>
            </a:r>
            <a:r>
              <a:rPr sz="1400" b="1" dirty="0">
                <a:latin typeface="Georgia"/>
                <a:cs typeface="Georgia"/>
              </a:rPr>
              <a:t>Cases</a:t>
            </a:r>
            <a:r>
              <a:rPr sz="1400" b="1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source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new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List.</a:t>
            </a: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This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ensure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all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control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fields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new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List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their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initial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states,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ready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be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7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new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Set.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111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5290820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Copy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2600" spc="-4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9CDE"/>
                </a:solidFill>
                <a:latin typeface="Georgia"/>
                <a:cs typeface="Georgia"/>
              </a:rPr>
              <a:t>Set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80" y="1038859"/>
            <a:ext cx="7466965" cy="2501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63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Revise</a:t>
            </a:r>
            <a:r>
              <a:rPr sz="1400" b="1" spc="-4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ALM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Linked</a:t>
            </a:r>
            <a:r>
              <a:rPr sz="1400" b="1" spc="-3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009CDE"/>
                </a:solidFill>
                <a:latin typeface="Georgia"/>
                <a:cs typeface="Georgia"/>
              </a:rPr>
              <a:t>Test</a:t>
            </a:r>
            <a:r>
              <a:rPr sz="1400" b="1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1400" b="1" spc="-25" dirty="0">
                <a:solidFill>
                  <a:srgbClr val="009CDE"/>
                </a:solidFill>
                <a:latin typeface="Georgia"/>
                <a:cs typeface="Georgia"/>
              </a:rPr>
              <a:t>Set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Georgia"/>
              <a:cs typeface="Georgia"/>
            </a:endParaRPr>
          </a:p>
          <a:p>
            <a:pPr marL="12700" marR="13208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Once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has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runs,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it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cannot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updated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–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VERA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"Revise"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operation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longer </a:t>
            </a:r>
            <a:r>
              <a:rPr sz="1400" dirty="0">
                <a:latin typeface="Georgia"/>
                <a:cs typeface="Georgia"/>
              </a:rPr>
              <a:t>allowed.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This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is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maintain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CFR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21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Part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11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compliance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revision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risks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removing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50" dirty="0">
                <a:latin typeface="Georgia"/>
                <a:cs typeface="Georgia"/>
              </a:rPr>
              <a:t>a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Instance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which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causes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automatically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delete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all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associated</a:t>
            </a:r>
            <a:r>
              <a:rPr sz="1400" spc="-7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runs.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can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moved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back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"Draft"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state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within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ALM,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if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consists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of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linked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runs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(Test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via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ALM).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Georgia"/>
                <a:cs typeface="Georgia"/>
              </a:rPr>
              <a:t>Additionally,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note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that,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post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execution,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Tosca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Test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have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instances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with</a:t>
            </a:r>
            <a:r>
              <a:rPr sz="1400" spc="-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Execution </a:t>
            </a:r>
            <a:r>
              <a:rPr sz="1400" dirty="0">
                <a:latin typeface="Georgia"/>
                <a:cs typeface="Georgia"/>
              </a:rPr>
              <a:t>Status,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but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will</a:t>
            </a:r>
            <a:r>
              <a:rPr sz="1400" spc="-1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not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have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results.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All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step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results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are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contained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in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the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attached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Run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report.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112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4265295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Revise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1943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VERA</a:t>
            </a:r>
            <a:r>
              <a:rPr spc="-40" dirty="0"/>
              <a:t> </a:t>
            </a:r>
            <a:r>
              <a:rPr spc="-10" dirty="0"/>
              <a:t>Actions</a:t>
            </a: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Cancel/Uncancel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Test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Run(s)</a:t>
            </a:r>
          </a:p>
          <a:p>
            <a:pPr marL="299085" marR="443865" indent="-287020">
              <a:lnSpc>
                <a:spcPct val="100000"/>
              </a:lnSpc>
              <a:buChar char="•"/>
              <a:tabLst>
                <a:tab pos="299085" algn="l"/>
                <a:tab pos="341630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Use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VERA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Go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button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'Cancel'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Run.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This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prevents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further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operations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be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performed</a:t>
            </a:r>
            <a:r>
              <a:rPr b="0" spc="-6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on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Run.</a:t>
            </a: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Undo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Cancel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operation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by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clicking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VERA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Go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button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and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select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'Uncancel'.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This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sets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</a:p>
          <a:p>
            <a:pPr marL="299085">
              <a:lnSpc>
                <a:spcPct val="100000"/>
              </a:lnSpc>
            </a:pP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Run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status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back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'Draft'.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b="0" spc="-10" dirty="0">
              <a:solidFill>
                <a:srgbClr val="000000"/>
              </a:solidFill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Smart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Delete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Test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Set</a:t>
            </a:r>
          </a:p>
          <a:p>
            <a:pPr marL="299085" marR="1847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This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option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is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available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in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cases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when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set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has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not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been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executed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but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as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best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practice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users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should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avoid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deletion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of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set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since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extra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steps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need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performed</a:t>
            </a:r>
            <a:r>
              <a:rPr b="0" spc="-5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in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Tosca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as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it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leaves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associated</a:t>
            </a:r>
            <a:r>
              <a:rPr b="0" spc="-6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Tosca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object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locked.</a:t>
            </a:r>
          </a:p>
          <a:p>
            <a:pPr marL="299085" marR="30226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Before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deleting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ALM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Test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Set,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note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its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"Tosca</a:t>
            </a:r>
            <a:r>
              <a:rPr b="0" spc="-5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ID"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value.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After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deleting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ALM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Test,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have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an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Admin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log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in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Tosca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and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clear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associated</a:t>
            </a:r>
            <a:r>
              <a:rPr b="0" spc="-5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Execution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List's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ALM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ID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&amp;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Vera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Synchronization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values,</a:t>
            </a:r>
            <a:r>
              <a:rPr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and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set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its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owning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group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back</a:t>
            </a:r>
            <a:r>
              <a:rPr b="0" spc="-4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group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that</a:t>
            </a:r>
            <a:r>
              <a:rPr b="0" spc="-1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allows</a:t>
            </a:r>
            <a:r>
              <a:rPr b="0" spc="-3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editing. Alternatively,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have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2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Admin</a:t>
            </a:r>
            <a:r>
              <a:rPr b="0" spc="-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delete</a:t>
            </a:r>
            <a:r>
              <a:rPr b="0" spc="-3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Execution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List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in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Tosca,</a:t>
            </a:r>
            <a:r>
              <a:rPr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000000"/>
                </a:solidFill>
                <a:latin typeface="Georgia"/>
                <a:cs typeface="Georgia"/>
              </a:rPr>
              <a:t>if</a:t>
            </a:r>
            <a:r>
              <a:rPr b="0" spc="-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Georgia"/>
                <a:cs typeface="Georgia"/>
              </a:rPr>
              <a:t>desired.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113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213879"/>
            <a:ext cx="6187440" cy="715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3295650" algn="l"/>
              </a:tabLst>
            </a:pP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Tosca</a:t>
            </a:r>
            <a:r>
              <a:rPr sz="2600" spc="-3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Execution</a:t>
            </a:r>
            <a:r>
              <a:rPr sz="2600" spc="-5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9CDE"/>
                </a:solidFill>
                <a:latin typeface="Georgia"/>
                <a:cs typeface="Georgia"/>
              </a:rPr>
              <a:t>List: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	ALM</a:t>
            </a:r>
            <a:r>
              <a:rPr sz="2600" spc="-75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9CDE"/>
                </a:solidFill>
                <a:latin typeface="Georgia"/>
                <a:cs typeface="Georgia"/>
              </a:rPr>
              <a:t>VERA</a:t>
            </a:r>
            <a:r>
              <a:rPr sz="2600" spc="-70" dirty="0">
                <a:solidFill>
                  <a:srgbClr val="009CDE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9CDE"/>
                </a:solidFill>
                <a:latin typeface="Georgia"/>
                <a:cs typeface="Georgia"/>
              </a:rPr>
              <a:t>Actions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2ECB6-E5D9-EB56-3241-2CAF7636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6F0A57-66A6-5126-A11B-830E603688A0}"/>
              </a:ext>
            </a:extLst>
          </p:cNvPr>
          <p:cNvSpPr txBox="1"/>
          <p:nvPr/>
        </p:nvSpPr>
        <p:spPr>
          <a:xfrm>
            <a:off x="490219" y="2167509"/>
            <a:ext cx="7812405" cy="1232132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lang="en-US" sz="4400" dirty="0">
                <a:solidFill>
                  <a:srgbClr val="FFFFFF"/>
                </a:solidFill>
                <a:latin typeface="Georgia"/>
                <a:cs typeface="Georgia"/>
              </a:rPr>
              <a:t>How to Disable Auto-Exclusion and Bring in Excluded Artifacts</a:t>
            </a:r>
            <a:endParaRPr sz="4400" dirty="0">
              <a:latin typeface="Georgia"/>
              <a:cs typeface="Georgi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E59DC78-F444-EFDE-9903-B4287EA88CB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03DBDC0-8A02-428C-98FB-0264EE0B112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r>
              <a:rPr spc="-25" dirty="0"/>
              <a:t>93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B6CB714-368C-F584-AB86-AEF1A91263F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2C6A0F3-BB8E-F162-F93F-5EB8E7D91F51}"/>
              </a:ext>
            </a:extLst>
          </p:cNvPr>
          <p:cNvSpPr txBox="1"/>
          <p:nvPr/>
        </p:nvSpPr>
        <p:spPr>
          <a:xfrm>
            <a:off x="490219" y="1881377"/>
            <a:ext cx="319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Calibri"/>
                <a:cs typeface="Calibri"/>
              </a:rPr>
              <a:t>PRACTICES</a:t>
            </a:r>
            <a:r>
              <a:rPr sz="1800" b="1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114" dirty="0">
                <a:solidFill>
                  <a:srgbClr val="FFFFFF"/>
                </a:solidFill>
                <a:latin typeface="Calibri"/>
                <a:cs typeface="Calibri"/>
              </a:rPr>
              <a:t>GUIDELINES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421560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905BB-AB69-7B87-1AA2-1E4EA466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4D32C9-9C91-A142-6EDA-1CAA9CCAFA65}"/>
              </a:ext>
            </a:extLst>
          </p:cNvPr>
          <p:cNvSpPr txBox="1"/>
          <p:nvPr/>
        </p:nvSpPr>
        <p:spPr>
          <a:xfrm>
            <a:off x="490219" y="241503"/>
            <a:ext cx="2462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004F70"/>
                </a:solidFill>
                <a:latin typeface="Calibri"/>
                <a:cs typeface="Calibri"/>
              </a:rPr>
              <a:t>BEST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004F70"/>
                </a:solidFill>
                <a:latin typeface="Calibri"/>
                <a:cs typeface="Calibri"/>
              </a:rPr>
              <a:t>PRACTICE</a:t>
            </a:r>
            <a:r>
              <a:rPr sz="1400" spc="270" dirty="0">
                <a:solidFill>
                  <a:srgbClr val="004F70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004F70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C1FB04F-B21E-AA01-DC5C-46EE9C21BBDE}"/>
              </a:ext>
            </a:extLst>
          </p:cNvPr>
          <p:cNvSpPr txBox="1"/>
          <p:nvPr/>
        </p:nvSpPr>
        <p:spPr>
          <a:xfrm>
            <a:off x="490219" y="506983"/>
            <a:ext cx="454850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95650" algn="l"/>
              </a:tabLst>
            </a:pPr>
            <a:r>
              <a:rPr lang="en-US" sz="2600" dirty="0">
                <a:solidFill>
                  <a:srgbClr val="009CDE"/>
                </a:solidFill>
                <a:latin typeface="Georgia"/>
                <a:cs typeface="Georgia"/>
              </a:rPr>
              <a:t>Settings: Auto Exclusion</a:t>
            </a:r>
            <a:endParaRPr sz="2600" dirty="0">
              <a:latin typeface="Georgia"/>
              <a:cs typeface="Georg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0595FE1-F79D-73A1-4A7A-87E3D088B43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8F00DA3-B2D4-0819-AC5D-87C3A3DEBFA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045"/>
              </a:lnSpc>
            </a:pPr>
            <a:r>
              <a:rPr spc="-25" dirty="0"/>
              <a:t>96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E188174-DF12-1B93-EC31-23BE6AFB78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CF42C-E877-0A18-C9C2-991145805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1" y="1321706"/>
            <a:ext cx="6608824" cy="26277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620FDB-49E7-1C04-FE2E-EDB7A6092EB8}"/>
              </a:ext>
            </a:extLst>
          </p:cNvPr>
          <p:cNvSpPr txBox="1"/>
          <p:nvPr/>
        </p:nvSpPr>
        <p:spPr>
          <a:xfrm>
            <a:off x="609600" y="4151184"/>
            <a:ext cx="784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 disable Auto Exclusion, click Settings from the Project tab and go to Commander-&gt;General-&gt;Auto Exclusion and choose “Off” from the drop-down menu for the Enabled property.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393534-173A-6243-3598-079C66F6AD08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533900" y="2724150"/>
            <a:ext cx="1068325" cy="14270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2029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E092-57ED-CC5A-27DC-8B6543BAB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397526-142A-B77C-462C-8AE4E9D9BB74}"/>
              </a:ext>
            </a:extLst>
          </p:cNvPr>
          <p:cNvSpPr txBox="1"/>
          <p:nvPr/>
        </p:nvSpPr>
        <p:spPr>
          <a:xfrm>
            <a:off x="3432175" y="1044320"/>
            <a:ext cx="19348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Test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Case</a:t>
            </a:r>
            <a:r>
              <a:rPr sz="1400" b="1" spc="-3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Folder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Structure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368B346-3A24-B38A-CCB2-BB362331DF92}"/>
              </a:ext>
            </a:extLst>
          </p:cNvPr>
          <p:cNvSpPr txBox="1"/>
          <p:nvPr/>
        </p:nvSpPr>
        <p:spPr>
          <a:xfrm>
            <a:off x="762000" y="1454196"/>
            <a:ext cx="4495799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Georgia"/>
                <a:cs typeface="Georgia"/>
              </a:rPr>
              <a:t>You many find that some important artifacts have already been excluded from synchronization due to the default setting for Auto Exclusion being “On”. The excluded artifacts will have a peculiar “cloud” icon next to the name instead of the normal icon that indicates the type of artifact (i.e. </a:t>
            </a:r>
            <a:r>
              <a:rPr lang="en-US" sz="1400" dirty="0" err="1">
                <a:latin typeface="Georgia"/>
                <a:cs typeface="Georgia"/>
              </a:rPr>
              <a:t>TestCase</a:t>
            </a:r>
            <a:r>
              <a:rPr lang="en-US" sz="1400" dirty="0">
                <a:latin typeface="Georgia"/>
                <a:cs typeface="Georgia"/>
              </a:rPr>
              <a:t>, Module, etc.).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938CF56-E239-B381-9A36-696DACB701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lang="en-US" sz="2600" dirty="0">
                <a:solidFill>
                  <a:srgbClr val="009CDE"/>
                </a:solidFill>
                <a:latin typeface="Georgia"/>
                <a:cs typeface="Georgia"/>
              </a:rPr>
              <a:t>Auto Exclusion: Excluded Artifacts</a:t>
            </a:r>
            <a:endParaRPr sz="2600" dirty="0">
              <a:latin typeface="Georgia"/>
              <a:cs typeface="Georgi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F20048B-90FC-1D9C-2B17-95EA62A6B87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972B4BC-A556-14F5-A5FD-6FA330AAFE6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108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24F8113-F0A6-5855-3816-139A2F3869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732EF70-8A6D-17EF-0B03-3782CA9C1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735" y="1352550"/>
            <a:ext cx="2482273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1834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32E6-18F5-5097-90D4-9042CD40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B3E3294-2EC7-E78B-D165-55D439DEED30}"/>
              </a:ext>
            </a:extLst>
          </p:cNvPr>
          <p:cNvSpPr txBox="1"/>
          <p:nvPr/>
        </p:nvSpPr>
        <p:spPr>
          <a:xfrm>
            <a:off x="3432175" y="1044320"/>
            <a:ext cx="19348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0075A6"/>
                </a:solidFill>
                <a:latin typeface="Calibri"/>
                <a:cs typeface="Calibri"/>
              </a:rPr>
              <a:t>Test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Case</a:t>
            </a:r>
            <a:r>
              <a:rPr sz="1400" b="1" spc="-35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75A6"/>
                </a:solidFill>
                <a:latin typeface="Calibri"/>
                <a:cs typeface="Calibri"/>
              </a:rPr>
              <a:t>Folder</a:t>
            </a:r>
            <a:r>
              <a:rPr sz="1400" b="1" spc="-40" dirty="0">
                <a:solidFill>
                  <a:srgbClr val="0075A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75A6"/>
                </a:solidFill>
                <a:latin typeface="Calibri"/>
                <a:cs typeface="Calibri"/>
              </a:rPr>
              <a:t>Structure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AB83F46-0E69-1B2B-3150-91D9A48009F1}"/>
              </a:ext>
            </a:extLst>
          </p:cNvPr>
          <p:cNvSpPr txBox="1"/>
          <p:nvPr/>
        </p:nvSpPr>
        <p:spPr>
          <a:xfrm>
            <a:off x="609600" y="1454196"/>
            <a:ext cx="777240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Georgia"/>
                <a:cs typeface="Georgia"/>
              </a:rPr>
              <a:t>To bring in all excluded artifacts in a particular folder, first you can right-click on the folder and choose “Exclude tree from Synchronization” from the context menu. This will turn the folder gray. Then you can right-click on the folder again and this time choose “Include for Synchronization” from the context menu and that will bring in the folder and everything in it. 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7B97EFC-1D4A-6E11-1711-DA9C1E3536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105" dirty="0"/>
              <a:t>BEST</a:t>
            </a:r>
            <a:r>
              <a:rPr spc="270" dirty="0"/>
              <a:t> </a:t>
            </a:r>
            <a:r>
              <a:rPr spc="125" dirty="0"/>
              <a:t>PRACTICE</a:t>
            </a:r>
            <a:r>
              <a:rPr spc="270" dirty="0"/>
              <a:t> </a:t>
            </a:r>
            <a:r>
              <a:rPr spc="114" dirty="0"/>
              <a:t>GUIDELINES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lang="en-US" sz="2600" dirty="0">
                <a:solidFill>
                  <a:srgbClr val="009CDE"/>
                </a:solidFill>
                <a:latin typeface="Georgia"/>
                <a:cs typeface="Georgia"/>
              </a:rPr>
              <a:t>Exclude Tree and Include to Bring in Artifacts</a:t>
            </a:r>
            <a:endParaRPr sz="2600" dirty="0">
              <a:latin typeface="Georgia"/>
              <a:cs typeface="Georgi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EEF1037-80A4-CE5E-853F-27C96E2D1A2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4483734" y="4837201"/>
            <a:ext cx="3697224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8ABB2C8-394E-B23B-5097-346F1C61191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045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109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8062BCC-F165-3B31-FD45-4CCFB31DE42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90219" y="4854270"/>
            <a:ext cx="251079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endParaRPr spc="-1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7BC6D-5574-D5CC-5532-56C255FD0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61" y="2838189"/>
            <a:ext cx="2429214" cy="1867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7D8B20-CCC7-25A8-E5AA-D03E82230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020" y="2838189"/>
            <a:ext cx="2353003" cy="18671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AA2C56-0DFF-B394-68AF-E6E3CA814382}"/>
              </a:ext>
            </a:extLst>
          </p:cNvPr>
          <p:cNvSpPr txBox="1"/>
          <p:nvPr/>
        </p:nvSpPr>
        <p:spPr>
          <a:xfrm>
            <a:off x="1143000" y="2571750"/>
            <a:ext cx="23530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Exclude tree from Synchronization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5107CA-9FAE-C61C-E7A0-EA7B7ECB84AD}"/>
              </a:ext>
            </a:extLst>
          </p:cNvPr>
          <p:cNvSpPr txBox="1"/>
          <p:nvPr/>
        </p:nvSpPr>
        <p:spPr>
          <a:xfrm>
            <a:off x="5495597" y="2571750"/>
            <a:ext cx="23530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Include for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61828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CD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</TotalTime>
  <Words>8344</Words>
  <Application>Microsoft Office PowerPoint</Application>
  <PresentationFormat>On-screen Show (16:9)</PresentationFormat>
  <Paragraphs>922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6" baseType="lpstr">
      <vt:lpstr>Arial MT</vt:lpstr>
      <vt:lpstr>Calibri</vt:lpstr>
      <vt:lpstr>Courier New</vt:lpstr>
      <vt:lpstr>Georgia</vt:lpstr>
      <vt:lpstr>Symbol</vt:lpstr>
      <vt:lpstr>Wingdings</vt:lpstr>
      <vt:lpstr>Office Theme</vt:lpstr>
      <vt:lpstr>PowerPoint Presentation</vt:lpstr>
      <vt:lpstr>TOSCA BEST PRACTICES</vt:lpstr>
      <vt:lpstr>TOSCA New Project Process Overview</vt:lpstr>
      <vt:lpstr>TOSCA SETUP High Level Overview of Initial Tosca Project Setup: Phase 1</vt:lpstr>
      <vt:lpstr>TOSCA Prerequisites</vt:lpstr>
      <vt:lpstr>TOSCA PROJECT SETUP PREREQUISITES</vt:lpstr>
      <vt:lpstr>TOSCA PROJECT SETUP PREREQUISITES</vt:lpstr>
      <vt:lpstr>Project Structure</vt:lpstr>
      <vt:lpstr>TOSCA PROJECT SETUP PROJECT STRUCTURE Project Structure : Overview</vt:lpstr>
      <vt:lpstr>TOSCA PROJECT SETUP PROJECT STRUCTURE Project Structure : Overview</vt:lpstr>
      <vt:lpstr>Test Case Folder Structure</vt:lpstr>
      <vt:lpstr>TOSCA PROJECT SETUP PROJECT STRUCTURE Project Structure : Test Case Structure</vt:lpstr>
      <vt:lpstr>Modules Folder Structure</vt:lpstr>
      <vt:lpstr>TOSCA PROJECT SETUP PROJECT STRUCTURE Project Structure : Modules Folder Structure</vt:lpstr>
      <vt:lpstr>Test Case Design Folder Structure</vt:lpstr>
      <vt:lpstr>TOSCA PROJECT SETUP PROJECT STRUCTURE Project Structure : Test Case Design Structure</vt:lpstr>
      <vt:lpstr>TOSCA PROJECT SETUP PROJECT STRUCTURE Project Structure : Test Case Design Structure</vt:lpstr>
      <vt:lpstr>TOSCA PROJECT SETUP PROJECT STRUCTURE Project Structure : Test Sheets</vt:lpstr>
      <vt:lpstr>TOSCA PROJECT SETUP PROJECT STRUCTURE Project Structure : Test Sheets</vt:lpstr>
      <vt:lpstr>PowerPoint Presentation</vt:lpstr>
      <vt:lpstr>TOSCA PROJECT SETUP PROJECT STRUCTURE Sandbox folder : Test Case Creation</vt:lpstr>
      <vt:lpstr>BEST PRACTICE GUIDELINES Test Case Creation Process: Artifact Review</vt:lpstr>
      <vt:lpstr>BEST PRACTICE GUIDELINES Test Case Creation Process: Approval/Rejection</vt:lpstr>
      <vt:lpstr>Best Practice Guidelines</vt:lpstr>
      <vt:lpstr>Test case best practices</vt:lpstr>
      <vt:lpstr>BEST PRACTICE GUIDELINES Test Case Creation Process: Configuration Parameters</vt:lpstr>
      <vt:lpstr>BEST PRACTICE GUIDELINES Test Case Creation Process: Overall Folder Structure</vt:lpstr>
      <vt:lpstr>BEST PRACTICE GUIDELINES Test Case Creation Process: Naming Conventions</vt:lpstr>
      <vt:lpstr>TOSCA PROJECT SETUP PROJECT STRUCTURE Test Case Creation: TestCase Send Keys</vt:lpstr>
      <vt:lpstr>BEST PRACTICE GUIDELINES Test Case Creation Process: VP and ReqNo</vt:lpstr>
      <vt:lpstr>BEST PRACTICE GUIDELINES Test Case Creation Process: Screenshots</vt:lpstr>
      <vt:lpstr>BEST PRACTICE GUIDELINES Test Case Creation Process: Screenshots</vt:lpstr>
      <vt:lpstr>BEST PRACTICE GUIDELINES Test Case Creation Process: Screenshots cont.</vt:lpstr>
      <vt:lpstr>BEST PRACTICE GUIDELINES Test Case Creation Process: Reusable Test Step Blocks</vt:lpstr>
      <vt:lpstr>BEST PRACTICE GUIDELINES Test Case Creation Process: Action Mode WaitOn</vt:lpstr>
      <vt:lpstr>Test Case Creation Process: Repetitions</vt:lpstr>
      <vt:lpstr>BEST PRACTICE GUIDELINES ALM VERA Tosca Test Case</vt:lpstr>
      <vt:lpstr>ALM VERA Tosca Test Case</vt:lpstr>
      <vt:lpstr>TOSCA SETUP High Level Overview of Test Case Approval</vt:lpstr>
      <vt:lpstr>BEST PRACTICE GUIDELINES Test Case Creation Process: Workstate</vt:lpstr>
      <vt:lpstr>BEST PRACTICE GUIDELINES Test Case Creation Process: Upload Test to ALM</vt:lpstr>
      <vt:lpstr>BEST PRACTICE GUIDELINES Test Case Creation Process: Upload Test to ALM</vt:lpstr>
      <vt:lpstr>Test Case Creation Process: Upload Test to ALM</vt:lpstr>
      <vt:lpstr>BEST PRACTICE GUIDELINES Test Case Creation Process: Update ALM Tosca Test</vt:lpstr>
      <vt:lpstr>Test Case Creation Process: Update ALM Tosca Test</vt:lpstr>
      <vt:lpstr>BEST PRACTICE GUIDELINES Test Case Creation Process: Approve ALM Tosca Test</vt:lpstr>
      <vt:lpstr>BEST PRACTICE GUIDELINES Test Case Creation Process: Approve ALM Tosca Test</vt:lpstr>
      <vt:lpstr>BEST PRACTICE GUIDELINES Test Case Creation Process: Approve ALM Tosca Test</vt:lpstr>
      <vt:lpstr>BEST PRACTICE GUIDELINES Test Case Creation Process: Copy Test Case</vt:lpstr>
      <vt:lpstr>BEST PRACTICE GUIDELINES Test Case Creation Process: Revise Test Case</vt:lpstr>
      <vt:lpstr>BEST PRACTICE GUIDELINES Test Case Creation Process: ALM VERA Actions</vt:lpstr>
      <vt:lpstr>PowerPoint Presentation</vt:lpstr>
      <vt:lpstr>BEST PRACTICE GUIDELINES Test Case Creation Process: Recovery Scenario</vt:lpstr>
      <vt:lpstr>BEST PRACTICE GUIDELINES Test Case Creation Process: Recovery Scenario</vt:lpstr>
      <vt:lpstr>BEST PRACTICE GUIDELINES Test Case Creation Process: Cleanup Scenario</vt:lpstr>
      <vt:lpstr>Test Case Creation Process: Recovery/Cleanup Scenario</vt:lpstr>
      <vt:lpstr>Module best practices</vt:lpstr>
      <vt:lpstr>TOSCA SETUP Module Modification Workflow</vt:lpstr>
      <vt:lpstr>Module Best Practices</vt:lpstr>
      <vt:lpstr>Module Best Practices</vt:lpstr>
      <vt:lpstr>Module Best Practices</vt:lpstr>
      <vt:lpstr>Module Best Practices</vt:lpstr>
      <vt:lpstr>Test Case Design best practices</vt:lpstr>
      <vt:lpstr>TOSCA PROJECT SETUP PROJECT STRUCTURE Test Case Design best practices</vt:lpstr>
      <vt:lpstr>TOSCA PROJECT SETUP PROJECT STRUCTURE Test Case Design best practices</vt:lpstr>
      <vt:lpstr>TDS Best Practices</vt:lpstr>
      <vt:lpstr>BEST PRACTICE GUIDELINES TDS Best Practices</vt:lpstr>
      <vt:lpstr>BEST PRACTICE GUIDELINES TDS Best Practices</vt:lpstr>
      <vt:lpstr>BEST PRACTICE GUIDELINES TDS Best Practices</vt:lpstr>
      <vt:lpstr>BEST PRACTICE GUIDELINES TDS Best Practices</vt:lpstr>
      <vt:lpstr>BEST PRACTICE GUIDELINES TDS Best Practices</vt:lpstr>
      <vt:lpstr>PowerPoint Presentation</vt:lpstr>
      <vt:lpstr>BEST PRACTICE GUIDELINES Test Case Creation Process: General guidelines</vt:lpstr>
      <vt:lpstr>High Level Test Case Creation Process</vt:lpstr>
      <vt:lpstr>Test Case Creation Process: 1. Design</vt:lpstr>
      <vt:lpstr>BEST PRACTICE GUIDELINES Test Case Creation Process: 2. Process Folders</vt:lpstr>
      <vt:lpstr>BEST PRACTICE GUIDELINES Test Case Creation Process: 3. Business Parameters</vt:lpstr>
      <vt:lpstr>BEST PRACTICE GUIDELINES Test Case Creation Process: 4. Test Case Templates</vt:lpstr>
      <vt:lpstr>BEST PRACTICE GUIDELINES Test Case Creation Process: 5. Happy Path</vt:lpstr>
      <vt:lpstr>BEST PRACTICE GUIDELINES Test Case Creation Process: 6. Link Test Data Sheets</vt:lpstr>
      <vt:lpstr>BEST PRACTICE GUIDELINES Test Case Creation Process: 7. Instantiate Templates</vt:lpstr>
      <vt:lpstr>BEST PRACTICE GUIDELINES Test Case Creation Process: 8. Add Data Variations</vt:lpstr>
      <vt:lpstr>Execution best practices</vt:lpstr>
      <vt:lpstr>BEST PRACTICE GUIDELINES Execution Best Practices</vt:lpstr>
      <vt:lpstr>PowerPoint Presentation</vt:lpstr>
      <vt:lpstr>TOSCA SETUP High Level Overview of Initial Tosca Project Setup: Phase 2 (WIP)</vt:lpstr>
      <vt:lpstr>Tosca Execution List: Create and Execute</vt:lpstr>
      <vt:lpstr>PowerPoint Presentation</vt:lpstr>
      <vt:lpstr>BEST PRACTICE GUIDELINES Tosca Execution List: Test Event</vt:lpstr>
      <vt:lpstr>BEST PRACTICE GUIDELINES Tosca Execution List: Tosca Agent (DEX)</vt:lpstr>
      <vt:lpstr>BEST PRACTICE GUIDELINES Tosca Execution List: ExecListWorkstate</vt:lpstr>
      <vt:lpstr>BEST PRACTICE GUIDELINES Tosca Execution List: Preparation</vt:lpstr>
      <vt:lpstr>BEST PRACTICE GUIDELINES Tosca Execution Lists: Upload to ALM</vt:lpstr>
      <vt:lpstr>BEST PRACTICE GUIDELINES Tosca Execution Lists: Upload to ALM</vt:lpstr>
      <vt:lpstr>BEST PRACTICE GUIDELINES Tosca Execution Lists: Upload to ALM</vt:lpstr>
      <vt:lpstr>BEST PRACTICE GUIDELINES Tosca Execution List: Update Tosca Test Set</vt:lpstr>
      <vt:lpstr>BEST PRACTICE GUIDELINES Tosca Execution List: Ready for Execution</vt:lpstr>
      <vt:lpstr>BEST PRACTICE GUIDELINES Tosca Execution List: Prepare for Execution</vt:lpstr>
      <vt:lpstr>BEST PRACTICE GUIDELINES Tosca Execution List: Execution</vt:lpstr>
      <vt:lpstr>BEST PRACTICE GUIDELINES Tosca Execution List: Execution (Contd...)</vt:lpstr>
      <vt:lpstr>BEST PRACTICE GUIDELINES Tosca Execution List: Execution Results</vt:lpstr>
      <vt:lpstr>BEST PRACTICE GUIDELINES Tosca Execution List: Review Results</vt:lpstr>
      <vt:lpstr>BEST PRACTICE GUIDELINES Tosca Execution List: Copy Test Set</vt:lpstr>
      <vt:lpstr>BEST PRACTICE GUIDELINES Tosca Execution List: Revise</vt:lpstr>
      <vt:lpstr>BEST PRACTICE GUIDELINES Tosca Execution List: ALM VERA Actions</vt:lpstr>
      <vt:lpstr>PowerPoint Presentation</vt:lpstr>
      <vt:lpstr>PowerPoint Presentation</vt:lpstr>
      <vt:lpstr>BEST PRACTICE GUIDELINES Auto Exclusion: Excluded Artifacts</vt:lpstr>
      <vt:lpstr>BEST PRACTICE GUIDELINES Exclude Tree and Include to Bring in Artifacts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LibreView 3.9 Release Training</dc:title>
  <dc:creator>Cheung, Mary</dc:creator>
  <cp:lastModifiedBy>Tony James</cp:lastModifiedBy>
  <cp:revision>4</cp:revision>
  <dcterms:created xsi:type="dcterms:W3CDTF">2025-09-24T17:03:28Z</dcterms:created>
  <dcterms:modified xsi:type="dcterms:W3CDTF">2026-03-25T20:29:56Z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2025-09-24T00:00:00Z</vt:filetime>
  </property>
  <property fmtid="{D5CDD505-2E9C-101B-9397-08002B2CF9AE}" pid="5" name="Producer">
    <vt:lpwstr>Microsoft® PowerPoint® for Microsoft 365</vt:lpwstr>
  </property>
</Properties>
</file>